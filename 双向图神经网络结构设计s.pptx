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3"/>
    <p:sldId id="257" r:id="rId4"/>
    <p:sldId id="258" r:id="rId5"/>
    <p:sldId id="259" r:id="rId6"/>
    <p:sldId id="260" r:id="rId7"/>
    <p:sldId id="261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36" userDrawn="1">
          <p15:clr>
            <a:srgbClr val="A4A3A4"/>
          </p15:clr>
        </p15:guide>
        <p15:guide id="2" pos="359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236"/>
        <p:guide pos="3595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圆角矩形 65"/>
          <p:cNvSpPr/>
          <p:nvPr/>
        </p:nvSpPr>
        <p:spPr>
          <a:xfrm>
            <a:off x="2946400" y="2372995"/>
            <a:ext cx="2193925" cy="1873250"/>
          </a:xfrm>
          <a:prstGeom prst="roundRect">
            <a:avLst>
              <a:gd name="adj" fmla="val 9898"/>
            </a:avLst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rgbClr val="000000">
                <a:alpha val="0"/>
              </a:srgbClr>
            </a:solidFill>
            <a:miter lim="800000"/>
          </a:ln>
          <a:scene3d>
            <a:camera prst="orthographicFront"/>
            <a:lightRig rig="threePt" dir="t"/>
          </a:scene3d>
          <a:sp3d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4" name="圆角矩形 63"/>
          <p:cNvSpPr/>
          <p:nvPr/>
        </p:nvSpPr>
        <p:spPr>
          <a:xfrm>
            <a:off x="440055" y="2372995"/>
            <a:ext cx="2272030" cy="1873250"/>
          </a:xfrm>
          <a:prstGeom prst="roundRect">
            <a:avLst>
              <a:gd name="adj" fmla="val 8881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3" name="圆角矩形 62"/>
          <p:cNvSpPr/>
          <p:nvPr/>
        </p:nvSpPr>
        <p:spPr>
          <a:xfrm>
            <a:off x="440055" y="387985"/>
            <a:ext cx="4288790" cy="1873250"/>
          </a:xfrm>
          <a:prstGeom prst="roundRect">
            <a:avLst>
              <a:gd name="adj" fmla="val 7864"/>
            </a:avLst>
          </a:prstGeom>
          <a:solidFill>
            <a:schemeClr val="accent3">
              <a:lumMod val="20000"/>
              <a:lumOff val="80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椭圆 3"/>
          <p:cNvSpPr/>
          <p:nvPr/>
        </p:nvSpPr>
        <p:spPr>
          <a:xfrm>
            <a:off x="817880" y="1466215"/>
            <a:ext cx="177800" cy="17462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906780" y="955040"/>
            <a:ext cx="177800" cy="174625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363980" y="868045"/>
            <a:ext cx="177800" cy="174625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1821180" y="1129665"/>
            <a:ext cx="177800" cy="174625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1669415" y="1432560"/>
            <a:ext cx="177800" cy="174625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1275080" y="1304290"/>
            <a:ext cx="177800" cy="174625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0" name="直接连接符 9"/>
          <p:cNvCxnSpPr>
            <a:stCxn id="5" idx="4"/>
            <a:endCxn id="4" idx="0"/>
          </p:cNvCxnSpPr>
          <p:nvPr/>
        </p:nvCxnSpPr>
        <p:spPr>
          <a:xfrm flipH="1">
            <a:off x="906780" y="1129665"/>
            <a:ext cx="88900" cy="3365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直接连接符 10"/>
          <p:cNvCxnSpPr>
            <a:stCxn id="4" idx="6"/>
            <a:endCxn id="9" idx="2"/>
          </p:cNvCxnSpPr>
          <p:nvPr/>
        </p:nvCxnSpPr>
        <p:spPr>
          <a:xfrm flipV="1">
            <a:off x="995680" y="1391920"/>
            <a:ext cx="279400" cy="1619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连接符 11"/>
          <p:cNvCxnSpPr>
            <a:stCxn id="5" idx="5"/>
            <a:endCxn id="9" idx="1"/>
          </p:cNvCxnSpPr>
          <p:nvPr/>
        </p:nvCxnSpPr>
        <p:spPr>
          <a:xfrm>
            <a:off x="1058545" y="1104265"/>
            <a:ext cx="242570" cy="2254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连接符 12"/>
          <p:cNvCxnSpPr>
            <a:stCxn id="5" idx="6"/>
            <a:endCxn id="6" idx="2"/>
          </p:cNvCxnSpPr>
          <p:nvPr/>
        </p:nvCxnSpPr>
        <p:spPr>
          <a:xfrm flipV="1">
            <a:off x="1084580" y="955675"/>
            <a:ext cx="279400" cy="8699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直接连接符 14"/>
          <p:cNvCxnSpPr>
            <a:stCxn id="9" idx="0"/>
            <a:endCxn id="6" idx="4"/>
          </p:cNvCxnSpPr>
          <p:nvPr/>
        </p:nvCxnSpPr>
        <p:spPr>
          <a:xfrm flipV="1">
            <a:off x="1363980" y="1042670"/>
            <a:ext cx="88900" cy="2616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直接连接符 15"/>
          <p:cNvCxnSpPr>
            <a:stCxn id="6" idx="6"/>
            <a:endCxn id="7" idx="1"/>
          </p:cNvCxnSpPr>
          <p:nvPr/>
        </p:nvCxnSpPr>
        <p:spPr>
          <a:xfrm>
            <a:off x="1541780" y="955675"/>
            <a:ext cx="305435" cy="19939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直接连接符 16"/>
          <p:cNvCxnSpPr>
            <a:stCxn id="7" idx="4"/>
            <a:endCxn id="8" idx="7"/>
          </p:cNvCxnSpPr>
          <p:nvPr/>
        </p:nvCxnSpPr>
        <p:spPr>
          <a:xfrm flipH="1">
            <a:off x="1821180" y="1304290"/>
            <a:ext cx="88900" cy="1536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直接连接符 18"/>
          <p:cNvCxnSpPr>
            <a:stCxn id="9" idx="6"/>
            <a:endCxn id="8" idx="2"/>
          </p:cNvCxnSpPr>
          <p:nvPr/>
        </p:nvCxnSpPr>
        <p:spPr>
          <a:xfrm>
            <a:off x="1452880" y="1391920"/>
            <a:ext cx="216535" cy="1282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0" name="右箭头 19"/>
          <p:cNvSpPr/>
          <p:nvPr/>
        </p:nvSpPr>
        <p:spPr>
          <a:xfrm>
            <a:off x="2315210" y="1134110"/>
            <a:ext cx="396000" cy="288000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圆角矩形 20"/>
          <p:cNvSpPr/>
          <p:nvPr/>
        </p:nvSpPr>
        <p:spPr>
          <a:xfrm>
            <a:off x="3029585" y="829310"/>
            <a:ext cx="1583055" cy="94996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800"/>
          </a:p>
        </p:txBody>
      </p:sp>
      <p:sp>
        <p:nvSpPr>
          <p:cNvPr id="22" name="文本框 21"/>
          <p:cNvSpPr txBox="1"/>
          <p:nvPr/>
        </p:nvSpPr>
        <p:spPr>
          <a:xfrm>
            <a:off x="3241040" y="1765935"/>
            <a:ext cx="1161415" cy="2578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000" b="1">
                <a:solidFill>
                  <a:schemeClr val="accent2">
                    <a:lumMod val="75000"/>
                  </a:schemeClr>
                </a:solidFill>
              </a:rPr>
              <a:t>Standardization</a:t>
            </a:r>
            <a:endParaRPr lang="en-US" altLang="zh-CN" sz="1000" b="1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3279140" y="890270"/>
            <a:ext cx="1123315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800" b="1">
                <a:solidFill>
                  <a:schemeClr val="bg1"/>
                </a:solidFill>
                <a:sym typeface="+mn-ea"/>
              </a:rPr>
              <a:t>Make Bidirectional</a:t>
            </a:r>
            <a:endParaRPr lang="en-US" altLang="zh-CN" sz="800" b="1">
              <a:solidFill>
                <a:schemeClr val="bg1"/>
              </a:solidFill>
              <a:sym typeface="+mn-ea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3368675" y="1167130"/>
            <a:ext cx="981075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800" b="1">
                <a:solidFill>
                  <a:schemeClr val="bg1"/>
                </a:solidFill>
              </a:rPr>
              <a:t>Add Self Loops</a:t>
            </a:r>
            <a:endParaRPr lang="en-US" altLang="zh-CN" sz="800" b="1">
              <a:solidFill>
                <a:schemeClr val="bg1"/>
              </a:solidFill>
            </a:endParaRPr>
          </a:p>
        </p:txBody>
      </p:sp>
      <p:sp>
        <p:nvSpPr>
          <p:cNvPr id="27" name="下箭头 26"/>
          <p:cNvSpPr/>
          <p:nvPr/>
        </p:nvSpPr>
        <p:spPr>
          <a:xfrm>
            <a:off x="3816985" y="1143000"/>
            <a:ext cx="75565" cy="75565"/>
          </a:xfrm>
          <a:prstGeom prst="down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右箭头 29"/>
          <p:cNvSpPr/>
          <p:nvPr/>
        </p:nvSpPr>
        <p:spPr>
          <a:xfrm>
            <a:off x="4654550" y="1153160"/>
            <a:ext cx="360680" cy="151130"/>
          </a:xfrm>
          <a:prstGeom prst="rightArrow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下箭头 30"/>
          <p:cNvSpPr/>
          <p:nvPr/>
        </p:nvSpPr>
        <p:spPr>
          <a:xfrm>
            <a:off x="3750945" y="2030730"/>
            <a:ext cx="216000" cy="648000"/>
          </a:xfrm>
          <a:prstGeom prst="downArrow">
            <a:avLst/>
          </a:prstGeom>
          <a:solidFill>
            <a:srgbClr val="00B050"/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2" name="圆角矩形 31"/>
          <p:cNvSpPr/>
          <p:nvPr/>
        </p:nvSpPr>
        <p:spPr>
          <a:xfrm>
            <a:off x="3071495" y="2781300"/>
            <a:ext cx="1583055" cy="40894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 b="1"/>
              <a:t>Pre-Layer Normalization</a:t>
            </a:r>
            <a:endParaRPr lang="en-US" altLang="zh-CN" sz="800" b="1"/>
          </a:p>
        </p:txBody>
      </p:sp>
      <p:sp>
        <p:nvSpPr>
          <p:cNvPr id="33" name="圆角矩形 32"/>
          <p:cNvSpPr/>
          <p:nvPr/>
        </p:nvSpPr>
        <p:spPr>
          <a:xfrm>
            <a:off x="3582035" y="3429000"/>
            <a:ext cx="612775" cy="21145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800" b="1"/>
          </a:p>
        </p:txBody>
      </p:sp>
      <p:sp>
        <p:nvSpPr>
          <p:cNvPr id="34" name="下箭头 33"/>
          <p:cNvSpPr/>
          <p:nvPr/>
        </p:nvSpPr>
        <p:spPr>
          <a:xfrm>
            <a:off x="3816985" y="3247390"/>
            <a:ext cx="142240" cy="124460"/>
          </a:xfrm>
          <a:prstGeom prst="downArrow">
            <a:avLst/>
          </a:prstGeom>
          <a:solidFill>
            <a:srgbClr val="00B050"/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5" name="椭圆 34"/>
          <p:cNvSpPr/>
          <p:nvPr/>
        </p:nvSpPr>
        <p:spPr>
          <a:xfrm>
            <a:off x="3655060" y="3496945"/>
            <a:ext cx="75565" cy="75565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椭圆 35"/>
          <p:cNvSpPr/>
          <p:nvPr/>
        </p:nvSpPr>
        <p:spPr>
          <a:xfrm>
            <a:off x="3782060" y="3496945"/>
            <a:ext cx="75565" cy="75565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椭圆 36"/>
          <p:cNvSpPr/>
          <p:nvPr/>
        </p:nvSpPr>
        <p:spPr>
          <a:xfrm>
            <a:off x="3909060" y="3496945"/>
            <a:ext cx="75565" cy="75565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椭圆 37"/>
          <p:cNvSpPr/>
          <p:nvPr/>
        </p:nvSpPr>
        <p:spPr>
          <a:xfrm>
            <a:off x="4036060" y="3496945"/>
            <a:ext cx="75565" cy="75565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文本框 38"/>
          <p:cNvSpPr txBox="1"/>
          <p:nvPr/>
        </p:nvSpPr>
        <p:spPr>
          <a:xfrm>
            <a:off x="4211955" y="3429635"/>
            <a:ext cx="516890" cy="2108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800" b="1">
                <a:solidFill>
                  <a:schemeClr val="accent4">
                    <a:lumMod val="75000"/>
                  </a:schemeClr>
                </a:solidFill>
              </a:rPr>
              <a:t>Linear</a:t>
            </a:r>
            <a:endParaRPr lang="zh-CN" altLang="en-US" sz="800" b="1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1" name="下箭头 40"/>
          <p:cNvSpPr/>
          <p:nvPr/>
        </p:nvSpPr>
        <p:spPr>
          <a:xfrm>
            <a:off x="3824605" y="3697605"/>
            <a:ext cx="142240" cy="124460"/>
          </a:xfrm>
          <a:prstGeom prst="downArrow">
            <a:avLst/>
          </a:prstGeom>
          <a:solidFill>
            <a:srgbClr val="00B050"/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42" name="圆角矩形 41"/>
          <p:cNvSpPr/>
          <p:nvPr/>
        </p:nvSpPr>
        <p:spPr>
          <a:xfrm>
            <a:off x="3632835" y="3879215"/>
            <a:ext cx="511175" cy="25082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 b="1"/>
              <a:t>ReLU</a:t>
            </a:r>
            <a:endParaRPr lang="en-US" altLang="zh-CN" sz="800" b="1"/>
          </a:p>
        </p:txBody>
      </p:sp>
      <p:sp>
        <p:nvSpPr>
          <p:cNvPr id="43" name="左箭头 42"/>
          <p:cNvSpPr/>
          <p:nvPr/>
        </p:nvSpPr>
        <p:spPr>
          <a:xfrm>
            <a:off x="2753360" y="2923540"/>
            <a:ext cx="126000" cy="144000"/>
          </a:xfrm>
          <a:prstGeom prst="leftArrow">
            <a:avLst/>
          </a:prstGeom>
          <a:solidFill>
            <a:srgbClr val="00B050"/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44" name="椭圆 43"/>
          <p:cNvSpPr/>
          <p:nvPr/>
        </p:nvSpPr>
        <p:spPr>
          <a:xfrm>
            <a:off x="1186180" y="3015615"/>
            <a:ext cx="177800" cy="17462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45" name="椭圆 44"/>
          <p:cNvSpPr/>
          <p:nvPr/>
        </p:nvSpPr>
        <p:spPr>
          <a:xfrm>
            <a:off x="1363980" y="2666365"/>
            <a:ext cx="177800" cy="17462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46" name="椭圆 45"/>
          <p:cNvSpPr/>
          <p:nvPr/>
        </p:nvSpPr>
        <p:spPr>
          <a:xfrm>
            <a:off x="1732280" y="2491740"/>
            <a:ext cx="177800" cy="17462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47" name="椭圆 46"/>
          <p:cNvSpPr/>
          <p:nvPr/>
        </p:nvSpPr>
        <p:spPr>
          <a:xfrm>
            <a:off x="2344420" y="3015615"/>
            <a:ext cx="177800" cy="17462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48" name="椭圆 47"/>
          <p:cNvSpPr/>
          <p:nvPr/>
        </p:nvSpPr>
        <p:spPr>
          <a:xfrm>
            <a:off x="2092960" y="2666365"/>
            <a:ext cx="177800" cy="17462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49" name="椭圆 48"/>
          <p:cNvSpPr/>
          <p:nvPr/>
        </p:nvSpPr>
        <p:spPr>
          <a:xfrm>
            <a:off x="1732280" y="3015615"/>
            <a:ext cx="177800" cy="174625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cxnSp>
        <p:nvCxnSpPr>
          <p:cNvPr id="51" name="直接连接符 50"/>
          <p:cNvCxnSpPr>
            <a:stCxn id="44" idx="6"/>
            <a:endCxn id="49" idx="2"/>
          </p:cNvCxnSpPr>
          <p:nvPr/>
        </p:nvCxnSpPr>
        <p:spPr>
          <a:xfrm>
            <a:off x="1363980" y="3103245"/>
            <a:ext cx="368300" cy="0"/>
          </a:xfrm>
          <a:prstGeom prst="line">
            <a:avLst/>
          </a:prstGeom>
          <a:ln w="6350" cmpd="sng">
            <a:solidFill>
              <a:schemeClr val="tx1"/>
            </a:solidFill>
            <a:prstDash val="solid"/>
            <a:tailEnd type="triangle" w="sm" len="sm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2" name="直接连接符 51"/>
          <p:cNvCxnSpPr>
            <a:stCxn id="45" idx="5"/>
            <a:endCxn id="49" idx="1"/>
          </p:cNvCxnSpPr>
          <p:nvPr/>
        </p:nvCxnSpPr>
        <p:spPr>
          <a:xfrm>
            <a:off x="1515745" y="2815590"/>
            <a:ext cx="242570" cy="225425"/>
          </a:xfrm>
          <a:prstGeom prst="line">
            <a:avLst/>
          </a:prstGeom>
          <a:ln w="6350" cmpd="sng">
            <a:solidFill>
              <a:schemeClr val="tx1"/>
            </a:solidFill>
            <a:prstDash val="solid"/>
            <a:tailEnd type="triangle" w="sm" len="sm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4" name="直接连接符 53"/>
          <p:cNvCxnSpPr>
            <a:stCxn id="49" idx="0"/>
            <a:endCxn id="46" idx="4"/>
          </p:cNvCxnSpPr>
          <p:nvPr/>
        </p:nvCxnSpPr>
        <p:spPr>
          <a:xfrm flipV="1">
            <a:off x="1821180" y="2666365"/>
            <a:ext cx="0" cy="349250"/>
          </a:xfrm>
          <a:prstGeom prst="line">
            <a:avLst/>
          </a:prstGeom>
          <a:ln w="6350" cmpd="sng">
            <a:solidFill>
              <a:schemeClr val="tx1"/>
            </a:solidFill>
            <a:prstDash val="solid"/>
            <a:headEnd type="triangle" w="sm" len="sm"/>
            <a:tailEnd type="none" w="sm" len="sm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8" name="直接箭头连接符 57"/>
          <p:cNvCxnSpPr>
            <a:stCxn id="48" idx="3"/>
            <a:endCxn id="49" idx="7"/>
          </p:cNvCxnSpPr>
          <p:nvPr/>
        </p:nvCxnSpPr>
        <p:spPr>
          <a:xfrm flipH="1">
            <a:off x="1884045" y="2815590"/>
            <a:ext cx="234950" cy="225425"/>
          </a:xfrm>
          <a:prstGeom prst="straightConnector1">
            <a:avLst/>
          </a:prstGeom>
          <a:ln w="6350" cmpd="sng">
            <a:solidFill>
              <a:schemeClr val="tx1"/>
            </a:solidFill>
            <a:prstDash val="solid"/>
            <a:tailEnd type="triangle" w="sm" len="sm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9" name="直接箭头连接符 58"/>
          <p:cNvCxnSpPr>
            <a:stCxn id="47" idx="2"/>
            <a:endCxn id="49" idx="6"/>
          </p:cNvCxnSpPr>
          <p:nvPr/>
        </p:nvCxnSpPr>
        <p:spPr>
          <a:xfrm flipH="1">
            <a:off x="1910080" y="3103245"/>
            <a:ext cx="434340" cy="0"/>
          </a:xfrm>
          <a:prstGeom prst="straightConnector1">
            <a:avLst/>
          </a:prstGeom>
          <a:ln w="6350" cmpd="sng">
            <a:solidFill>
              <a:schemeClr val="tx1"/>
            </a:solidFill>
            <a:prstDash val="solid"/>
            <a:tailEnd type="triangle" w="sm" len="sm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1" name="椭圆 60"/>
          <p:cNvSpPr/>
          <p:nvPr/>
        </p:nvSpPr>
        <p:spPr>
          <a:xfrm>
            <a:off x="1732280" y="3914140"/>
            <a:ext cx="177800" cy="174625"/>
          </a:xfrm>
          <a:prstGeom prst="ellipse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cxnSp>
        <p:nvCxnSpPr>
          <p:cNvPr id="62" name="直接箭头连接符 61"/>
          <p:cNvCxnSpPr>
            <a:stCxn id="49" idx="4"/>
            <a:endCxn id="61" idx="0"/>
          </p:cNvCxnSpPr>
          <p:nvPr/>
        </p:nvCxnSpPr>
        <p:spPr>
          <a:xfrm>
            <a:off x="1821180" y="3190240"/>
            <a:ext cx="0" cy="723900"/>
          </a:xfrm>
          <a:prstGeom prst="straightConnector1">
            <a:avLst/>
          </a:prstGeom>
          <a:ln w="6350" cmpd="sng">
            <a:solidFill>
              <a:schemeClr val="tx1"/>
            </a:solidFill>
            <a:prstDash val="solid"/>
            <a:headEnd type="none" w="sm" len="sm"/>
            <a:tailEnd type="triangle" w="sm" len="sm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7" name="文本框 66"/>
          <p:cNvSpPr txBox="1"/>
          <p:nvPr/>
        </p:nvSpPr>
        <p:spPr>
          <a:xfrm>
            <a:off x="4036060" y="3190240"/>
            <a:ext cx="1895475" cy="238760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>
                <a:rot lat="0" lon="0" rev="16200000"/>
              </a:camera>
              <a:lightRig rig="threePt" dir="t"/>
            </a:scene3d>
          </a:bodyPr>
          <a:p>
            <a:r>
              <a:rPr lang="en-US" altLang="zh-CN" sz="1200" b="1">
                <a:solidFill>
                  <a:schemeClr val="bg1"/>
                </a:solidFill>
              </a:rPr>
              <a:t>Feature transformation </a:t>
            </a:r>
            <a:endParaRPr lang="en-US" altLang="zh-CN" sz="1200" b="1">
              <a:solidFill>
                <a:schemeClr val="bg1"/>
              </a:solidFill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-95250" y="3190240"/>
            <a:ext cx="1895475" cy="238760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>
                <a:rot lat="0" lon="0" rev="16200000"/>
              </a:camera>
              <a:lightRig rig="threePt" dir="t"/>
            </a:scene3d>
          </a:bodyPr>
          <a:p>
            <a:r>
              <a:rPr lang="en-US" altLang="zh-CN" sz="1200" b="1">
                <a:solidFill>
                  <a:schemeClr val="bg1"/>
                </a:solidFill>
              </a:rPr>
              <a:t>Graph attention </a:t>
            </a:r>
            <a:endParaRPr lang="en-US" altLang="zh-CN" sz="1200" b="1">
              <a:solidFill>
                <a:schemeClr val="bg1"/>
              </a:solidFill>
            </a:endParaRPr>
          </a:p>
        </p:txBody>
      </p:sp>
      <p:sp>
        <p:nvSpPr>
          <p:cNvPr id="69" name="下箭头 68"/>
          <p:cNvSpPr/>
          <p:nvPr/>
        </p:nvSpPr>
        <p:spPr>
          <a:xfrm>
            <a:off x="3816985" y="4175125"/>
            <a:ext cx="142240" cy="215900"/>
          </a:xfrm>
          <a:prstGeom prst="downArrow">
            <a:avLst/>
          </a:prstGeom>
          <a:solidFill>
            <a:srgbClr val="00B050"/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70" name="下箭头 69"/>
          <p:cNvSpPr/>
          <p:nvPr/>
        </p:nvSpPr>
        <p:spPr>
          <a:xfrm>
            <a:off x="1767840" y="4175125"/>
            <a:ext cx="142240" cy="215900"/>
          </a:xfrm>
          <a:prstGeom prst="downArrow">
            <a:avLst/>
          </a:prstGeom>
          <a:solidFill>
            <a:srgbClr val="00B0F0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71" name="左大括号 70"/>
          <p:cNvSpPr/>
          <p:nvPr/>
        </p:nvSpPr>
        <p:spPr>
          <a:xfrm>
            <a:off x="2753360" y="3572510"/>
            <a:ext cx="233680" cy="2047875"/>
          </a:xfrm>
          <a:prstGeom prst="leftBrace">
            <a:avLst>
              <a:gd name="adj1" fmla="val 0"/>
              <a:gd name="adj2" fmla="val 49665"/>
            </a:avLst>
          </a:prstGeom>
          <a:ln w="53975"/>
          <a:scene3d>
            <a:camera prst="orthographicFront">
              <a:rot lat="0" lon="0" rev="5400000"/>
            </a:camera>
            <a:lightRig rig="threePt" dir="t"/>
          </a:scene3d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4" name="圆角矩形 73"/>
          <p:cNvSpPr/>
          <p:nvPr/>
        </p:nvSpPr>
        <p:spPr>
          <a:xfrm>
            <a:off x="2522220" y="4768215"/>
            <a:ext cx="754380" cy="250825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 b="1"/>
              <a:t>LayerNorm</a:t>
            </a:r>
            <a:endParaRPr lang="en-US" altLang="zh-CN" sz="800" b="1"/>
          </a:p>
        </p:txBody>
      </p:sp>
      <p:sp>
        <p:nvSpPr>
          <p:cNvPr id="75" name="右箭头 74"/>
          <p:cNvSpPr/>
          <p:nvPr/>
        </p:nvSpPr>
        <p:spPr>
          <a:xfrm flipH="1">
            <a:off x="1515745" y="4768215"/>
            <a:ext cx="958215" cy="214630"/>
          </a:xfrm>
          <a:prstGeom prst="rightArrow">
            <a:avLst/>
          </a:prstGeom>
          <a:solidFill>
            <a:schemeClr val="accent5">
              <a:lumMod val="5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6" name="文本框 75"/>
          <p:cNvSpPr txBox="1"/>
          <p:nvPr/>
        </p:nvSpPr>
        <p:spPr>
          <a:xfrm>
            <a:off x="1729740" y="4903470"/>
            <a:ext cx="714375" cy="2241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000" b="1">
                <a:solidFill>
                  <a:schemeClr val="accent4">
                    <a:lumMod val="75000"/>
                  </a:schemeClr>
                </a:solidFill>
              </a:rPr>
              <a:t>Dropout</a:t>
            </a:r>
            <a:endParaRPr lang="en-US" altLang="zh-CN" sz="1000" b="1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77" name="圆角矩形 76"/>
          <p:cNvSpPr/>
          <p:nvPr/>
        </p:nvSpPr>
        <p:spPr>
          <a:xfrm>
            <a:off x="879475" y="4768215"/>
            <a:ext cx="511175" cy="250825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 b="1"/>
              <a:t>Gate</a:t>
            </a:r>
            <a:endParaRPr lang="en-US" altLang="zh-CN" sz="800" b="1"/>
          </a:p>
        </p:txBody>
      </p:sp>
      <p:sp>
        <p:nvSpPr>
          <p:cNvPr id="80" name="左弧形箭头 79"/>
          <p:cNvSpPr/>
          <p:nvPr/>
        </p:nvSpPr>
        <p:spPr>
          <a:xfrm>
            <a:off x="1705610" y="3147060"/>
            <a:ext cx="76200" cy="100330"/>
          </a:xfrm>
          <a:prstGeom prst="curvedRightArrow">
            <a:avLst/>
          </a:prstGeom>
          <a:solidFill>
            <a:schemeClr val="tx1"/>
          </a:solidFill>
          <a:ln>
            <a:noFill/>
          </a:ln>
          <a:scene3d>
            <a:camera prst="orthographicFront">
              <a:rot lat="0" lon="0" rev="3000000"/>
            </a:camera>
            <a:lightRig rig="threePt" dir="t"/>
          </a:scene3d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1" name="圆角矩形 80"/>
          <p:cNvSpPr/>
          <p:nvPr/>
        </p:nvSpPr>
        <p:spPr>
          <a:xfrm>
            <a:off x="878205" y="5127625"/>
            <a:ext cx="354330" cy="224155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 b="1"/>
              <a:t>X1</a:t>
            </a:r>
            <a:endParaRPr lang="en-US" altLang="zh-CN" sz="800" b="1"/>
          </a:p>
        </p:txBody>
      </p:sp>
      <p:sp>
        <p:nvSpPr>
          <p:cNvPr id="82" name="圆角矩形 81"/>
          <p:cNvSpPr/>
          <p:nvPr/>
        </p:nvSpPr>
        <p:spPr>
          <a:xfrm>
            <a:off x="1270000" y="5127625"/>
            <a:ext cx="354330" cy="224155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 b="1"/>
              <a:t>X2</a:t>
            </a:r>
            <a:endParaRPr lang="en-US" altLang="zh-CN" sz="800" b="1"/>
          </a:p>
        </p:txBody>
      </p:sp>
      <p:sp>
        <p:nvSpPr>
          <p:cNvPr id="83" name="圆角矩形 82"/>
          <p:cNvSpPr/>
          <p:nvPr/>
        </p:nvSpPr>
        <p:spPr>
          <a:xfrm>
            <a:off x="1669415" y="5127625"/>
            <a:ext cx="354330" cy="224155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 b="1"/>
              <a:t>X3</a:t>
            </a:r>
            <a:endParaRPr lang="en-US" altLang="zh-CN" sz="800" b="1"/>
          </a:p>
        </p:txBody>
      </p:sp>
      <p:sp>
        <p:nvSpPr>
          <p:cNvPr id="84" name="圆角矩形 83"/>
          <p:cNvSpPr/>
          <p:nvPr/>
        </p:nvSpPr>
        <p:spPr>
          <a:xfrm>
            <a:off x="2322195" y="5127625"/>
            <a:ext cx="354330" cy="224155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 b="1"/>
              <a:t>Xn</a:t>
            </a:r>
            <a:endParaRPr lang="en-US" altLang="zh-CN" sz="800" b="1"/>
          </a:p>
        </p:txBody>
      </p:sp>
      <p:sp>
        <p:nvSpPr>
          <p:cNvPr id="85" name="文本框 84"/>
          <p:cNvSpPr txBox="1"/>
          <p:nvPr/>
        </p:nvSpPr>
        <p:spPr>
          <a:xfrm flipH="1">
            <a:off x="1958975" y="5019040"/>
            <a:ext cx="3632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...</a:t>
            </a:r>
            <a:endParaRPr lang="en-US" altLang="zh-CN"/>
          </a:p>
        </p:txBody>
      </p:sp>
      <p:sp>
        <p:nvSpPr>
          <p:cNvPr id="86" name="左大括号 85"/>
          <p:cNvSpPr/>
          <p:nvPr/>
        </p:nvSpPr>
        <p:spPr>
          <a:xfrm>
            <a:off x="1669415" y="4700270"/>
            <a:ext cx="213995" cy="1510665"/>
          </a:xfrm>
          <a:prstGeom prst="leftBrace">
            <a:avLst>
              <a:gd name="adj1" fmla="val 0"/>
              <a:gd name="adj2" fmla="val 28247"/>
            </a:avLst>
          </a:prstGeom>
          <a:ln w="12700">
            <a:solidFill>
              <a:schemeClr val="tx1"/>
            </a:solidFill>
          </a:ln>
          <a:scene3d>
            <a:camera prst="orthographicFront">
              <a:rot lat="0" lon="0" rev="5400000"/>
            </a:camera>
            <a:lightRig rig="threePt" dir="t"/>
          </a:scene3d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88" name="直接连接符 87"/>
          <p:cNvCxnSpPr>
            <a:stCxn id="82" idx="2"/>
          </p:cNvCxnSpPr>
          <p:nvPr/>
        </p:nvCxnSpPr>
        <p:spPr>
          <a:xfrm>
            <a:off x="1447165" y="5351780"/>
            <a:ext cx="635" cy="1079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9" name="直接连接符 88"/>
          <p:cNvCxnSpPr>
            <a:stCxn id="83" idx="2"/>
          </p:cNvCxnSpPr>
          <p:nvPr/>
        </p:nvCxnSpPr>
        <p:spPr>
          <a:xfrm flipH="1">
            <a:off x="1845310" y="5351780"/>
            <a:ext cx="1270" cy="1016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0" name="左弧形箭头 89"/>
          <p:cNvSpPr/>
          <p:nvPr/>
        </p:nvSpPr>
        <p:spPr>
          <a:xfrm>
            <a:off x="567690" y="4867275"/>
            <a:ext cx="228600" cy="391795"/>
          </a:xfrm>
          <a:prstGeom prst="curved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1" name="椭圆 90"/>
          <p:cNvSpPr/>
          <p:nvPr/>
        </p:nvSpPr>
        <p:spPr>
          <a:xfrm>
            <a:off x="2779395" y="4339590"/>
            <a:ext cx="181610" cy="179070"/>
          </a:xfrm>
          <a:prstGeom prst="ellipse">
            <a:avLst/>
          </a:prstGeom>
          <a:noFill/>
          <a:ln w="2540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3" name="椭圆 92"/>
          <p:cNvSpPr/>
          <p:nvPr/>
        </p:nvSpPr>
        <p:spPr>
          <a:xfrm>
            <a:off x="2832100" y="4391025"/>
            <a:ext cx="76200" cy="762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4" name="菱形 93"/>
          <p:cNvSpPr/>
          <p:nvPr/>
        </p:nvSpPr>
        <p:spPr>
          <a:xfrm>
            <a:off x="1102995" y="5923280"/>
            <a:ext cx="699770" cy="384810"/>
          </a:xfrm>
          <a:prstGeom prst="diamond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800"/>
          </a:p>
        </p:txBody>
      </p:sp>
      <p:sp>
        <p:nvSpPr>
          <p:cNvPr id="95" name="文本框 94"/>
          <p:cNvSpPr txBox="1"/>
          <p:nvPr/>
        </p:nvSpPr>
        <p:spPr>
          <a:xfrm>
            <a:off x="1192530" y="6009005"/>
            <a:ext cx="521335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800" b="1">
                <a:solidFill>
                  <a:schemeClr val="bg1"/>
                </a:solidFill>
              </a:rPr>
              <a:t>Global?</a:t>
            </a:r>
            <a:endParaRPr lang="en-US" altLang="zh-CN" sz="800" b="1">
              <a:solidFill>
                <a:schemeClr val="bg1"/>
              </a:solidFill>
            </a:endParaRPr>
          </a:p>
        </p:txBody>
      </p:sp>
      <p:sp>
        <p:nvSpPr>
          <p:cNvPr id="96" name="圆角矩形 95"/>
          <p:cNvSpPr/>
          <p:nvPr/>
        </p:nvSpPr>
        <p:spPr>
          <a:xfrm>
            <a:off x="1159510" y="5559425"/>
            <a:ext cx="572770" cy="224155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 b="1"/>
              <a:t>X local</a:t>
            </a:r>
            <a:endParaRPr lang="en-US" altLang="zh-CN" sz="800" b="1"/>
          </a:p>
        </p:txBody>
      </p:sp>
      <p:sp>
        <p:nvSpPr>
          <p:cNvPr id="104" name="圆角矩形 103"/>
          <p:cNvSpPr/>
          <p:nvPr/>
        </p:nvSpPr>
        <p:spPr>
          <a:xfrm>
            <a:off x="1960880" y="5965190"/>
            <a:ext cx="612775" cy="21145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  <a:scene3d>
            <a:camera prst="orthographicFront">
              <a:rot lat="0" lon="0" rev="16200000"/>
            </a:camera>
            <a:lightRig rig="threePt" dir="t"/>
          </a:scene3d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800" b="1"/>
          </a:p>
        </p:txBody>
      </p:sp>
      <p:sp>
        <p:nvSpPr>
          <p:cNvPr id="106" name="椭圆 105"/>
          <p:cNvSpPr/>
          <p:nvPr/>
        </p:nvSpPr>
        <p:spPr>
          <a:xfrm>
            <a:off x="2233295" y="5965190"/>
            <a:ext cx="76200" cy="762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  <a:scene3d>
            <a:camera prst="orthographicFront">
              <a:rot lat="0" lon="0" rev="16200000"/>
            </a:camera>
            <a:lightRig rig="threePt" dir="t"/>
          </a:scene3d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7" name="椭圆 106"/>
          <p:cNvSpPr/>
          <p:nvPr/>
        </p:nvSpPr>
        <p:spPr>
          <a:xfrm>
            <a:off x="2233295" y="5837555"/>
            <a:ext cx="75565" cy="75565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  <a:scene3d>
            <a:camera prst="orthographicFront">
              <a:rot lat="0" lon="0" rev="16200000"/>
            </a:camera>
            <a:lightRig rig="threePt" dir="t"/>
          </a:scene3d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8" name="椭圆 107"/>
          <p:cNvSpPr/>
          <p:nvPr/>
        </p:nvSpPr>
        <p:spPr>
          <a:xfrm>
            <a:off x="2233930" y="6101080"/>
            <a:ext cx="75565" cy="75565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  <a:scene3d>
            <a:camera prst="orthographicFront">
              <a:rot lat="0" lon="0" rev="16200000"/>
            </a:camera>
            <a:lightRig rig="threePt" dir="t"/>
          </a:scene3d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9" name="椭圆 108"/>
          <p:cNvSpPr/>
          <p:nvPr/>
        </p:nvSpPr>
        <p:spPr>
          <a:xfrm>
            <a:off x="2233930" y="6234430"/>
            <a:ext cx="75565" cy="75565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  <a:scene3d>
            <a:camera prst="orthographicFront">
              <a:rot lat="0" lon="0" rev="16200000"/>
            </a:camera>
            <a:lightRig rig="threePt" dir="t"/>
          </a:scene3d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0" name="文本框 109"/>
          <p:cNvSpPr txBox="1"/>
          <p:nvPr/>
        </p:nvSpPr>
        <p:spPr>
          <a:xfrm>
            <a:off x="2194560" y="6277610"/>
            <a:ext cx="516890" cy="210820"/>
          </a:xfrm>
          <a:prstGeom prst="rect">
            <a:avLst/>
          </a:prstGeom>
          <a:noFill/>
          <a:scene3d>
            <a:camera prst="orthographicFront">
              <a:rot lat="0" lon="0" rev="16200000"/>
            </a:camera>
            <a:lightRig rig="threePt" dir="t"/>
          </a:scene3d>
        </p:spPr>
        <p:txBody>
          <a:bodyPr wrap="square" rtlCol="0">
            <a:noAutofit/>
          </a:bodyPr>
          <a:p>
            <a:r>
              <a:rPr lang="en-US" altLang="zh-CN" sz="800" b="1">
                <a:solidFill>
                  <a:schemeClr val="accent4">
                    <a:lumMod val="75000"/>
                  </a:schemeClr>
                </a:solidFill>
              </a:rPr>
              <a:t>Linear</a:t>
            </a:r>
            <a:endParaRPr lang="zh-CN" altLang="en-US" sz="800" b="1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13" name="右箭头 112"/>
          <p:cNvSpPr/>
          <p:nvPr/>
        </p:nvSpPr>
        <p:spPr>
          <a:xfrm>
            <a:off x="1845310" y="6020435"/>
            <a:ext cx="199390" cy="76200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4" name="右箭头 113"/>
          <p:cNvSpPr/>
          <p:nvPr/>
        </p:nvSpPr>
        <p:spPr>
          <a:xfrm>
            <a:off x="2413635" y="5836920"/>
            <a:ext cx="199390" cy="76200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5" name="右箭头 114"/>
          <p:cNvSpPr/>
          <p:nvPr/>
        </p:nvSpPr>
        <p:spPr>
          <a:xfrm>
            <a:off x="2413635" y="5951855"/>
            <a:ext cx="199390" cy="76200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6" name="右箭头 115"/>
          <p:cNvSpPr/>
          <p:nvPr/>
        </p:nvSpPr>
        <p:spPr>
          <a:xfrm>
            <a:off x="2413635" y="6067425"/>
            <a:ext cx="199390" cy="76200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8" name="文本框 117"/>
          <p:cNvSpPr txBox="1"/>
          <p:nvPr/>
        </p:nvSpPr>
        <p:spPr>
          <a:xfrm>
            <a:off x="2444115" y="5913120"/>
            <a:ext cx="516890" cy="210820"/>
          </a:xfrm>
          <a:prstGeom prst="rect">
            <a:avLst/>
          </a:prstGeom>
          <a:noFill/>
          <a:scene3d>
            <a:camera prst="orthographicFront">
              <a:rot lat="0" lon="0" rev="16200000"/>
            </a:camera>
            <a:lightRig rig="threePt" dir="t"/>
          </a:scene3d>
        </p:spPr>
        <p:txBody>
          <a:bodyPr wrap="square" rtlCol="0">
            <a:noAutofit/>
          </a:bodyPr>
          <a:p>
            <a:r>
              <a:rPr lang="en-US" altLang="zh-CN" sz="800" b="1">
                <a:solidFill>
                  <a:schemeClr val="accent4">
                    <a:lumMod val="75000"/>
                  </a:schemeClr>
                </a:solidFill>
              </a:rPr>
              <a:t>Q K V</a:t>
            </a:r>
            <a:endParaRPr lang="zh-CN" altLang="en-US" sz="800" b="1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19" name="右箭头 118"/>
          <p:cNvSpPr/>
          <p:nvPr/>
        </p:nvSpPr>
        <p:spPr>
          <a:xfrm>
            <a:off x="2803525" y="5887720"/>
            <a:ext cx="157480" cy="179705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0" name="下箭头 119"/>
          <p:cNvSpPr/>
          <p:nvPr/>
        </p:nvSpPr>
        <p:spPr>
          <a:xfrm>
            <a:off x="1414780" y="6342380"/>
            <a:ext cx="76200" cy="106680"/>
          </a:xfrm>
          <a:prstGeom prst="downArrow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21" name="文本框 120"/>
          <p:cNvSpPr txBox="1"/>
          <p:nvPr/>
        </p:nvSpPr>
        <p:spPr>
          <a:xfrm>
            <a:off x="1758315" y="5867400"/>
            <a:ext cx="411480" cy="1606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800">
                <a:solidFill>
                  <a:srgbClr val="92D050"/>
                </a:solidFill>
                <a:sym typeface="+mn-ea"/>
              </a:rPr>
              <a:t>YES</a:t>
            </a:r>
            <a:endParaRPr lang="en-US" altLang="zh-CN" sz="800">
              <a:solidFill>
                <a:srgbClr val="92D050"/>
              </a:solidFill>
            </a:endParaRPr>
          </a:p>
        </p:txBody>
      </p:sp>
      <p:sp>
        <p:nvSpPr>
          <p:cNvPr id="122" name="文本框 121"/>
          <p:cNvSpPr txBox="1"/>
          <p:nvPr/>
        </p:nvSpPr>
        <p:spPr>
          <a:xfrm>
            <a:off x="1541780" y="6250940"/>
            <a:ext cx="347345" cy="1606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800">
                <a:solidFill>
                  <a:srgbClr val="92D050"/>
                </a:solidFill>
                <a:sym typeface="+mn-ea"/>
              </a:rPr>
              <a:t>NO</a:t>
            </a:r>
            <a:endParaRPr lang="en-US" altLang="zh-CN" sz="800">
              <a:solidFill>
                <a:srgbClr val="92D050"/>
              </a:solidFill>
            </a:endParaRPr>
          </a:p>
        </p:txBody>
      </p:sp>
      <p:sp>
        <p:nvSpPr>
          <p:cNvPr id="123" name="圆角矩形 122"/>
          <p:cNvSpPr/>
          <p:nvPr/>
        </p:nvSpPr>
        <p:spPr>
          <a:xfrm>
            <a:off x="1075690" y="6510655"/>
            <a:ext cx="612775" cy="21145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800" b="1"/>
          </a:p>
        </p:txBody>
      </p:sp>
      <p:sp>
        <p:nvSpPr>
          <p:cNvPr id="125" name="椭圆 124"/>
          <p:cNvSpPr/>
          <p:nvPr/>
        </p:nvSpPr>
        <p:spPr>
          <a:xfrm>
            <a:off x="1148715" y="6578600"/>
            <a:ext cx="75565" cy="75565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6" name="椭圆 125"/>
          <p:cNvSpPr/>
          <p:nvPr/>
        </p:nvSpPr>
        <p:spPr>
          <a:xfrm>
            <a:off x="1275715" y="6578600"/>
            <a:ext cx="75565" cy="75565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7" name="椭圆 126"/>
          <p:cNvSpPr/>
          <p:nvPr/>
        </p:nvSpPr>
        <p:spPr>
          <a:xfrm>
            <a:off x="1402715" y="6578600"/>
            <a:ext cx="75565" cy="75565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8" name="椭圆 127"/>
          <p:cNvSpPr/>
          <p:nvPr/>
        </p:nvSpPr>
        <p:spPr>
          <a:xfrm>
            <a:off x="1529715" y="6578600"/>
            <a:ext cx="75565" cy="75565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9" name="文本框 128"/>
          <p:cNvSpPr txBox="1"/>
          <p:nvPr/>
        </p:nvSpPr>
        <p:spPr>
          <a:xfrm>
            <a:off x="1705610" y="6511290"/>
            <a:ext cx="516890" cy="2108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800" b="1">
                <a:solidFill>
                  <a:schemeClr val="accent4">
                    <a:lumMod val="75000"/>
                  </a:schemeClr>
                </a:solidFill>
              </a:rPr>
              <a:t>Linear</a:t>
            </a:r>
            <a:endParaRPr lang="zh-CN" altLang="en-US" sz="800" b="1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31" name="圆角矩形 130"/>
          <p:cNvSpPr/>
          <p:nvPr/>
        </p:nvSpPr>
        <p:spPr>
          <a:xfrm>
            <a:off x="3071495" y="5259070"/>
            <a:ext cx="386715" cy="1229360"/>
          </a:xfrm>
          <a:prstGeom prst="roundRect">
            <a:avLst>
              <a:gd name="adj" fmla="val 8881"/>
            </a:avLst>
          </a:prstGeom>
          <a:solidFill>
            <a:schemeClr val="accent4">
              <a:lumMod val="60000"/>
              <a:lumOff val="40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2" name="右箭头 131"/>
          <p:cNvSpPr/>
          <p:nvPr/>
        </p:nvSpPr>
        <p:spPr>
          <a:xfrm>
            <a:off x="2169795" y="6544945"/>
            <a:ext cx="3333750" cy="143510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3" name="下箭头 132"/>
          <p:cNvSpPr/>
          <p:nvPr/>
        </p:nvSpPr>
        <p:spPr>
          <a:xfrm>
            <a:off x="1414780" y="5804535"/>
            <a:ext cx="76200" cy="106680"/>
          </a:xfrm>
          <a:prstGeom prst="downArrow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34" name="文本框 133"/>
          <p:cNvSpPr txBox="1"/>
          <p:nvPr/>
        </p:nvSpPr>
        <p:spPr>
          <a:xfrm>
            <a:off x="2717165" y="5770245"/>
            <a:ext cx="1895475" cy="238760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>
                <a:rot lat="0" lon="0" rev="16200000"/>
              </a:camera>
              <a:lightRig rig="threePt" dir="t"/>
            </a:scene3d>
          </a:bodyPr>
          <a:p>
            <a:r>
              <a:rPr lang="en-US" altLang="zh-CN" sz="1200" b="1">
                <a:solidFill>
                  <a:schemeClr val="bg1"/>
                </a:solidFill>
              </a:rPr>
              <a:t>Attn </a:t>
            </a:r>
            <a:r>
              <a:rPr lang="zh-CN" altLang="en-US" sz="1200" b="1">
                <a:solidFill>
                  <a:schemeClr val="bg1"/>
                </a:solidFill>
              </a:rPr>
              <a:t>（</a:t>
            </a:r>
            <a:r>
              <a:rPr lang="en-US" altLang="zh-CN" sz="1200" b="1">
                <a:solidFill>
                  <a:schemeClr val="bg1"/>
                </a:solidFill>
              </a:rPr>
              <a:t>Q=K</a:t>
            </a:r>
            <a:r>
              <a:rPr lang="zh-CN" altLang="en-US" sz="1200" b="1">
                <a:solidFill>
                  <a:schemeClr val="bg1"/>
                </a:solidFill>
              </a:rPr>
              <a:t>）</a:t>
            </a:r>
            <a:endParaRPr lang="zh-CN" altLang="en-US" sz="1200" b="1">
              <a:solidFill>
                <a:schemeClr val="bg1"/>
              </a:solidFill>
            </a:endParaRPr>
          </a:p>
        </p:txBody>
      </p:sp>
      <p:sp>
        <p:nvSpPr>
          <p:cNvPr id="135" name="圆角矩形 134"/>
          <p:cNvSpPr/>
          <p:nvPr/>
        </p:nvSpPr>
        <p:spPr>
          <a:xfrm>
            <a:off x="3730625" y="5845810"/>
            <a:ext cx="511175" cy="25082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000">
                <a:sym typeface="+mn-ea"/>
              </a:rPr>
              <a:t>Gate</a:t>
            </a:r>
            <a:endParaRPr lang="zh-CN" altLang="en-US" sz="1000">
              <a:sym typeface="+mn-ea"/>
            </a:endParaRPr>
          </a:p>
        </p:txBody>
      </p:sp>
      <p:sp>
        <p:nvSpPr>
          <p:cNvPr id="136" name="右箭头 135"/>
          <p:cNvSpPr/>
          <p:nvPr/>
        </p:nvSpPr>
        <p:spPr>
          <a:xfrm>
            <a:off x="4301490" y="5897880"/>
            <a:ext cx="1201420" cy="143510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7" name="右箭头 136"/>
          <p:cNvSpPr/>
          <p:nvPr/>
        </p:nvSpPr>
        <p:spPr>
          <a:xfrm>
            <a:off x="3497580" y="5887720"/>
            <a:ext cx="157480" cy="179705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8" name="圆角矩形 137"/>
          <p:cNvSpPr/>
          <p:nvPr/>
        </p:nvSpPr>
        <p:spPr>
          <a:xfrm>
            <a:off x="5069205" y="985520"/>
            <a:ext cx="1600200" cy="45847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/>
              <a:t>Context extraction</a:t>
            </a:r>
            <a:endParaRPr lang="en-US" altLang="zh-CN" sz="1200"/>
          </a:p>
        </p:txBody>
      </p:sp>
      <p:sp>
        <p:nvSpPr>
          <p:cNvPr id="139" name="右箭头 138"/>
          <p:cNvSpPr/>
          <p:nvPr/>
        </p:nvSpPr>
        <p:spPr>
          <a:xfrm>
            <a:off x="6737985" y="1063625"/>
            <a:ext cx="396000" cy="288000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1" name="梯形 140"/>
          <p:cNvSpPr/>
          <p:nvPr/>
        </p:nvSpPr>
        <p:spPr>
          <a:xfrm>
            <a:off x="7134225" y="1033145"/>
            <a:ext cx="787400" cy="422275"/>
          </a:xfrm>
          <a:prstGeom prst="trapezoid">
            <a:avLst/>
          </a:prstGeom>
          <a:scene3d>
            <a:camera prst="orthographicFront">
              <a:rot lat="0" lon="0" rev="16200000"/>
            </a:camera>
            <a:lightRig rig="threePt" dir="t"/>
          </a:scene3d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 u="sng"/>
              <a:t>Encoder</a:t>
            </a:r>
            <a:endParaRPr lang="en-US" altLang="zh-CN" sz="800" u="sng"/>
          </a:p>
        </p:txBody>
      </p:sp>
      <p:sp>
        <p:nvSpPr>
          <p:cNvPr id="144" name="右箭头 143"/>
          <p:cNvSpPr/>
          <p:nvPr/>
        </p:nvSpPr>
        <p:spPr>
          <a:xfrm>
            <a:off x="7847330" y="1062990"/>
            <a:ext cx="396000" cy="288000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4" name="圆角矩形 163"/>
          <p:cNvSpPr/>
          <p:nvPr/>
        </p:nvSpPr>
        <p:spPr>
          <a:xfrm>
            <a:off x="8282305" y="571500"/>
            <a:ext cx="1782445" cy="1873250"/>
          </a:xfrm>
          <a:prstGeom prst="roundRect">
            <a:avLst>
              <a:gd name="adj" fmla="val 9898"/>
            </a:avLst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rgbClr val="000000">
                <a:alpha val="0"/>
              </a:srgbClr>
            </a:solidFill>
            <a:miter lim="800000"/>
          </a:ln>
          <a:scene3d>
            <a:camera prst="orthographicFront"/>
            <a:lightRig rig="threePt" dir="t"/>
          </a:scene3d>
          <a:sp3d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6" name="圆角矩形 165"/>
          <p:cNvSpPr/>
          <p:nvPr/>
        </p:nvSpPr>
        <p:spPr>
          <a:xfrm>
            <a:off x="8407400" y="979805"/>
            <a:ext cx="1583055" cy="40894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 b="1"/>
              <a:t>Pre-Layer Normalization</a:t>
            </a:r>
            <a:endParaRPr lang="en-US" altLang="zh-CN" sz="800" b="1"/>
          </a:p>
        </p:txBody>
      </p:sp>
      <p:sp>
        <p:nvSpPr>
          <p:cNvPr id="167" name="圆角矩形 166"/>
          <p:cNvSpPr/>
          <p:nvPr/>
        </p:nvSpPr>
        <p:spPr>
          <a:xfrm>
            <a:off x="8917940" y="1627505"/>
            <a:ext cx="612775" cy="21145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800" b="1"/>
          </a:p>
        </p:txBody>
      </p:sp>
      <p:sp>
        <p:nvSpPr>
          <p:cNvPr id="168" name="下箭头 167"/>
          <p:cNvSpPr/>
          <p:nvPr/>
        </p:nvSpPr>
        <p:spPr>
          <a:xfrm>
            <a:off x="9152890" y="1445895"/>
            <a:ext cx="142240" cy="124460"/>
          </a:xfrm>
          <a:prstGeom prst="downArrow">
            <a:avLst/>
          </a:prstGeom>
          <a:solidFill>
            <a:srgbClr val="00B050"/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69" name="椭圆 168"/>
          <p:cNvSpPr/>
          <p:nvPr/>
        </p:nvSpPr>
        <p:spPr>
          <a:xfrm>
            <a:off x="8990965" y="1695450"/>
            <a:ext cx="75565" cy="75565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0" name="椭圆 169"/>
          <p:cNvSpPr/>
          <p:nvPr/>
        </p:nvSpPr>
        <p:spPr>
          <a:xfrm>
            <a:off x="9117965" y="1695450"/>
            <a:ext cx="75565" cy="75565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1" name="椭圆 170"/>
          <p:cNvSpPr/>
          <p:nvPr/>
        </p:nvSpPr>
        <p:spPr>
          <a:xfrm>
            <a:off x="9244965" y="1695450"/>
            <a:ext cx="75565" cy="75565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2" name="椭圆 171"/>
          <p:cNvSpPr/>
          <p:nvPr/>
        </p:nvSpPr>
        <p:spPr>
          <a:xfrm>
            <a:off x="9371965" y="1695450"/>
            <a:ext cx="75565" cy="75565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3" name="文本框 172"/>
          <p:cNvSpPr txBox="1"/>
          <p:nvPr/>
        </p:nvSpPr>
        <p:spPr>
          <a:xfrm>
            <a:off x="9547860" y="1628140"/>
            <a:ext cx="516890" cy="2108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800" b="1">
                <a:solidFill>
                  <a:schemeClr val="accent4">
                    <a:lumMod val="75000"/>
                  </a:schemeClr>
                </a:solidFill>
              </a:rPr>
              <a:t>Linear</a:t>
            </a:r>
            <a:endParaRPr lang="zh-CN" altLang="en-US" sz="800" b="1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74" name="下箭头 173"/>
          <p:cNvSpPr/>
          <p:nvPr/>
        </p:nvSpPr>
        <p:spPr>
          <a:xfrm>
            <a:off x="9160510" y="1896110"/>
            <a:ext cx="142240" cy="124460"/>
          </a:xfrm>
          <a:prstGeom prst="downArrow">
            <a:avLst/>
          </a:prstGeom>
          <a:solidFill>
            <a:srgbClr val="00B050"/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75" name="圆角矩形 174"/>
          <p:cNvSpPr/>
          <p:nvPr/>
        </p:nvSpPr>
        <p:spPr>
          <a:xfrm>
            <a:off x="8968740" y="2077720"/>
            <a:ext cx="511175" cy="25082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 b="1"/>
              <a:t>ReLU</a:t>
            </a:r>
            <a:endParaRPr lang="en-US" altLang="zh-CN" sz="800" b="1"/>
          </a:p>
        </p:txBody>
      </p:sp>
      <p:sp>
        <p:nvSpPr>
          <p:cNvPr id="177" name="椭圆 176"/>
          <p:cNvSpPr/>
          <p:nvPr/>
        </p:nvSpPr>
        <p:spPr>
          <a:xfrm>
            <a:off x="10654030" y="1255395"/>
            <a:ext cx="177800" cy="17462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78" name="椭圆 177"/>
          <p:cNvSpPr/>
          <p:nvPr/>
        </p:nvSpPr>
        <p:spPr>
          <a:xfrm>
            <a:off x="10831830" y="906145"/>
            <a:ext cx="177800" cy="17462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79" name="椭圆 178"/>
          <p:cNvSpPr/>
          <p:nvPr/>
        </p:nvSpPr>
        <p:spPr>
          <a:xfrm>
            <a:off x="11200130" y="731520"/>
            <a:ext cx="177800" cy="17462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80" name="椭圆 179"/>
          <p:cNvSpPr/>
          <p:nvPr/>
        </p:nvSpPr>
        <p:spPr>
          <a:xfrm>
            <a:off x="11812270" y="1255395"/>
            <a:ext cx="177800" cy="17462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81" name="椭圆 180"/>
          <p:cNvSpPr/>
          <p:nvPr/>
        </p:nvSpPr>
        <p:spPr>
          <a:xfrm>
            <a:off x="11560810" y="906145"/>
            <a:ext cx="177800" cy="17462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82" name="椭圆 181"/>
          <p:cNvSpPr/>
          <p:nvPr/>
        </p:nvSpPr>
        <p:spPr>
          <a:xfrm>
            <a:off x="11200130" y="1255395"/>
            <a:ext cx="177800" cy="174625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cxnSp>
        <p:nvCxnSpPr>
          <p:cNvPr id="183" name="直接连接符 182"/>
          <p:cNvCxnSpPr>
            <a:stCxn id="177" idx="6"/>
            <a:endCxn id="182" idx="2"/>
          </p:cNvCxnSpPr>
          <p:nvPr/>
        </p:nvCxnSpPr>
        <p:spPr>
          <a:xfrm>
            <a:off x="10831830" y="1343025"/>
            <a:ext cx="368300" cy="0"/>
          </a:xfrm>
          <a:prstGeom prst="line">
            <a:avLst/>
          </a:prstGeom>
          <a:ln w="6350" cmpd="sng">
            <a:solidFill>
              <a:schemeClr val="tx1"/>
            </a:solidFill>
            <a:prstDash val="solid"/>
            <a:tailEnd type="triangle" w="sm" len="sm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4" name="直接连接符 183"/>
          <p:cNvCxnSpPr>
            <a:stCxn id="178" idx="5"/>
            <a:endCxn id="182" idx="1"/>
          </p:cNvCxnSpPr>
          <p:nvPr/>
        </p:nvCxnSpPr>
        <p:spPr>
          <a:xfrm>
            <a:off x="10983595" y="1055370"/>
            <a:ext cx="242570" cy="225425"/>
          </a:xfrm>
          <a:prstGeom prst="line">
            <a:avLst/>
          </a:prstGeom>
          <a:ln w="6350" cmpd="sng">
            <a:solidFill>
              <a:schemeClr val="tx1"/>
            </a:solidFill>
            <a:prstDash val="solid"/>
            <a:tailEnd type="triangle" w="sm" len="sm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5" name="直接连接符 184"/>
          <p:cNvCxnSpPr>
            <a:stCxn id="182" idx="0"/>
            <a:endCxn id="179" idx="4"/>
          </p:cNvCxnSpPr>
          <p:nvPr/>
        </p:nvCxnSpPr>
        <p:spPr>
          <a:xfrm flipV="1">
            <a:off x="11289030" y="906145"/>
            <a:ext cx="0" cy="349250"/>
          </a:xfrm>
          <a:prstGeom prst="line">
            <a:avLst/>
          </a:prstGeom>
          <a:ln w="6350" cmpd="sng">
            <a:solidFill>
              <a:schemeClr val="tx1"/>
            </a:solidFill>
            <a:prstDash val="solid"/>
            <a:headEnd type="triangle" w="sm" len="sm"/>
            <a:tailEnd type="none" w="sm" len="sm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6" name="直接箭头连接符 185"/>
          <p:cNvCxnSpPr>
            <a:stCxn id="181" idx="3"/>
            <a:endCxn id="182" idx="7"/>
          </p:cNvCxnSpPr>
          <p:nvPr/>
        </p:nvCxnSpPr>
        <p:spPr>
          <a:xfrm flipH="1">
            <a:off x="11351895" y="1055370"/>
            <a:ext cx="234950" cy="225425"/>
          </a:xfrm>
          <a:prstGeom prst="straightConnector1">
            <a:avLst/>
          </a:prstGeom>
          <a:ln w="6350" cmpd="sng">
            <a:solidFill>
              <a:schemeClr val="tx1"/>
            </a:solidFill>
            <a:prstDash val="solid"/>
            <a:tailEnd type="triangle" w="sm" len="sm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7" name="直接箭头连接符 186"/>
          <p:cNvCxnSpPr>
            <a:stCxn id="180" idx="2"/>
            <a:endCxn id="182" idx="6"/>
          </p:cNvCxnSpPr>
          <p:nvPr/>
        </p:nvCxnSpPr>
        <p:spPr>
          <a:xfrm flipH="1">
            <a:off x="11377930" y="1343025"/>
            <a:ext cx="434340" cy="0"/>
          </a:xfrm>
          <a:prstGeom prst="straightConnector1">
            <a:avLst/>
          </a:prstGeom>
          <a:ln w="6350" cmpd="sng">
            <a:solidFill>
              <a:schemeClr val="tx1"/>
            </a:solidFill>
            <a:prstDash val="solid"/>
            <a:tailEnd type="triangle" w="sm" len="sm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88" name="椭圆 187"/>
          <p:cNvSpPr/>
          <p:nvPr/>
        </p:nvSpPr>
        <p:spPr>
          <a:xfrm>
            <a:off x="11200130" y="2153920"/>
            <a:ext cx="177800" cy="174625"/>
          </a:xfrm>
          <a:prstGeom prst="ellipse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cxnSp>
        <p:nvCxnSpPr>
          <p:cNvPr id="189" name="直接箭头连接符 188"/>
          <p:cNvCxnSpPr>
            <a:stCxn id="182" idx="4"/>
            <a:endCxn id="188" idx="0"/>
          </p:cNvCxnSpPr>
          <p:nvPr/>
        </p:nvCxnSpPr>
        <p:spPr>
          <a:xfrm>
            <a:off x="11289030" y="1430020"/>
            <a:ext cx="0" cy="723900"/>
          </a:xfrm>
          <a:prstGeom prst="straightConnector1">
            <a:avLst/>
          </a:prstGeom>
          <a:ln w="6350" cmpd="sng">
            <a:solidFill>
              <a:schemeClr val="tx1"/>
            </a:solidFill>
            <a:prstDash val="solid"/>
            <a:headEnd type="none" w="sm" len="sm"/>
            <a:tailEnd type="triangle" w="sm" len="sm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90" name="下箭头 189"/>
          <p:cNvSpPr/>
          <p:nvPr/>
        </p:nvSpPr>
        <p:spPr>
          <a:xfrm>
            <a:off x="9152890" y="2373630"/>
            <a:ext cx="142240" cy="215900"/>
          </a:xfrm>
          <a:prstGeom prst="downArrow">
            <a:avLst/>
          </a:prstGeom>
          <a:solidFill>
            <a:srgbClr val="00B050"/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91" name="下箭头 190"/>
          <p:cNvSpPr/>
          <p:nvPr/>
        </p:nvSpPr>
        <p:spPr>
          <a:xfrm>
            <a:off x="11235690" y="2414905"/>
            <a:ext cx="142240" cy="215900"/>
          </a:xfrm>
          <a:prstGeom prst="downArrow">
            <a:avLst/>
          </a:prstGeom>
          <a:solidFill>
            <a:srgbClr val="00B0F0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92" name="左弧形箭头 191"/>
          <p:cNvSpPr/>
          <p:nvPr/>
        </p:nvSpPr>
        <p:spPr>
          <a:xfrm>
            <a:off x="11173460" y="1386840"/>
            <a:ext cx="76200" cy="100330"/>
          </a:xfrm>
          <a:prstGeom prst="curvedRightArrow">
            <a:avLst/>
          </a:prstGeom>
          <a:solidFill>
            <a:schemeClr val="tx1"/>
          </a:solidFill>
          <a:ln>
            <a:noFill/>
          </a:ln>
          <a:scene3d>
            <a:camera prst="orthographicFront">
              <a:rot lat="0" lon="0" rev="3000000"/>
            </a:camera>
            <a:lightRig rig="threePt" dir="t"/>
          </a:scene3d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96" name="左大括号 195"/>
          <p:cNvSpPr/>
          <p:nvPr/>
        </p:nvSpPr>
        <p:spPr>
          <a:xfrm>
            <a:off x="10143490" y="1866265"/>
            <a:ext cx="233680" cy="2047875"/>
          </a:xfrm>
          <a:prstGeom prst="leftBrace">
            <a:avLst>
              <a:gd name="adj1" fmla="val 0"/>
              <a:gd name="adj2" fmla="val 49665"/>
            </a:avLst>
          </a:prstGeom>
          <a:ln w="53975"/>
          <a:scene3d>
            <a:camera prst="orthographicFront">
              <a:rot lat="0" lon="0" rev="5400000"/>
            </a:camera>
            <a:lightRig rig="threePt" dir="t"/>
          </a:scene3d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9" name="矩形 198"/>
          <p:cNvSpPr/>
          <p:nvPr/>
        </p:nvSpPr>
        <p:spPr>
          <a:xfrm>
            <a:off x="5741670" y="1638935"/>
            <a:ext cx="440055" cy="762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0" name="矩形 199"/>
          <p:cNvSpPr/>
          <p:nvPr/>
        </p:nvSpPr>
        <p:spPr>
          <a:xfrm>
            <a:off x="5741670" y="1757680"/>
            <a:ext cx="440055" cy="762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1" name="矩形 200"/>
          <p:cNvSpPr/>
          <p:nvPr/>
        </p:nvSpPr>
        <p:spPr>
          <a:xfrm>
            <a:off x="5741670" y="1872615"/>
            <a:ext cx="440055" cy="762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2" name="圆角矩形 201"/>
          <p:cNvSpPr/>
          <p:nvPr/>
        </p:nvSpPr>
        <p:spPr>
          <a:xfrm>
            <a:off x="5891530" y="1609725"/>
            <a:ext cx="140335" cy="372110"/>
          </a:xfrm>
          <a:prstGeom prst="roundRect">
            <a:avLst/>
          </a:prstGeom>
          <a:ln>
            <a:noFill/>
          </a:ln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/>
              <a:t>MLP</a:t>
            </a:r>
            <a:endParaRPr lang="en-US" altLang="zh-CN" sz="800"/>
          </a:p>
        </p:txBody>
      </p:sp>
      <p:sp>
        <p:nvSpPr>
          <p:cNvPr id="203" name="圆角矩形 202"/>
          <p:cNvSpPr/>
          <p:nvPr/>
        </p:nvSpPr>
        <p:spPr>
          <a:xfrm>
            <a:off x="10017125" y="3038475"/>
            <a:ext cx="463550" cy="20891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/>
              <a:t>Filter</a:t>
            </a:r>
            <a:endParaRPr lang="en-US" altLang="zh-CN" sz="800"/>
          </a:p>
        </p:txBody>
      </p:sp>
      <p:sp>
        <p:nvSpPr>
          <p:cNvPr id="204" name="矩形 203"/>
          <p:cNvSpPr/>
          <p:nvPr/>
        </p:nvSpPr>
        <p:spPr>
          <a:xfrm>
            <a:off x="5836920" y="494030"/>
            <a:ext cx="440055" cy="762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5" name="矩形 204"/>
          <p:cNvSpPr/>
          <p:nvPr/>
        </p:nvSpPr>
        <p:spPr>
          <a:xfrm>
            <a:off x="5836920" y="612775"/>
            <a:ext cx="440055" cy="762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6" name="矩形 205"/>
          <p:cNvSpPr/>
          <p:nvPr/>
        </p:nvSpPr>
        <p:spPr>
          <a:xfrm>
            <a:off x="5836920" y="727710"/>
            <a:ext cx="440055" cy="762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7" name="圆角矩形 206"/>
          <p:cNvSpPr/>
          <p:nvPr/>
        </p:nvSpPr>
        <p:spPr>
          <a:xfrm>
            <a:off x="5986780" y="464820"/>
            <a:ext cx="140335" cy="372110"/>
          </a:xfrm>
          <a:prstGeom prst="roundRect">
            <a:avLst/>
          </a:prstGeom>
          <a:ln>
            <a:noFill/>
          </a:ln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/>
              <a:t>MLP</a:t>
            </a:r>
            <a:endParaRPr lang="en-US" altLang="zh-CN" sz="800"/>
          </a:p>
        </p:txBody>
      </p:sp>
      <p:sp>
        <p:nvSpPr>
          <p:cNvPr id="208" name="文本框 207"/>
          <p:cNvSpPr txBox="1"/>
          <p:nvPr/>
        </p:nvSpPr>
        <p:spPr>
          <a:xfrm>
            <a:off x="10831830" y="2378075"/>
            <a:ext cx="1583690" cy="4032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message</a:t>
            </a:r>
            <a:endParaRPr lang="zh-CN" altLang="en-US"/>
          </a:p>
        </p:txBody>
      </p:sp>
      <p:sp>
        <p:nvSpPr>
          <p:cNvPr id="209" name="文本框 208"/>
          <p:cNvSpPr txBox="1"/>
          <p:nvPr/>
        </p:nvSpPr>
        <p:spPr>
          <a:xfrm>
            <a:off x="7847330" y="2372995"/>
            <a:ext cx="12369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residual</a:t>
            </a:r>
            <a:endParaRPr lang="en-US" altLang="zh-CN"/>
          </a:p>
        </p:txBody>
      </p:sp>
      <p:sp>
        <p:nvSpPr>
          <p:cNvPr id="210" name="文本框 209"/>
          <p:cNvSpPr txBox="1"/>
          <p:nvPr/>
        </p:nvSpPr>
        <p:spPr>
          <a:xfrm>
            <a:off x="9740900" y="337185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discrepancy=</a:t>
            </a:r>
            <a:endParaRPr lang="en-US" altLang="zh-CN"/>
          </a:p>
        </p:txBody>
      </p:sp>
      <p:sp>
        <p:nvSpPr>
          <p:cNvPr id="211" name="文本框 210"/>
          <p:cNvSpPr txBox="1"/>
          <p:nvPr/>
        </p:nvSpPr>
        <p:spPr>
          <a:xfrm>
            <a:off x="4926965" y="258953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r_hetero</a:t>
            </a:r>
            <a:endParaRPr lang="en-US" altLang="zh-CN"/>
          </a:p>
        </p:txBody>
      </p:sp>
      <p:sp>
        <p:nvSpPr>
          <p:cNvPr id="212" name="文本框 211"/>
          <p:cNvSpPr txBox="1"/>
          <p:nvPr/>
        </p:nvSpPr>
        <p:spPr>
          <a:xfrm>
            <a:off x="6950710" y="4324350"/>
            <a:ext cx="40640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update = message + residual + r_hetero × discrepancy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SiLU</a:t>
            </a:r>
            <a:endParaRPr lang="en-US" altLang="zh-CN"/>
          </a:p>
        </p:txBody>
      </p:sp>
      <p:sp>
        <p:nvSpPr>
          <p:cNvPr id="217" name="文本框 216"/>
          <p:cNvSpPr txBox="1"/>
          <p:nvPr/>
        </p:nvSpPr>
        <p:spPr>
          <a:xfrm>
            <a:off x="5741670" y="8255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beta</a:t>
            </a:r>
            <a:endParaRPr lang="en-US" altLang="zh-CN"/>
          </a:p>
          <a:p>
            <a:endParaRPr lang="en-US" altLang="zh-CN"/>
          </a:p>
        </p:txBody>
      </p:sp>
      <p:sp>
        <p:nvSpPr>
          <p:cNvPr id="218" name="文本框 217"/>
          <p:cNvSpPr txBox="1"/>
          <p:nvPr/>
        </p:nvSpPr>
        <p:spPr>
          <a:xfrm>
            <a:off x="4446905" y="282194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这个可能不要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圆角矩形 231"/>
          <p:cNvSpPr/>
          <p:nvPr/>
        </p:nvSpPr>
        <p:spPr>
          <a:xfrm>
            <a:off x="440055" y="2372995"/>
            <a:ext cx="4443095" cy="2646045"/>
          </a:xfrm>
          <a:prstGeom prst="roundRect">
            <a:avLst>
              <a:gd name="adj" fmla="val 8881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3" name="圆角矩形 62"/>
          <p:cNvSpPr/>
          <p:nvPr/>
        </p:nvSpPr>
        <p:spPr>
          <a:xfrm>
            <a:off x="440055" y="387985"/>
            <a:ext cx="4288790" cy="1873250"/>
          </a:xfrm>
          <a:prstGeom prst="roundRect">
            <a:avLst>
              <a:gd name="adj" fmla="val 7864"/>
            </a:avLst>
          </a:prstGeom>
          <a:solidFill>
            <a:schemeClr val="accent3">
              <a:lumMod val="20000"/>
              <a:lumOff val="80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椭圆 3"/>
          <p:cNvSpPr/>
          <p:nvPr/>
        </p:nvSpPr>
        <p:spPr>
          <a:xfrm>
            <a:off x="594995" y="1176655"/>
            <a:ext cx="177800" cy="17462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683895" y="665480"/>
            <a:ext cx="177800" cy="174625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141095" y="578485"/>
            <a:ext cx="177800" cy="174625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1598295" y="840105"/>
            <a:ext cx="177800" cy="174625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1446530" y="1143000"/>
            <a:ext cx="177800" cy="174625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1052195" y="1014730"/>
            <a:ext cx="177800" cy="174625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0" name="直接连接符 9"/>
          <p:cNvCxnSpPr>
            <a:stCxn id="5" idx="4"/>
            <a:endCxn id="4" idx="0"/>
          </p:cNvCxnSpPr>
          <p:nvPr/>
        </p:nvCxnSpPr>
        <p:spPr>
          <a:xfrm flipH="1">
            <a:off x="683895" y="840105"/>
            <a:ext cx="88900" cy="3365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直接连接符 10"/>
          <p:cNvCxnSpPr>
            <a:stCxn id="4" idx="6"/>
            <a:endCxn id="9" idx="2"/>
          </p:cNvCxnSpPr>
          <p:nvPr/>
        </p:nvCxnSpPr>
        <p:spPr>
          <a:xfrm flipV="1">
            <a:off x="772795" y="1102360"/>
            <a:ext cx="279400" cy="1619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连接符 11"/>
          <p:cNvCxnSpPr>
            <a:stCxn id="5" idx="5"/>
            <a:endCxn id="9" idx="1"/>
          </p:cNvCxnSpPr>
          <p:nvPr/>
        </p:nvCxnSpPr>
        <p:spPr>
          <a:xfrm>
            <a:off x="835660" y="814705"/>
            <a:ext cx="242570" cy="2254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连接符 12"/>
          <p:cNvCxnSpPr>
            <a:stCxn id="5" idx="6"/>
            <a:endCxn id="6" idx="2"/>
          </p:cNvCxnSpPr>
          <p:nvPr/>
        </p:nvCxnSpPr>
        <p:spPr>
          <a:xfrm flipV="1">
            <a:off x="861695" y="666115"/>
            <a:ext cx="279400" cy="8699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直接连接符 14"/>
          <p:cNvCxnSpPr>
            <a:stCxn id="9" idx="0"/>
            <a:endCxn id="6" idx="4"/>
          </p:cNvCxnSpPr>
          <p:nvPr/>
        </p:nvCxnSpPr>
        <p:spPr>
          <a:xfrm flipV="1">
            <a:off x="1141095" y="753110"/>
            <a:ext cx="88900" cy="2616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直接连接符 15"/>
          <p:cNvCxnSpPr>
            <a:stCxn id="6" idx="6"/>
            <a:endCxn id="7" idx="1"/>
          </p:cNvCxnSpPr>
          <p:nvPr/>
        </p:nvCxnSpPr>
        <p:spPr>
          <a:xfrm>
            <a:off x="1318895" y="666115"/>
            <a:ext cx="305435" cy="19939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直接连接符 16"/>
          <p:cNvCxnSpPr>
            <a:stCxn id="7" idx="4"/>
            <a:endCxn id="8" idx="7"/>
          </p:cNvCxnSpPr>
          <p:nvPr/>
        </p:nvCxnSpPr>
        <p:spPr>
          <a:xfrm flipH="1">
            <a:off x="1598295" y="1014730"/>
            <a:ext cx="88900" cy="1536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直接连接符 18"/>
          <p:cNvCxnSpPr>
            <a:stCxn id="9" idx="6"/>
            <a:endCxn id="8" idx="2"/>
          </p:cNvCxnSpPr>
          <p:nvPr/>
        </p:nvCxnSpPr>
        <p:spPr>
          <a:xfrm>
            <a:off x="1229995" y="1102360"/>
            <a:ext cx="216535" cy="1282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0" name="右箭头 19"/>
          <p:cNvSpPr/>
          <p:nvPr/>
        </p:nvSpPr>
        <p:spPr>
          <a:xfrm>
            <a:off x="2017395" y="751840"/>
            <a:ext cx="396000" cy="288000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圆角矩形 20"/>
          <p:cNvSpPr/>
          <p:nvPr/>
        </p:nvSpPr>
        <p:spPr>
          <a:xfrm>
            <a:off x="2485390" y="483235"/>
            <a:ext cx="1583055" cy="88392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800"/>
          </a:p>
        </p:txBody>
      </p:sp>
      <p:sp>
        <p:nvSpPr>
          <p:cNvPr id="24" name="文本框 23"/>
          <p:cNvSpPr txBox="1"/>
          <p:nvPr/>
        </p:nvSpPr>
        <p:spPr>
          <a:xfrm>
            <a:off x="2734945" y="544195"/>
            <a:ext cx="1123315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800" b="1">
                <a:solidFill>
                  <a:schemeClr val="bg1"/>
                </a:solidFill>
                <a:sym typeface="+mn-ea"/>
              </a:rPr>
              <a:t>Make Bidirectional</a:t>
            </a:r>
            <a:endParaRPr lang="en-US" altLang="zh-CN" sz="800" b="1">
              <a:solidFill>
                <a:schemeClr val="bg1"/>
              </a:solidFill>
              <a:sym typeface="+mn-ea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2776220" y="1076325"/>
            <a:ext cx="981075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800" b="1">
                <a:solidFill>
                  <a:schemeClr val="bg1"/>
                </a:solidFill>
              </a:rPr>
              <a:t>Add Self Loops</a:t>
            </a:r>
            <a:endParaRPr lang="en-US" altLang="zh-CN" sz="800" b="1">
              <a:solidFill>
                <a:schemeClr val="bg1"/>
              </a:solidFill>
            </a:endParaRPr>
          </a:p>
        </p:txBody>
      </p:sp>
      <p:sp>
        <p:nvSpPr>
          <p:cNvPr id="27" name="下箭头 26"/>
          <p:cNvSpPr/>
          <p:nvPr/>
        </p:nvSpPr>
        <p:spPr>
          <a:xfrm>
            <a:off x="3272790" y="796925"/>
            <a:ext cx="75565" cy="75565"/>
          </a:xfrm>
          <a:prstGeom prst="down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右箭头 29"/>
          <p:cNvSpPr/>
          <p:nvPr/>
        </p:nvSpPr>
        <p:spPr>
          <a:xfrm>
            <a:off x="4293870" y="1104265"/>
            <a:ext cx="360680" cy="151130"/>
          </a:xfrm>
          <a:prstGeom prst="rightArrow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下箭头 30"/>
          <p:cNvSpPr/>
          <p:nvPr/>
        </p:nvSpPr>
        <p:spPr>
          <a:xfrm>
            <a:off x="3168650" y="1367790"/>
            <a:ext cx="154940" cy="377190"/>
          </a:xfrm>
          <a:prstGeom prst="downArrow">
            <a:avLst/>
          </a:prstGeom>
          <a:solidFill>
            <a:srgbClr val="00B050"/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2" name="圆角矩形 31"/>
          <p:cNvSpPr/>
          <p:nvPr/>
        </p:nvSpPr>
        <p:spPr>
          <a:xfrm>
            <a:off x="1447800" y="1744980"/>
            <a:ext cx="2560955" cy="40894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 b="1"/>
              <a:t>LayerNorm</a:t>
            </a:r>
            <a:endParaRPr lang="en-US" altLang="zh-CN" sz="800" b="1"/>
          </a:p>
        </p:txBody>
      </p:sp>
      <p:sp>
        <p:nvSpPr>
          <p:cNvPr id="33" name="圆角矩形 32"/>
          <p:cNvSpPr/>
          <p:nvPr/>
        </p:nvSpPr>
        <p:spPr>
          <a:xfrm>
            <a:off x="3046730" y="2941320"/>
            <a:ext cx="612775" cy="21145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800" b="1"/>
          </a:p>
        </p:txBody>
      </p:sp>
      <p:sp>
        <p:nvSpPr>
          <p:cNvPr id="34" name="下箭头 33"/>
          <p:cNvSpPr/>
          <p:nvPr/>
        </p:nvSpPr>
        <p:spPr>
          <a:xfrm>
            <a:off x="3329305" y="2214245"/>
            <a:ext cx="76200" cy="657225"/>
          </a:xfrm>
          <a:prstGeom prst="downArrow">
            <a:avLst/>
          </a:prstGeom>
          <a:solidFill>
            <a:srgbClr val="00B050"/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5" name="椭圆 34"/>
          <p:cNvSpPr/>
          <p:nvPr/>
        </p:nvSpPr>
        <p:spPr>
          <a:xfrm>
            <a:off x="3119755" y="3009265"/>
            <a:ext cx="75565" cy="75565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椭圆 35"/>
          <p:cNvSpPr/>
          <p:nvPr/>
        </p:nvSpPr>
        <p:spPr>
          <a:xfrm>
            <a:off x="3246755" y="3009265"/>
            <a:ext cx="75565" cy="75565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椭圆 36"/>
          <p:cNvSpPr/>
          <p:nvPr/>
        </p:nvSpPr>
        <p:spPr>
          <a:xfrm>
            <a:off x="3373755" y="3009265"/>
            <a:ext cx="75565" cy="75565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椭圆 37"/>
          <p:cNvSpPr/>
          <p:nvPr/>
        </p:nvSpPr>
        <p:spPr>
          <a:xfrm>
            <a:off x="3500755" y="3009265"/>
            <a:ext cx="75565" cy="75565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文本框 38"/>
          <p:cNvSpPr txBox="1"/>
          <p:nvPr/>
        </p:nvSpPr>
        <p:spPr>
          <a:xfrm>
            <a:off x="3757295" y="2955290"/>
            <a:ext cx="516890" cy="2108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800" b="1">
                <a:solidFill>
                  <a:schemeClr val="accent4">
                    <a:lumMod val="75000"/>
                  </a:schemeClr>
                </a:solidFill>
              </a:rPr>
              <a:t>Linear</a:t>
            </a:r>
            <a:endParaRPr lang="zh-CN" altLang="en-US" sz="800" b="1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1" name="下箭头 40"/>
          <p:cNvSpPr/>
          <p:nvPr/>
        </p:nvSpPr>
        <p:spPr>
          <a:xfrm>
            <a:off x="3355340" y="3166110"/>
            <a:ext cx="142240" cy="532130"/>
          </a:xfrm>
          <a:prstGeom prst="downArrow">
            <a:avLst/>
          </a:prstGeom>
          <a:solidFill>
            <a:srgbClr val="00B050"/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42" name="圆角矩形 41"/>
          <p:cNvSpPr/>
          <p:nvPr/>
        </p:nvSpPr>
        <p:spPr>
          <a:xfrm>
            <a:off x="3119755" y="3872865"/>
            <a:ext cx="511175" cy="25082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 b="1"/>
              <a:t>ReLU</a:t>
            </a:r>
            <a:endParaRPr lang="en-US" altLang="zh-CN" sz="800" b="1"/>
          </a:p>
        </p:txBody>
      </p:sp>
      <p:sp>
        <p:nvSpPr>
          <p:cNvPr id="44" name="椭圆 43"/>
          <p:cNvSpPr/>
          <p:nvPr/>
        </p:nvSpPr>
        <p:spPr>
          <a:xfrm>
            <a:off x="1186180" y="3015615"/>
            <a:ext cx="177800" cy="17462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45" name="椭圆 44"/>
          <p:cNvSpPr/>
          <p:nvPr/>
        </p:nvSpPr>
        <p:spPr>
          <a:xfrm>
            <a:off x="1363980" y="2666365"/>
            <a:ext cx="177800" cy="17462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46" name="椭圆 45"/>
          <p:cNvSpPr/>
          <p:nvPr/>
        </p:nvSpPr>
        <p:spPr>
          <a:xfrm>
            <a:off x="1732280" y="2491740"/>
            <a:ext cx="177800" cy="17462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47" name="椭圆 46"/>
          <p:cNvSpPr/>
          <p:nvPr/>
        </p:nvSpPr>
        <p:spPr>
          <a:xfrm>
            <a:off x="2344420" y="3015615"/>
            <a:ext cx="177800" cy="17462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48" name="椭圆 47"/>
          <p:cNvSpPr/>
          <p:nvPr/>
        </p:nvSpPr>
        <p:spPr>
          <a:xfrm>
            <a:off x="2092960" y="2666365"/>
            <a:ext cx="177800" cy="17462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49" name="椭圆 48"/>
          <p:cNvSpPr/>
          <p:nvPr/>
        </p:nvSpPr>
        <p:spPr>
          <a:xfrm>
            <a:off x="1732280" y="3015615"/>
            <a:ext cx="177800" cy="174625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cxnSp>
        <p:nvCxnSpPr>
          <p:cNvPr id="51" name="直接连接符 50"/>
          <p:cNvCxnSpPr>
            <a:stCxn id="44" idx="6"/>
            <a:endCxn id="49" idx="2"/>
          </p:cNvCxnSpPr>
          <p:nvPr/>
        </p:nvCxnSpPr>
        <p:spPr>
          <a:xfrm>
            <a:off x="1363980" y="3103245"/>
            <a:ext cx="368300" cy="0"/>
          </a:xfrm>
          <a:prstGeom prst="line">
            <a:avLst/>
          </a:prstGeom>
          <a:ln w="6350" cmpd="sng">
            <a:solidFill>
              <a:schemeClr val="tx1"/>
            </a:solidFill>
            <a:prstDash val="solid"/>
            <a:tailEnd type="triangle" w="sm" len="sm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2" name="直接连接符 51"/>
          <p:cNvCxnSpPr>
            <a:stCxn id="45" idx="5"/>
            <a:endCxn id="49" idx="1"/>
          </p:cNvCxnSpPr>
          <p:nvPr/>
        </p:nvCxnSpPr>
        <p:spPr>
          <a:xfrm>
            <a:off x="1515745" y="2815590"/>
            <a:ext cx="242570" cy="225425"/>
          </a:xfrm>
          <a:prstGeom prst="line">
            <a:avLst/>
          </a:prstGeom>
          <a:ln w="6350" cmpd="sng">
            <a:solidFill>
              <a:schemeClr val="tx1"/>
            </a:solidFill>
            <a:prstDash val="solid"/>
            <a:tailEnd type="triangle" w="sm" len="sm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4" name="直接连接符 53"/>
          <p:cNvCxnSpPr>
            <a:stCxn id="49" idx="0"/>
            <a:endCxn id="46" idx="4"/>
          </p:cNvCxnSpPr>
          <p:nvPr/>
        </p:nvCxnSpPr>
        <p:spPr>
          <a:xfrm flipV="1">
            <a:off x="1821180" y="2666365"/>
            <a:ext cx="0" cy="349250"/>
          </a:xfrm>
          <a:prstGeom prst="line">
            <a:avLst/>
          </a:prstGeom>
          <a:ln w="6350" cmpd="sng">
            <a:solidFill>
              <a:schemeClr val="tx1"/>
            </a:solidFill>
            <a:prstDash val="solid"/>
            <a:headEnd type="triangle" w="sm" len="sm"/>
            <a:tailEnd type="none" w="sm" len="sm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8" name="直接箭头连接符 57"/>
          <p:cNvCxnSpPr>
            <a:stCxn id="48" idx="3"/>
            <a:endCxn id="49" idx="7"/>
          </p:cNvCxnSpPr>
          <p:nvPr/>
        </p:nvCxnSpPr>
        <p:spPr>
          <a:xfrm flipH="1">
            <a:off x="1884045" y="2815590"/>
            <a:ext cx="234950" cy="225425"/>
          </a:xfrm>
          <a:prstGeom prst="straightConnector1">
            <a:avLst/>
          </a:prstGeom>
          <a:ln w="6350" cmpd="sng">
            <a:solidFill>
              <a:schemeClr val="tx1"/>
            </a:solidFill>
            <a:prstDash val="solid"/>
            <a:tailEnd type="triangle" w="sm" len="sm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9" name="直接箭头连接符 58"/>
          <p:cNvCxnSpPr>
            <a:stCxn id="47" idx="2"/>
            <a:endCxn id="49" idx="6"/>
          </p:cNvCxnSpPr>
          <p:nvPr/>
        </p:nvCxnSpPr>
        <p:spPr>
          <a:xfrm flipH="1">
            <a:off x="1910080" y="3103245"/>
            <a:ext cx="434340" cy="0"/>
          </a:xfrm>
          <a:prstGeom prst="straightConnector1">
            <a:avLst/>
          </a:prstGeom>
          <a:ln w="6350" cmpd="sng">
            <a:solidFill>
              <a:schemeClr val="tx1"/>
            </a:solidFill>
            <a:prstDash val="solid"/>
            <a:tailEnd type="triangle" w="sm" len="sm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1" name="椭圆 60"/>
          <p:cNvSpPr/>
          <p:nvPr/>
        </p:nvSpPr>
        <p:spPr>
          <a:xfrm>
            <a:off x="1732280" y="3477260"/>
            <a:ext cx="177800" cy="174625"/>
          </a:xfrm>
          <a:prstGeom prst="ellipse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cxnSp>
        <p:nvCxnSpPr>
          <p:cNvPr id="62" name="直接箭头连接符 61"/>
          <p:cNvCxnSpPr>
            <a:stCxn id="49" idx="4"/>
            <a:endCxn id="61" idx="0"/>
          </p:cNvCxnSpPr>
          <p:nvPr/>
        </p:nvCxnSpPr>
        <p:spPr>
          <a:xfrm>
            <a:off x="1821180" y="3190240"/>
            <a:ext cx="0" cy="287020"/>
          </a:xfrm>
          <a:prstGeom prst="straightConnector1">
            <a:avLst/>
          </a:prstGeom>
          <a:ln w="6350" cmpd="sng">
            <a:solidFill>
              <a:schemeClr val="tx1"/>
            </a:solidFill>
            <a:prstDash val="solid"/>
            <a:headEnd type="none" w="sm" len="sm"/>
            <a:tailEnd type="triangle" w="sm" len="sm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1" name="左大括号 70"/>
          <p:cNvSpPr/>
          <p:nvPr/>
        </p:nvSpPr>
        <p:spPr>
          <a:xfrm>
            <a:off x="2485390" y="3468370"/>
            <a:ext cx="245745" cy="1633855"/>
          </a:xfrm>
          <a:prstGeom prst="leftBrace">
            <a:avLst>
              <a:gd name="adj1" fmla="val 0"/>
              <a:gd name="adj2" fmla="val 50058"/>
            </a:avLst>
          </a:prstGeom>
          <a:ln w="53975"/>
          <a:scene3d>
            <a:camera prst="orthographicFront">
              <a:rot lat="0" lon="0" rev="5400000"/>
            </a:camera>
            <a:lightRig rig="threePt" dir="t"/>
          </a:scene3d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4" name="圆角矩形 73"/>
          <p:cNvSpPr/>
          <p:nvPr/>
        </p:nvSpPr>
        <p:spPr>
          <a:xfrm>
            <a:off x="2485390" y="4479925"/>
            <a:ext cx="2360930" cy="144145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 b="1"/>
              <a:t>多项式</a:t>
            </a:r>
            <a:r>
              <a:rPr lang="en-US" altLang="zh-CN" sz="800" b="1"/>
              <a:t>x = (1-β) × LN(h⊙x_conv) + β × x_conv</a:t>
            </a:r>
            <a:endParaRPr lang="en-US" altLang="zh-CN" sz="800" b="1"/>
          </a:p>
        </p:txBody>
      </p:sp>
      <p:sp>
        <p:nvSpPr>
          <p:cNvPr id="80" name="左弧形箭头 79"/>
          <p:cNvSpPr/>
          <p:nvPr/>
        </p:nvSpPr>
        <p:spPr>
          <a:xfrm>
            <a:off x="1705610" y="3147060"/>
            <a:ext cx="76200" cy="100330"/>
          </a:xfrm>
          <a:prstGeom prst="curvedRightArrow">
            <a:avLst/>
          </a:prstGeom>
          <a:solidFill>
            <a:schemeClr val="tx1"/>
          </a:solidFill>
          <a:ln>
            <a:noFill/>
          </a:ln>
          <a:scene3d>
            <a:camera prst="orthographicFront">
              <a:rot lat="0" lon="0" rev="3000000"/>
            </a:camera>
            <a:lightRig rig="threePt" dir="t"/>
          </a:scene3d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1" name="圆角矩形 80"/>
          <p:cNvSpPr/>
          <p:nvPr/>
        </p:nvSpPr>
        <p:spPr>
          <a:xfrm>
            <a:off x="878205" y="5127625"/>
            <a:ext cx="354330" cy="224155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 b="1"/>
              <a:t>X1</a:t>
            </a:r>
            <a:endParaRPr lang="en-US" altLang="zh-CN" sz="800" b="1"/>
          </a:p>
        </p:txBody>
      </p:sp>
      <p:sp>
        <p:nvSpPr>
          <p:cNvPr id="82" name="圆角矩形 81"/>
          <p:cNvSpPr/>
          <p:nvPr/>
        </p:nvSpPr>
        <p:spPr>
          <a:xfrm>
            <a:off x="1270000" y="5127625"/>
            <a:ext cx="354330" cy="224155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 b="1"/>
              <a:t>X2</a:t>
            </a:r>
            <a:endParaRPr lang="en-US" altLang="zh-CN" sz="800" b="1"/>
          </a:p>
        </p:txBody>
      </p:sp>
      <p:sp>
        <p:nvSpPr>
          <p:cNvPr id="83" name="圆角矩形 82"/>
          <p:cNvSpPr/>
          <p:nvPr/>
        </p:nvSpPr>
        <p:spPr>
          <a:xfrm>
            <a:off x="1669415" y="5127625"/>
            <a:ext cx="354330" cy="224155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 b="1"/>
              <a:t>X3</a:t>
            </a:r>
            <a:endParaRPr lang="en-US" altLang="zh-CN" sz="800" b="1"/>
          </a:p>
        </p:txBody>
      </p:sp>
      <p:sp>
        <p:nvSpPr>
          <p:cNvPr id="84" name="圆角矩形 83"/>
          <p:cNvSpPr/>
          <p:nvPr/>
        </p:nvSpPr>
        <p:spPr>
          <a:xfrm>
            <a:off x="2322195" y="5127625"/>
            <a:ext cx="354330" cy="224155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 b="1"/>
              <a:t>Xn</a:t>
            </a:r>
            <a:endParaRPr lang="en-US" altLang="zh-CN" sz="800" b="1"/>
          </a:p>
        </p:txBody>
      </p:sp>
      <p:sp>
        <p:nvSpPr>
          <p:cNvPr id="85" name="文本框 84"/>
          <p:cNvSpPr txBox="1"/>
          <p:nvPr/>
        </p:nvSpPr>
        <p:spPr>
          <a:xfrm flipH="1">
            <a:off x="1958975" y="5019040"/>
            <a:ext cx="3632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...</a:t>
            </a:r>
            <a:endParaRPr lang="en-US" altLang="zh-CN"/>
          </a:p>
        </p:txBody>
      </p:sp>
      <p:sp>
        <p:nvSpPr>
          <p:cNvPr id="86" name="左大括号 85"/>
          <p:cNvSpPr/>
          <p:nvPr/>
        </p:nvSpPr>
        <p:spPr>
          <a:xfrm>
            <a:off x="1669415" y="4700270"/>
            <a:ext cx="213995" cy="1510665"/>
          </a:xfrm>
          <a:prstGeom prst="leftBrace">
            <a:avLst>
              <a:gd name="adj1" fmla="val 0"/>
              <a:gd name="adj2" fmla="val 28247"/>
            </a:avLst>
          </a:prstGeom>
          <a:ln w="12700">
            <a:solidFill>
              <a:schemeClr val="tx1"/>
            </a:solidFill>
          </a:ln>
          <a:scene3d>
            <a:camera prst="orthographicFront">
              <a:rot lat="0" lon="0" rev="5400000"/>
            </a:camera>
            <a:lightRig rig="threePt" dir="t"/>
          </a:scene3d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88" name="直接连接符 87"/>
          <p:cNvCxnSpPr>
            <a:stCxn id="82" idx="2"/>
          </p:cNvCxnSpPr>
          <p:nvPr/>
        </p:nvCxnSpPr>
        <p:spPr>
          <a:xfrm>
            <a:off x="1447165" y="5351780"/>
            <a:ext cx="635" cy="1079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9" name="直接连接符 88"/>
          <p:cNvCxnSpPr>
            <a:stCxn id="83" idx="2"/>
          </p:cNvCxnSpPr>
          <p:nvPr/>
        </p:nvCxnSpPr>
        <p:spPr>
          <a:xfrm flipH="1">
            <a:off x="1845310" y="5351780"/>
            <a:ext cx="1270" cy="1016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4" name="菱形 93"/>
          <p:cNvSpPr/>
          <p:nvPr/>
        </p:nvSpPr>
        <p:spPr>
          <a:xfrm>
            <a:off x="1102995" y="5923280"/>
            <a:ext cx="699770" cy="384810"/>
          </a:xfrm>
          <a:prstGeom prst="diamond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800"/>
          </a:p>
        </p:txBody>
      </p:sp>
      <p:sp>
        <p:nvSpPr>
          <p:cNvPr id="95" name="文本框 94"/>
          <p:cNvSpPr txBox="1"/>
          <p:nvPr/>
        </p:nvSpPr>
        <p:spPr>
          <a:xfrm>
            <a:off x="1192530" y="6009005"/>
            <a:ext cx="521335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800" b="1">
                <a:solidFill>
                  <a:schemeClr val="bg1"/>
                </a:solidFill>
              </a:rPr>
              <a:t>Global?</a:t>
            </a:r>
            <a:endParaRPr lang="en-US" altLang="zh-CN" sz="800" b="1">
              <a:solidFill>
                <a:schemeClr val="bg1"/>
              </a:solidFill>
            </a:endParaRPr>
          </a:p>
        </p:txBody>
      </p:sp>
      <p:sp>
        <p:nvSpPr>
          <p:cNvPr id="96" name="圆角矩形 95"/>
          <p:cNvSpPr/>
          <p:nvPr/>
        </p:nvSpPr>
        <p:spPr>
          <a:xfrm>
            <a:off x="1159510" y="5559425"/>
            <a:ext cx="572770" cy="224155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 b="1"/>
              <a:t>X local</a:t>
            </a:r>
            <a:endParaRPr lang="en-US" altLang="zh-CN" sz="800" b="1"/>
          </a:p>
        </p:txBody>
      </p:sp>
      <p:sp>
        <p:nvSpPr>
          <p:cNvPr id="104" name="圆角矩形 103"/>
          <p:cNvSpPr/>
          <p:nvPr/>
        </p:nvSpPr>
        <p:spPr>
          <a:xfrm>
            <a:off x="1960880" y="5965190"/>
            <a:ext cx="612775" cy="21145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  <a:scene3d>
            <a:camera prst="orthographicFront">
              <a:rot lat="0" lon="0" rev="16200000"/>
            </a:camera>
            <a:lightRig rig="threePt" dir="t"/>
          </a:scene3d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800" b="1"/>
          </a:p>
        </p:txBody>
      </p:sp>
      <p:sp>
        <p:nvSpPr>
          <p:cNvPr id="106" name="椭圆 105"/>
          <p:cNvSpPr/>
          <p:nvPr/>
        </p:nvSpPr>
        <p:spPr>
          <a:xfrm>
            <a:off x="2233295" y="5965190"/>
            <a:ext cx="76200" cy="762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  <a:scene3d>
            <a:camera prst="orthographicFront">
              <a:rot lat="0" lon="0" rev="16200000"/>
            </a:camera>
            <a:lightRig rig="threePt" dir="t"/>
          </a:scene3d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7" name="椭圆 106"/>
          <p:cNvSpPr/>
          <p:nvPr/>
        </p:nvSpPr>
        <p:spPr>
          <a:xfrm>
            <a:off x="2233295" y="5837555"/>
            <a:ext cx="75565" cy="75565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  <a:scene3d>
            <a:camera prst="orthographicFront">
              <a:rot lat="0" lon="0" rev="16200000"/>
            </a:camera>
            <a:lightRig rig="threePt" dir="t"/>
          </a:scene3d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8" name="椭圆 107"/>
          <p:cNvSpPr/>
          <p:nvPr/>
        </p:nvSpPr>
        <p:spPr>
          <a:xfrm>
            <a:off x="2233930" y="6101080"/>
            <a:ext cx="75565" cy="75565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  <a:scene3d>
            <a:camera prst="orthographicFront">
              <a:rot lat="0" lon="0" rev="16200000"/>
            </a:camera>
            <a:lightRig rig="threePt" dir="t"/>
          </a:scene3d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9" name="椭圆 108"/>
          <p:cNvSpPr/>
          <p:nvPr/>
        </p:nvSpPr>
        <p:spPr>
          <a:xfrm>
            <a:off x="2233930" y="6234430"/>
            <a:ext cx="75565" cy="75565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  <a:scene3d>
            <a:camera prst="orthographicFront">
              <a:rot lat="0" lon="0" rev="16200000"/>
            </a:camera>
            <a:lightRig rig="threePt" dir="t"/>
          </a:scene3d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0" name="文本框 109"/>
          <p:cNvSpPr txBox="1"/>
          <p:nvPr/>
        </p:nvSpPr>
        <p:spPr>
          <a:xfrm>
            <a:off x="2194560" y="6277610"/>
            <a:ext cx="516890" cy="210820"/>
          </a:xfrm>
          <a:prstGeom prst="rect">
            <a:avLst/>
          </a:prstGeom>
          <a:noFill/>
          <a:scene3d>
            <a:camera prst="orthographicFront">
              <a:rot lat="0" lon="0" rev="16200000"/>
            </a:camera>
            <a:lightRig rig="threePt" dir="t"/>
          </a:scene3d>
        </p:spPr>
        <p:txBody>
          <a:bodyPr wrap="square" rtlCol="0">
            <a:noAutofit/>
          </a:bodyPr>
          <a:p>
            <a:r>
              <a:rPr lang="en-US" altLang="zh-CN" sz="800" b="1">
                <a:solidFill>
                  <a:schemeClr val="accent4">
                    <a:lumMod val="75000"/>
                  </a:schemeClr>
                </a:solidFill>
              </a:rPr>
              <a:t>Linear</a:t>
            </a:r>
            <a:endParaRPr lang="zh-CN" altLang="en-US" sz="800" b="1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13" name="右箭头 112"/>
          <p:cNvSpPr/>
          <p:nvPr/>
        </p:nvSpPr>
        <p:spPr>
          <a:xfrm>
            <a:off x="1845310" y="6020435"/>
            <a:ext cx="199390" cy="76200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4" name="右箭头 113"/>
          <p:cNvSpPr/>
          <p:nvPr/>
        </p:nvSpPr>
        <p:spPr>
          <a:xfrm>
            <a:off x="2413635" y="5836920"/>
            <a:ext cx="199390" cy="76200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5" name="右箭头 114"/>
          <p:cNvSpPr/>
          <p:nvPr/>
        </p:nvSpPr>
        <p:spPr>
          <a:xfrm>
            <a:off x="2413635" y="5951855"/>
            <a:ext cx="199390" cy="76200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6" name="右箭头 115"/>
          <p:cNvSpPr/>
          <p:nvPr/>
        </p:nvSpPr>
        <p:spPr>
          <a:xfrm>
            <a:off x="2413635" y="6067425"/>
            <a:ext cx="199390" cy="76200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8" name="文本框 117"/>
          <p:cNvSpPr txBox="1"/>
          <p:nvPr/>
        </p:nvSpPr>
        <p:spPr>
          <a:xfrm>
            <a:off x="2444115" y="5913120"/>
            <a:ext cx="516890" cy="210820"/>
          </a:xfrm>
          <a:prstGeom prst="rect">
            <a:avLst/>
          </a:prstGeom>
          <a:noFill/>
          <a:scene3d>
            <a:camera prst="orthographicFront">
              <a:rot lat="0" lon="0" rev="16200000"/>
            </a:camera>
            <a:lightRig rig="threePt" dir="t"/>
          </a:scene3d>
        </p:spPr>
        <p:txBody>
          <a:bodyPr wrap="square" rtlCol="0">
            <a:noAutofit/>
          </a:bodyPr>
          <a:p>
            <a:r>
              <a:rPr lang="en-US" altLang="zh-CN" sz="800" b="1">
                <a:solidFill>
                  <a:schemeClr val="accent4">
                    <a:lumMod val="75000"/>
                  </a:schemeClr>
                </a:solidFill>
              </a:rPr>
              <a:t>Q K V</a:t>
            </a:r>
            <a:endParaRPr lang="zh-CN" altLang="en-US" sz="800" b="1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19" name="右箭头 118"/>
          <p:cNvSpPr/>
          <p:nvPr/>
        </p:nvSpPr>
        <p:spPr>
          <a:xfrm>
            <a:off x="2803525" y="5887720"/>
            <a:ext cx="157480" cy="179705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0" name="下箭头 119"/>
          <p:cNvSpPr/>
          <p:nvPr/>
        </p:nvSpPr>
        <p:spPr>
          <a:xfrm>
            <a:off x="1414780" y="6342380"/>
            <a:ext cx="76200" cy="106680"/>
          </a:xfrm>
          <a:prstGeom prst="downArrow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21" name="文本框 120"/>
          <p:cNvSpPr txBox="1"/>
          <p:nvPr/>
        </p:nvSpPr>
        <p:spPr>
          <a:xfrm>
            <a:off x="1758315" y="5867400"/>
            <a:ext cx="411480" cy="1606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800">
                <a:solidFill>
                  <a:srgbClr val="92D050"/>
                </a:solidFill>
                <a:sym typeface="+mn-ea"/>
              </a:rPr>
              <a:t>YES</a:t>
            </a:r>
            <a:endParaRPr lang="en-US" altLang="zh-CN" sz="800">
              <a:solidFill>
                <a:srgbClr val="92D050"/>
              </a:solidFill>
            </a:endParaRPr>
          </a:p>
        </p:txBody>
      </p:sp>
      <p:sp>
        <p:nvSpPr>
          <p:cNvPr id="122" name="文本框 121"/>
          <p:cNvSpPr txBox="1"/>
          <p:nvPr/>
        </p:nvSpPr>
        <p:spPr>
          <a:xfrm>
            <a:off x="1541780" y="6250940"/>
            <a:ext cx="347345" cy="1606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800">
                <a:solidFill>
                  <a:srgbClr val="92D050"/>
                </a:solidFill>
                <a:sym typeface="+mn-ea"/>
              </a:rPr>
              <a:t>NO</a:t>
            </a:r>
            <a:endParaRPr lang="en-US" altLang="zh-CN" sz="800">
              <a:solidFill>
                <a:srgbClr val="92D050"/>
              </a:solidFill>
            </a:endParaRPr>
          </a:p>
        </p:txBody>
      </p:sp>
      <p:sp>
        <p:nvSpPr>
          <p:cNvPr id="123" name="圆角矩形 122"/>
          <p:cNvSpPr/>
          <p:nvPr/>
        </p:nvSpPr>
        <p:spPr>
          <a:xfrm>
            <a:off x="1075690" y="6510655"/>
            <a:ext cx="612775" cy="21145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800" b="1"/>
          </a:p>
        </p:txBody>
      </p:sp>
      <p:sp>
        <p:nvSpPr>
          <p:cNvPr id="125" name="椭圆 124"/>
          <p:cNvSpPr/>
          <p:nvPr/>
        </p:nvSpPr>
        <p:spPr>
          <a:xfrm>
            <a:off x="1148715" y="6578600"/>
            <a:ext cx="75565" cy="75565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6" name="椭圆 125"/>
          <p:cNvSpPr/>
          <p:nvPr/>
        </p:nvSpPr>
        <p:spPr>
          <a:xfrm>
            <a:off x="1275715" y="6578600"/>
            <a:ext cx="75565" cy="75565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7" name="椭圆 126"/>
          <p:cNvSpPr/>
          <p:nvPr/>
        </p:nvSpPr>
        <p:spPr>
          <a:xfrm>
            <a:off x="1402715" y="6578600"/>
            <a:ext cx="75565" cy="75565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8" name="椭圆 127"/>
          <p:cNvSpPr/>
          <p:nvPr/>
        </p:nvSpPr>
        <p:spPr>
          <a:xfrm>
            <a:off x="1529715" y="6578600"/>
            <a:ext cx="75565" cy="75565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9" name="文本框 128"/>
          <p:cNvSpPr txBox="1"/>
          <p:nvPr/>
        </p:nvSpPr>
        <p:spPr>
          <a:xfrm>
            <a:off x="1705610" y="6511290"/>
            <a:ext cx="516890" cy="2108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800" b="1">
                <a:solidFill>
                  <a:schemeClr val="accent4">
                    <a:lumMod val="75000"/>
                  </a:schemeClr>
                </a:solidFill>
              </a:rPr>
              <a:t>Linear</a:t>
            </a:r>
            <a:endParaRPr lang="zh-CN" altLang="en-US" sz="800" b="1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31" name="圆角矩形 130"/>
          <p:cNvSpPr/>
          <p:nvPr/>
        </p:nvSpPr>
        <p:spPr>
          <a:xfrm>
            <a:off x="3071495" y="5259070"/>
            <a:ext cx="386715" cy="1229360"/>
          </a:xfrm>
          <a:prstGeom prst="roundRect">
            <a:avLst>
              <a:gd name="adj" fmla="val 8881"/>
            </a:avLst>
          </a:prstGeom>
          <a:solidFill>
            <a:schemeClr val="accent4">
              <a:lumMod val="60000"/>
              <a:lumOff val="40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2" name="右箭头 131"/>
          <p:cNvSpPr/>
          <p:nvPr/>
        </p:nvSpPr>
        <p:spPr>
          <a:xfrm>
            <a:off x="2169795" y="6544945"/>
            <a:ext cx="3333750" cy="143510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3" name="下箭头 132"/>
          <p:cNvSpPr/>
          <p:nvPr/>
        </p:nvSpPr>
        <p:spPr>
          <a:xfrm>
            <a:off x="1414780" y="5804535"/>
            <a:ext cx="76200" cy="106680"/>
          </a:xfrm>
          <a:prstGeom prst="downArrow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34" name="文本框 133"/>
          <p:cNvSpPr txBox="1"/>
          <p:nvPr/>
        </p:nvSpPr>
        <p:spPr>
          <a:xfrm>
            <a:off x="2717165" y="5770245"/>
            <a:ext cx="1895475" cy="238760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>
                <a:rot lat="0" lon="0" rev="16200000"/>
              </a:camera>
              <a:lightRig rig="threePt" dir="t"/>
            </a:scene3d>
          </a:bodyPr>
          <a:p>
            <a:r>
              <a:rPr lang="en-US" altLang="zh-CN" sz="1200" b="1">
                <a:solidFill>
                  <a:schemeClr val="bg1"/>
                </a:solidFill>
              </a:rPr>
              <a:t>Attn </a:t>
            </a:r>
            <a:r>
              <a:rPr lang="zh-CN" altLang="en-US" sz="1200" b="1">
                <a:solidFill>
                  <a:schemeClr val="bg1"/>
                </a:solidFill>
              </a:rPr>
              <a:t>（</a:t>
            </a:r>
            <a:r>
              <a:rPr lang="en-US" altLang="zh-CN" sz="1200" b="1">
                <a:solidFill>
                  <a:schemeClr val="bg1"/>
                </a:solidFill>
              </a:rPr>
              <a:t>Q=K</a:t>
            </a:r>
            <a:r>
              <a:rPr lang="zh-CN" altLang="en-US" sz="1200" b="1">
                <a:solidFill>
                  <a:schemeClr val="bg1"/>
                </a:solidFill>
              </a:rPr>
              <a:t>）</a:t>
            </a:r>
            <a:endParaRPr lang="zh-CN" altLang="en-US" sz="1200" b="1">
              <a:solidFill>
                <a:schemeClr val="bg1"/>
              </a:solidFill>
            </a:endParaRPr>
          </a:p>
        </p:txBody>
      </p:sp>
      <p:sp>
        <p:nvSpPr>
          <p:cNvPr id="135" name="圆角矩形 134"/>
          <p:cNvSpPr/>
          <p:nvPr/>
        </p:nvSpPr>
        <p:spPr>
          <a:xfrm>
            <a:off x="3730625" y="5845810"/>
            <a:ext cx="511175" cy="25082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000">
                <a:sym typeface="+mn-ea"/>
              </a:rPr>
              <a:t>Gate</a:t>
            </a:r>
            <a:endParaRPr lang="zh-CN" altLang="en-US" sz="1000">
              <a:sym typeface="+mn-ea"/>
            </a:endParaRPr>
          </a:p>
        </p:txBody>
      </p:sp>
      <p:sp>
        <p:nvSpPr>
          <p:cNvPr id="136" name="右箭头 135"/>
          <p:cNvSpPr/>
          <p:nvPr/>
        </p:nvSpPr>
        <p:spPr>
          <a:xfrm>
            <a:off x="4301490" y="5897880"/>
            <a:ext cx="1201420" cy="143510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7" name="右箭头 136"/>
          <p:cNvSpPr/>
          <p:nvPr/>
        </p:nvSpPr>
        <p:spPr>
          <a:xfrm>
            <a:off x="3497580" y="5887720"/>
            <a:ext cx="157480" cy="179705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8" name="圆角矩形 137"/>
          <p:cNvSpPr/>
          <p:nvPr/>
        </p:nvSpPr>
        <p:spPr>
          <a:xfrm>
            <a:off x="4787900" y="971550"/>
            <a:ext cx="1600200" cy="45847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/>
              <a:t>Context extraction</a:t>
            </a:r>
            <a:endParaRPr lang="en-US" altLang="zh-CN" sz="1200"/>
          </a:p>
        </p:txBody>
      </p:sp>
      <p:sp>
        <p:nvSpPr>
          <p:cNvPr id="166" name="圆角矩形 165"/>
          <p:cNvSpPr/>
          <p:nvPr/>
        </p:nvSpPr>
        <p:spPr>
          <a:xfrm>
            <a:off x="8983345" y="758190"/>
            <a:ext cx="909955" cy="40894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 b="1"/>
              <a:t>LayerNorm</a:t>
            </a:r>
            <a:endParaRPr lang="en-US" altLang="zh-CN" sz="800" b="1"/>
          </a:p>
        </p:txBody>
      </p:sp>
      <p:sp>
        <p:nvSpPr>
          <p:cNvPr id="177" name="椭圆 176"/>
          <p:cNvSpPr/>
          <p:nvPr/>
        </p:nvSpPr>
        <p:spPr>
          <a:xfrm>
            <a:off x="10654030" y="1255395"/>
            <a:ext cx="177800" cy="17462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78" name="椭圆 177"/>
          <p:cNvSpPr/>
          <p:nvPr/>
        </p:nvSpPr>
        <p:spPr>
          <a:xfrm>
            <a:off x="10831830" y="906145"/>
            <a:ext cx="177800" cy="17462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79" name="椭圆 178"/>
          <p:cNvSpPr/>
          <p:nvPr/>
        </p:nvSpPr>
        <p:spPr>
          <a:xfrm>
            <a:off x="11200130" y="731520"/>
            <a:ext cx="177800" cy="17462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80" name="椭圆 179"/>
          <p:cNvSpPr/>
          <p:nvPr/>
        </p:nvSpPr>
        <p:spPr>
          <a:xfrm>
            <a:off x="11812270" y="1255395"/>
            <a:ext cx="177800" cy="17462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81" name="椭圆 180"/>
          <p:cNvSpPr/>
          <p:nvPr/>
        </p:nvSpPr>
        <p:spPr>
          <a:xfrm>
            <a:off x="11560810" y="906145"/>
            <a:ext cx="177800" cy="17462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82" name="椭圆 181"/>
          <p:cNvSpPr/>
          <p:nvPr/>
        </p:nvSpPr>
        <p:spPr>
          <a:xfrm>
            <a:off x="11200130" y="1255395"/>
            <a:ext cx="177800" cy="174625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cxnSp>
        <p:nvCxnSpPr>
          <p:cNvPr id="183" name="直接连接符 182"/>
          <p:cNvCxnSpPr>
            <a:stCxn id="177" idx="6"/>
            <a:endCxn id="182" idx="2"/>
          </p:cNvCxnSpPr>
          <p:nvPr/>
        </p:nvCxnSpPr>
        <p:spPr>
          <a:xfrm>
            <a:off x="10831830" y="1343025"/>
            <a:ext cx="368300" cy="0"/>
          </a:xfrm>
          <a:prstGeom prst="line">
            <a:avLst/>
          </a:prstGeom>
          <a:ln w="6350" cmpd="sng">
            <a:solidFill>
              <a:schemeClr val="tx1"/>
            </a:solidFill>
            <a:prstDash val="solid"/>
            <a:tailEnd type="triangle" w="sm" len="sm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4" name="直接连接符 183"/>
          <p:cNvCxnSpPr>
            <a:stCxn id="178" idx="5"/>
            <a:endCxn id="182" idx="1"/>
          </p:cNvCxnSpPr>
          <p:nvPr/>
        </p:nvCxnSpPr>
        <p:spPr>
          <a:xfrm>
            <a:off x="10983595" y="1055370"/>
            <a:ext cx="242570" cy="225425"/>
          </a:xfrm>
          <a:prstGeom prst="line">
            <a:avLst/>
          </a:prstGeom>
          <a:ln w="6350" cmpd="sng">
            <a:solidFill>
              <a:schemeClr val="tx1"/>
            </a:solidFill>
            <a:prstDash val="solid"/>
            <a:tailEnd type="triangle" w="sm" len="sm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5" name="直接连接符 184"/>
          <p:cNvCxnSpPr>
            <a:stCxn id="182" idx="0"/>
            <a:endCxn id="179" idx="4"/>
          </p:cNvCxnSpPr>
          <p:nvPr/>
        </p:nvCxnSpPr>
        <p:spPr>
          <a:xfrm flipV="1">
            <a:off x="11289030" y="906145"/>
            <a:ext cx="0" cy="349250"/>
          </a:xfrm>
          <a:prstGeom prst="line">
            <a:avLst/>
          </a:prstGeom>
          <a:ln w="6350" cmpd="sng">
            <a:solidFill>
              <a:schemeClr val="tx1"/>
            </a:solidFill>
            <a:prstDash val="solid"/>
            <a:headEnd type="triangle" w="sm" len="sm"/>
            <a:tailEnd type="none" w="sm" len="sm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6" name="直接箭头连接符 185"/>
          <p:cNvCxnSpPr>
            <a:stCxn id="181" idx="3"/>
            <a:endCxn id="182" idx="7"/>
          </p:cNvCxnSpPr>
          <p:nvPr/>
        </p:nvCxnSpPr>
        <p:spPr>
          <a:xfrm flipH="1">
            <a:off x="11351895" y="1055370"/>
            <a:ext cx="234950" cy="225425"/>
          </a:xfrm>
          <a:prstGeom prst="straightConnector1">
            <a:avLst/>
          </a:prstGeom>
          <a:ln w="6350" cmpd="sng">
            <a:solidFill>
              <a:schemeClr val="tx1"/>
            </a:solidFill>
            <a:prstDash val="solid"/>
            <a:tailEnd type="triangle" w="sm" len="sm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7" name="直接箭头连接符 186"/>
          <p:cNvCxnSpPr>
            <a:stCxn id="180" idx="2"/>
            <a:endCxn id="182" idx="6"/>
          </p:cNvCxnSpPr>
          <p:nvPr/>
        </p:nvCxnSpPr>
        <p:spPr>
          <a:xfrm flipH="1">
            <a:off x="11377930" y="1343025"/>
            <a:ext cx="434340" cy="0"/>
          </a:xfrm>
          <a:prstGeom prst="straightConnector1">
            <a:avLst/>
          </a:prstGeom>
          <a:ln w="6350" cmpd="sng">
            <a:solidFill>
              <a:schemeClr val="tx1"/>
            </a:solidFill>
            <a:prstDash val="solid"/>
            <a:tailEnd type="triangle" w="sm" len="sm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88" name="椭圆 187"/>
          <p:cNvSpPr/>
          <p:nvPr/>
        </p:nvSpPr>
        <p:spPr>
          <a:xfrm>
            <a:off x="11200130" y="2153920"/>
            <a:ext cx="177800" cy="174625"/>
          </a:xfrm>
          <a:prstGeom prst="ellipse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cxnSp>
        <p:nvCxnSpPr>
          <p:cNvPr id="189" name="直接箭头连接符 188"/>
          <p:cNvCxnSpPr>
            <a:stCxn id="182" idx="4"/>
            <a:endCxn id="188" idx="0"/>
          </p:cNvCxnSpPr>
          <p:nvPr/>
        </p:nvCxnSpPr>
        <p:spPr>
          <a:xfrm>
            <a:off x="11289030" y="1430020"/>
            <a:ext cx="0" cy="723900"/>
          </a:xfrm>
          <a:prstGeom prst="straightConnector1">
            <a:avLst/>
          </a:prstGeom>
          <a:ln w="6350" cmpd="sng">
            <a:solidFill>
              <a:schemeClr val="tx1"/>
            </a:solidFill>
            <a:prstDash val="solid"/>
            <a:headEnd type="none" w="sm" len="sm"/>
            <a:tailEnd type="triangle" w="sm" len="sm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90" name="下箭头 189"/>
          <p:cNvSpPr/>
          <p:nvPr/>
        </p:nvSpPr>
        <p:spPr>
          <a:xfrm>
            <a:off x="8466455" y="1054735"/>
            <a:ext cx="207645" cy="1393190"/>
          </a:xfrm>
          <a:prstGeom prst="downArrow">
            <a:avLst/>
          </a:prstGeom>
          <a:solidFill>
            <a:srgbClr val="00B050"/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91" name="下箭头 190"/>
          <p:cNvSpPr/>
          <p:nvPr/>
        </p:nvSpPr>
        <p:spPr>
          <a:xfrm>
            <a:off x="11235690" y="2414905"/>
            <a:ext cx="142240" cy="215900"/>
          </a:xfrm>
          <a:prstGeom prst="downArrow">
            <a:avLst/>
          </a:prstGeom>
          <a:solidFill>
            <a:srgbClr val="00B0F0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92" name="左弧形箭头 191"/>
          <p:cNvSpPr/>
          <p:nvPr/>
        </p:nvSpPr>
        <p:spPr>
          <a:xfrm>
            <a:off x="11173460" y="1386840"/>
            <a:ext cx="76200" cy="100330"/>
          </a:xfrm>
          <a:prstGeom prst="curvedRightArrow">
            <a:avLst/>
          </a:prstGeom>
          <a:solidFill>
            <a:schemeClr val="tx1"/>
          </a:solidFill>
          <a:ln>
            <a:noFill/>
          </a:ln>
          <a:scene3d>
            <a:camera prst="orthographicFront">
              <a:rot lat="0" lon="0" rev="3000000"/>
            </a:camera>
            <a:lightRig rig="threePt" dir="t"/>
          </a:scene3d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96" name="左大括号 195"/>
          <p:cNvSpPr/>
          <p:nvPr/>
        </p:nvSpPr>
        <p:spPr>
          <a:xfrm>
            <a:off x="9673590" y="1304290"/>
            <a:ext cx="259080" cy="3109595"/>
          </a:xfrm>
          <a:prstGeom prst="leftBrace">
            <a:avLst>
              <a:gd name="adj1" fmla="val 0"/>
              <a:gd name="adj2" fmla="val 49665"/>
            </a:avLst>
          </a:prstGeom>
          <a:ln w="53975"/>
          <a:scene3d>
            <a:camera prst="orthographicFront">
              <a:rot lat="0" lon="0" rev="5400000"/>
            </a:camera>
            <a:lightRig rig="threePt" dir="t"/>
          </a:scene3d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9" name="矩形 198"/>
          <p:cNvSpPr/>
          <p:nvPr/>
        </p:nvSpPr>
        <p:spPr>
          <a:xfrm>
            <a:off x="5816600" y="1838325"/>
            <a:ext cx="440055" cy="762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0" name="矩形 199"/>
          <p:cNvSpPr/>
          <p:nvPr/>
        </p:nvSpPr>
        <p:spPr>
          <a:xfrm>
            <a:off x="5816600" y="1957070"/>
            <a:ext cx="440055" cy="762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1" name="矩形 200"/>
          <p:cNvSpPr/>
          <p:nvPr/>
        </p:nvSpPr>
        <p:spPr>
          <a:xfrm>
            <a:off x="5816600" y="2072005"/>
            <a:ext cx="440055" cy="762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2" name="圆角矩形 201"/>
          <p:cNvSpPr/>
          <p:nvPr/>
        </p:nvSpPr>
        <p:spPr>
          <a:xfrm>
            <a:off x="5966460" y="1809115"/>
            <a:ext cx="140335" cy="372110"/>
          </a:xfrm>
          <a:prstGeom prst="roundRect">
            <a:avLst/>
          </a:prstGeom>
          <a:ln>
            <a:noFill/>
          </a:ln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/>
              <a:t>MLP</a:t>
            </a:r>
            <a:endParaRPr lang="en-US" altLang="zh-CN" sz="800"/>
          </a:p>
        </p:txBody>
      </p:sp>
      <p:sp>
        <p:nvSpPr>
          <p:cNvPr id="203" name="圆角矩形 202"/>
          <p:cNvSpPr/>
          <p:nvPr/>
        </p:nvSpPr>
        <p:spPr>
          <a:xfrm>
            <a:off x="9553575" y="3041015"/>
            <a:ext cx="463550" cy="20891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/>
              <a:t>Filter</a:t>
            </a:r>
            <a:endParaRPr lang="en-US" altLang="zh-CN" sz="800"/>
          </a:p>
        </p:txBody>
      </p:sp>
      <p:sp>
        <p:nvSpPr>
          <p:cNvPr id="2" name="下箭头 1"/>
          <p:cNvSpPr/>
          <p:nvPr/>
        </p:nvSpPr>
        <p:spPr>
          <a:xfrm>
            <a:off x="3323590" y="1045845"/>
            <a:ext cx="75565" cy="75565"/>
          </a:xfrm>
          <a:prstGeom prst="down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3" name="下箭头 52"/>
          <p:cNvSpPr/>
          <p:nvPr/>
        </p:nvSpPr>
        <p:spPr>
          <a:xfrm>
            <a:off x="5964555" y="1593215"/>
            <a:ext cx="142240" cy="215900"/>
          </a:xfrm>
          <a:prstGeom prst="downArrow">
            <a:avLst/>
          </a:prstGeom>
          <a:solidFill>
            <a:srgbClr val="00B050"/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6398895" y="2604770"/>
            <a:ext cx="690245" cy="14414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/>
              <a:t>softmax</a:t>
            </a:r>
            <a:endParaRPr lang="en-US" altLang="zh-CN" sz="800"/>
          </a:p>
        </p:txBody>
      </p:sp>
      <p:sp>
        <p:nvSpPr>
          <p:cNvPr id="60" name="下箭头 59"/>
          <p:cNvSpPr/>
          <p:nvPr/>
        </p:nvSpPr>
        <p:spPr>
          <a:xfrm>
            <a:off x="5550535" y="2653665"/>
            <a:ext cx="142240" cy="182880"/>
          </a:xfrm>
          <a:prstGeom prst="downArrow">
            <a:avLst/>
          </a:prstGeom>
          <a:solidFill>
            <a:srgbClr val="00B050"/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87" name="直角上箭头 86"/>
          <p:cNvSpPr/>
          <p:nvPr/>
        </p:nvSpPr>
        <p:spPr>
          <a:xfrm>
            <a:off x="1781810" y="4556760"/>
            <a:ext cx="682625" cy="182245"/>
          </a:xfrm>
          <a:prstGeom prst="bentUpArrow">
            <a:avLst/>
          </a:prstGeom>
          <a:scene3d>
            <a:camera prst="orthographicFront">
              <a:rot lat="0" lon="0" rev="10800000"/>
            </a:camera>
            <a:lightRig rig="threePt" dir="t"/>
          </a:scene3d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9" name="圆角矩形 98"/>
          <p:cNvSpPr/>
          <p:nvPr/>
        </p:nvSpPr>
        <p:spPr>
          <a:xfrm>
            <a:off x="10147300" y="4479925"/>
            <a:ext cx="511175" cy="250825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 b="1"/>
              <a:t>Gate</a:t>
            </a:r>
            <a:endParaRPr lang="en-US" altLang="zh-CN" sz="800" b="1"/>
          </a:p>
        </p:txBody>
      </p:sp>
      <p:sp>
        <p:nvSpPr>
          <p:cNvPr id="100" name="圆角矩形 99"/>
          <p:cNvSpPr/>
          <p:nvPr/>
        </p:nvSpPr>
        <p:spPr>
          <a:xfrm>
            <a:off x="8983980" y="3986530"/>
            <a:ext cx="354330" cy="224155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 b="1"/>
              <a:t>X1</a:t>
            </a:r>
            <a:endParaRPr lang="en-US" altLang="zh-CN" sz="800" b="1"/>
          </a:p>
        </p:txBody>
      </p:sp>
      <p:sp>
        <p:nvSpPr>
          <p:cNvPr id="101" name="圆角矩形 100"/>
          <p:cNvSpPr/>
          <p:nvPr/>
        </p:nvSpPr>
        <p:spPr>
          <a:xfrm>
            <a:off x="9375775" y="3986530"/>
            <a:ext cx="354330" cy="224155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 b="1"/>
              <a:t>X2</a:t>
            </a:r>
            <a:endParaRPr lang="en-US" altLang="zh-CN" sz="800" b="1"/>
          </a:p>
        </p:txBody>
      </p:sp>
      <p:sp>
        <p:nvSpPr>
          <p:cNvPr id="102" name="圆角矩形 101"/>
          <p:cNvSpPr/>
          <p:nvPr/>
        </p:nvSpPr>
        <p:spPr>
          <a:xfrm>
            <a:off x="9775190" y="3986530"/>
            <a:ext cx="354330" cy="224155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 b="1"/>
              <a:t>X3</a:t>
            </a:r>
            <a:endParaRPr lang="en-US" altLang="zh-CN" sz="800" b="1"/>
          </a:p>
        </p:txBody>
      </p:sp>
      <p:sp>
        <p:nvSpPr>
          <p:cNvPr id="103" name="圆角矩形 102"/>
          <p:cNvSpPr/>
          <p:nvPr/>
        </p:nvSpPr>
        <p:spPr>
          <a:xfrm>
            <a:off x="10427970" y="3986530"/>
            <a:ext cx="354330" cy="224155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 b="1"/>
              <a:t>Xn</a:t>
            </a:r>
            <a:endParaRPr lang="en-US" altLang="zh-CN" sz="800" b="1"/>
          </a:p>
        </p:txBody>
      </p:sp>
      <p:sp>
        <p:nvSpPr>
          <p:cNvPr id="105" name="文本框 104"/>
          <p:cNvSpPr txBox="1"/>
          <p:nvPr/>
        </p:nvSpPr>
        <p:spPr>
          <a:xfrm flipH="1">
            <a:off x="10064750" y="3877945"/>
            <a:ext cx="3632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...</a:t>
            </a:r>
            <a:endParaRPr lang="en-US" altLang="zh-CN"/>
          </a:p>
        </p:txBody>
      </p:sp>
      <p:sp>
        <p:nvSpPr>
          <p:cNvPr id="117" name="左弧形箭头 116"/>
          <p:cNvSpPr/>
          <p:nvPr/>
        </p:nvSpPr>
        <p:spPr>
          <a:xfrm>
            <a:off x="10890885" y="4164965"/>
            <a:ext cx="228600" cy="391795"/>
          </a:xfrm>
          <a:prstGeom prst="curvedRightArrow">
            <a:avLst/>
          </a:prstGeom>
          <a:scene3d>
            <a:camera prst="orthographicFront">
              <a:rot lat="0" lon="10800000" rev="0"/>
            </a:camera>
            <a:lightRig rig="threePt" dir="t"/>
          </a:scene3d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57" name="圆角矩形 156"/>
          <p:cNvSpPr/>
          <p:nvPr/>
        </p:nvSpPr>
        <p:spPr>
          <a:xfrm>
            <a:off x="10147300" y="4878070"/>
            <a:ext cx="572770" cy="224155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 b="1"/>
              <a:t>X local</a:t>
            </a:r>
            <a:endParaRPr lang="en-US" altLang="zh-CN" sz="800" b="1"/>
          </a:p>
        </p:txBody>
      </p:sp>
      <p:sp>
        <p:nvSpPr>
          <p:cNvPr id="158" name="矩形 157"/>
          <p:cNvSpPr/>
          <p:nvPr/>
        </p:nvSpPr>
        <p:spPr>
          <a:xfrm>
            <a:off x="9305290" y="3481705"/>
            <a:ext cx="690245" cy="17018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/>
              <a:t>update</a:t>
            </a:r>
            <a:endParaRPr lang="en-US" altLang="zh-CN" sz="800"/>
          </a:p>
        </p:txBody>
      </p:sp>
      <p:sp>
        <p:nvSpPr>
          <p:cNvPr id="159" name="下箭头 158"/>
          <p:cNvSpPr/>
          <p:nvPr/>
        </p:nvSpPr>
        <p:spPr>
          <a:xfrm>
            <a:off x="9537700" y="3728085"/>
            <a:ext cx="142240" cy="215900"/>
          </a:xfrm>
          <a:prstGeom prst="downArrow">
            <a:avLst/>
          </a:prstGeom>
          <a:solidFill>
            <a:srgbClr val="00B0F0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60" name="菱形 159"/>
          <p:cNvSpPr/>
          <p:nvPr/>
        </p:nvSpPr>
        <p:spPr>
          <a:xfrm>
            <a:off x="10104755" y="5252720"/>
            <a:ext cx="699770" cy="384810"/>
          </a:xfrm>
          <a:prstGeom prst="diamond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800"/>
          </a:p>
        </p:txBody>
      </p:sp>
      <p:sp>
        <p:nvSpPr>
          <p:cNvPr id="161" name="文本框 160"/>
          <p:cNvSpPr txBox="1"/>
          <p:nvPr/>
        </p:nvSpPr>
        <p:spPr>
          <a:xfrm>
            <a:off x="10194290" y="5338445"/>
            <a:ext cx="521335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800" b="1">
                <a:solidFill>
                  <a:schemeClr val="bg1"/>
                </a:solidFill>
              </a:rPr>
              <a:t>Global?</a:t>
            </a:r>
            <a:endParaRPr lang="en-US" altLang="zh-CN" sz="800" b="1">
              <a:solidFill>
                <a:schemeClr val="bg1"/>
              </a:solidFill>
            </a:endParaRPr>
          </a:p>
        </p:txBody>
      </p:sp>
      <p:sp>
        <p:nvSpPr>
          <p:cNvPr id="162" name="右箭头 161"/>
          <p:cNvSpPr/>
          <p:nvPr/>
        </p:nvSpPr>
        <p:spPr>
          <a:xfrm>
            <a:off x="9848850" y="5416550"/>
            <a:ext cx="199390" cy="76200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scene3d>
            <a:camera prst="orthographicFront">
              <a:rot lat="0" lon="0" rev="10800000"/>
            </a:camera>
            <a:lightRig rig="threePt" dir="t"/>
          </a:scene3d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3" name="下箭头 162"/>
          <p:cNvSpPr/>
          <p:nvPr/>
        </p:nvSpPr>
        <p:spPr>
          <a:xfrm>
            <a:off x="10416540" y="5671820"/>
            <a:ext cx="76200" cy="106680"/>
          </a:xfrm>
          <a:prstGeom prst="downArrow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65" name="文本框 164"/>
          <p:cNvSpPr txBox="1"/>
          <p:nvPr/>
        </p:nvSpPr>
        <p:spPr>
          <a:xfrm>
            <a:off x="10543540" y="5580380"/>
            <a:ext cx="347345" cy="1606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800">
                <a:solidFill>
                  <a:srgbClr val="92D050"/>
                </a:solidFill>
                <a:sym typeface="+mn-ea"/>
              </a:rPr>
              <a:t>NO</a:t>
            </a:r>
            <a:endParaRPr lang="en-US" altLang="zh-CN" sz="800">
              <a:solidFill>
                <a:srgbClr val="92D050"/>
              </a:solidFill>
            </a:endParaRPr>
          </a:p>
        </p:txBody>
      </p:sp>
      <p:sp>
        <p:nvSpPr>
          <p:cNvPr id="176" name="下箭头 175"/>
          <p:cNvSpPr/>
          <p:nvPr/>
        </p:nvSpPr>
        <p:spPr>
          <a:xfrm>
            <a:off x="10416540" y="5133975"/>
            <a:ext cx="76200" cy="106680"/>
          </a:xfrm>
          <a:prstGeom prst="downArrow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93" name="下箭头 192"/>
          <p:cNvSpPr/>
          <p:nvPr/>
        </p:nvSpPr>
        <p:spPr>
          <a:xfrm>
            <a:off x="10416540" y="4769485"/>
            <a:ext cx="76200" cy="106680"/>
          </a:xfrm>
          <a:prstGeom prst="downArrow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94" name="文本框 193"/>
          <p:cNvSpPr txBox="1"/>
          <p:nvPr/>
        </p:nvSpPr>
        <p:spPr>
          <a:xfrm>
            <a:off x="9785985" y="5265420"/>
            <a:ext cx="411480" cy="1606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800">
                <a:solidFill>
                  <a:srgbClr val="92D050"/>
                </a:solidFill>
                <a:sym typeface="+mn-ea"/>
              </a:rPr>
              <a:t>YES</a:t>
            </a:r>
            <a:endParaRPr lang="en-US" altLang="zh-CN" sz="800">
              <a:solidFill>
                <a:srgbClr val="92D050"/>
              </a:solidFill>
            </a:endParaRPr>
          </a:p>
        </p:txBody>
      </p:sp>
      <p:sp>
        <p:nvSpPr>
          <p:cNvPr id="195" name="左大括号 194"/>
          <p:cNvSpPr/>
          <p:nvPr/>
        </p:nvSpPr>
        <p:spPr>
          <a:xfrm>
            <a:off x="8220710" y="1908175"/>
            <a:ext cx="347345" cy="2822575"/>
          </a:xfrm>
          <a:prstGeom prst="leftBrace">
            <a:avLst>
              <a:gd name="adj1" fmla="val 0"/>
              <a:gd name="adj2" fmla="val 96601"/>
            </a:avLst>
          </a:prstGeom>
          <a:ln w="53975"/>
          <a:scene3d>
            <a:camera prst="orthographicFront">
              <a:rot lat="0" lon="0" rev="5400000"/>
            </a:camera>
            <a:lightRig rig="threePt" dir="t"/>
          </a:scene3d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8" name="文本框 197"/>
          <p:cNvSpPr txBox="1"/>
          <p:nvPr/>
        </p:nvSpPr>
        <p:spPr>
          <a:xfrm>
            <a:off x="2696845" y="807085"/>
            <a:ext cx="115824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800" b="1">
                <a:solidFill>
                  <a:schemeClr val="bg1"/>
                </a:solidFill>
              </a:rPr>
              <a:t>Remove Self Loops</a:t>
            </a:r>
            <a:endParaRPr lang="en-US" altLang="zh-CN" sz="800" b="1">
              <a:solidFill>
                <a:schemeClr val="bg1"/>
              </a:solidFill>
            </a:endParaRPr>
          </a:p>
        </p:txBody>
      </p:sp>
      <p:sp>
        <p:nvSpPr>
          <p:cNvPr id="3" name="右箭头 2"/>
          <p:cNvSpPr/>
          <p:nvPr/>
        </p:nvSpPr>
        <p:spPr>
          <a:xfrm>
            <a:off x="4301490" y="579120"/>
            <a:ext cx="2574290" cy="152400"/>
          </a:xfrm>
          <a:prstGeom prst="rightArrow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8" name="文本框 207"/>
          <p:cNvSpPr txBox="1"/>
          <p:nvPr/>
        </p:nvSpPr>
        <p:spPr>
          <a:xfrm>
            <a:off x="10715625" y="2630805"/>
            <a:ext cx="1583690" cy="4032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message</a:t>
            </a:r>
            <a:endParaRPr lang="zh-CN" altLang="en-US"/>
          </a:p>
        </p:txBody>
      </p:sp>
      <p:sp>
        <p:nvSpPr>
          <p:cNvPr id="209" name="文本框 208"/>
          <p:cNvSpPr txBox="1"/>
          <p:nvPr/>
        </p:nvSpPr>
        <p:spPr>
          <a:xfrm>
            <a:off x="8101330" y="2447925"/>
            <a:ext cx="12369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residual</a:t>
            </a:r>
            <a:endParaRPr lang="en-US" altLang="zh-CN"/>
          </a:p>
        </p:txBody>
      </p:sp>
      <p:sp>
        <p:nvSpPr>
          <p:cNvPr id="26" name="太阳形 25"/>
          <p:cNvSpPr/>
          <p:nvPr/>
        </p:nvSpPr>
        <p:spPr>
          <a:xfrm>
            <a:off x="8761095" y="2052320"/>
            <a:ext cx="358140" cy="304800"/>
          </a:xfrm>
          <a:prstGeom prst="sun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/>
        </p:nvSpPr>
        <p:spPr>
          <a:xfrm>
            <a:off x="6767830" y="332930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route</a:t>
            </a:r>
            <a:endParaRPr lang="en-US" altLang="zh-CN"/>
          </a:p>
        </p:txBody>
      </p:sp>
      <p:sp>
        <p:nvSpPr>
          <p:cNvPr id="29" name="减号 28"/>
          <p:cNvSpPr/>
          <p:nvPr/>
        </p:nvSpPr>
        <p:spPr>
          <a:xfrm>
            <a:off x="9693910" y="2670810"/>
            <a:ext cx="212090" cy="75565"/>
          </a:xfrm>
          <a:prstGeom prst="mathMinus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40" name="肘形连接符 39"/>
          <p:cNvCxnSpPr>
            <a:stCxn id="208" idx="1"/>
          </p:cNvCxnSpPr>
          <p:nvPr/>
        </p:nvCxnSpPr>
        <p:spPr>
          <a:xfrm rot="10800000" flipV="1">
            <a:off x="9854565" y="2832735"/>
            <a:ext cx="860425" cy="532130"/>
          </a:xfrm>
          <a:prstGeom prst="bentConnector3">
            <a:avLst>
              <a:gd name="adj1" fmla="val 49963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5" name="加号 54"/>
          <p:cNvSpPr/>
          <p:nvPr/>
        </p:nvSpPr>
        <p:spPr>
          <a:xfrm>
            <a:off x="10430510" y="3246120"/>
            <a:ext cx="127000" cy="220345"/>
          </a:xfrm>
          <a:prstGeom prst="mathPlus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6" name="矩形 55"/>
          <p:cNvSpPr/>
          <p:nvPr/>
        </p:nvSpPr>
        <p:spPr>
          <a:xfrm>
            <a:off x="6398895" y="1838325"/>
            <a:ext cx="440055" cy="762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2" name="矩形 71"/>
          <p:cNvSpPr/>
          <p:nvPr/>
        </p:nvSpPr>
        <p:spPr>
          <a:xfrm>
            <a:off x="6398895" y="1957070"/>
            <a:ext cx="440055" cy="762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3" name="矩形 72"/>
          <p:cNvSpPr/>
          <p:nvPr/>
        </p:nvSpPr>
        <p:spPr>
          <a:xfrm>
            <a:off x="6398895" y="2072005"/>
            <a:ext cx="440055" cy="762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5" name="圆角矩形 74"/>
          <p:cNvSpPr/>
          <p:nvPr/>
        </p:nvSpPr>
        <p:spPr>
          <a:xfrm>
            <a:off x="6548755" y="1809115"/>
            <a:ext cx="140335" cy="372110"/>
          </a:xfrm>
          <a:prstGeom prst="roundRect">
            <a:avLst/>
          </a:prstGeom>
          <a:ln>
            <a:noFill/>
          </a:ln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/>
              <a:t>MLP</a:t>
            </a:r>
            <a:endParaRPr lang="en-US" altLang="zh-CN" sz="800"/>
          </a:p>
        </p:txBody>
      </p:sp>
      <p:sp>
        <p:nvSpPr>
          <p:cNvPr id="76" name="下箭头 75"/>
          <p:cNvSpPr/>
          <p:nvPr/>
        </p:nvSpPr>
        <p:spPr>
          <a:xfrm>
            <a:off x="6546850" y="1593215"/>
            <a:ext cx="142240" cy="215900"/>
          </a:xfrm>
          <a:prstGeom prst="downArrow">
            <a:avLst/>
          </a:prstGeom>
          <a:solidFill>
            <a:srgbClr val="00B050"/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77" name="矩形 76"/>
          <p:cNvSpPr/>
          <p:nvPr/>
        </p:nvSpPr>
        <p:spPr>
          <a:xfrm>
            <a:off x="5276215" y="2983230"/>
            <a:ext cx="690245" cy="14414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/>
              <a:t>beta</a:t>
            </a:r>
            <a:endParaRPr lang="en-US" altLang="zh-CN" sz="800"/>
          </a:p>
        </p:txBody>
      </p:sp>
      <p:sp>
        <p:nvSpPr>
          <p:cNvPr id="90" name="下箭头 89"/>
          <p:cNvSpPr/>
          <p:nvPr/>
        </p:nvSpPr>
        <p:spPr>
          <a:xfrm>
            <a:off x="6607810" y="2290445"/>
            <a:ext cx="142240" cy="182880"/>
          </a:xfrm>
          <a:prstGeom prst="downArrow">
            <a:avLst/>
          </a:prstGeom>
          <a:solidFill>
            <a:srgbClr val="00B050"/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92" name="矩形 91"/>
          <p:cNvSpPr/>
          <p:nvPr/>
        </p:nvSpPr>
        <p:spPr>
          <a:xfrm>
            <a:off x="5403215" y="2290445"/>
            <a:ext cx="690245" cy="14414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/>
              <a:t>tanh</a:t>
            </a:r>
            <a:endParaRPr lang="en-US" altLang="zh-CN" sz="800"/>
          </a:p>
        </p:txBody>
      </p:sp>
      <p:cxnSp>
        <p:nvCxnSpPr>
          <p:cNvPr id="97" name="直接箭头连接符 96"/>
          <p:cNvCxnSpPr>
            <a:endCxn id="159" idx="1"/>
          </p:cNvCxnSpPr>
          <p:nvPr/>
        </p:nvCxnSpPr>
        <p:spPr>
          <a:xfrm>
            <a:off x="6282055" y="3509010"/>
            <a:ext cx="3255645" cy="3638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1" name="直接箭头连接符 110"/>
          <p:cNvCxnSpPr>
            <a:stCxn id="209" idx="2"/>
          </p:cNvCxnSpPr>
          <p:nvPr/>
        </p:nvCxnSpPr>
        <p:spPr>
          <a:xfrm>
            <a:off x="8719820" y="2816225"/>
            <a:ext cx="813435" cy="10312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2" name="直接箭头连接符 111"/>
          <p:cNvCxnSpPr/>
          <p:nvPr/>
        </p:nvCxnSpPr>
        <p:spPr>
          <a:xfrm flipV="1">
            <a:off x="1732280" y="5346065"/>
            <a:ext cx="2119630" cy="3257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4" name="文本框 123"/>
          <p:cNvSpPr txBox="1"/>
          <p:nvPr/>
        </p:nvSpPr>
        <p:spPr>
          <a:xfrm>
            <a:off x="3867785" y="5158105"/>
            <a:ext cx="750570" cy="4013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h</a:t>
            </a:r>
            <a:endParaRPr lang="en-US" altLang="zh-CN"/>
          </a:p>
        </p:txBody>
      </p:sp>
      <p:cxnSp>
        <p:nvCxnSpPr>
          <p:cNvPr id="130" name="直接箭头连接符 129"/>
          <p:cNvCxnSpPr/>
          <p:nvPr/>
        </p:nvCxnSpPr>
        <p:spPr>
          <a:xfrm flipH="1">
            <a:off x="3996055" y="5481320"/>
            <a:ext cx="25400" cy="27114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0" name="矩形 139"/>
          <p:cNvSpPr/>
          <p:nvPr/>
        </p:nvSpPr>
        <p:spPr>
          <a:xfrm>
            <a:off x="4836160" y="1809115"/>
            <a:ext cx="440055" cy="762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2" name="矩形 141"/>
          <p:cNvSpPr/>
          <p:nvPr/>
        </p:nvSpPr>
        <p:spPr>
          <a:xfrm>
            <a:off x="4836160" y="1927860"/>
            <a:ext cx="440055" cy="762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3" name="矩形 142"/>
          <p:cNvSpPr/>
          <p:nvPr/>
        </p:nvSpPr>
        <p:spPr>
          <a:xfrm>
            <a:off x="4836160" y="2042795"/>
            <a:ext cx="440055" cy="762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5" name="圆角矩形 144"/>
          <p:cNvSpPr/>
          <p:nvPr/>
        </p:nvSpPr>
        <p:spPr>
          <a:xfrm>
            <a:off x="4986020" y="1779905"/>
            <a:ext cx="140335" cy="372110"/>
          </a:xfrm>
          <a:prstGeom prst="roundRect">
            <a:avLst/>
          </a:prstGeom>
          <a:ln>
            <a:noFill/>
          </a:ln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/>
              <a:t>MLP</a:t>
            </a:r>
            <a:endParaRPr lang="en-US" altLang="zh-CN" sz="800"/>
          </a:p>
        </p:txBody>
      </p:sp>
      <p:sp>
        <p:nvSpPr>
          <p:cNvPr id="146" name="下箭头 145"/>
          <p:cNvSpPr/>
          <p:nvPr/>
        </p:nvSpPr>
        <p:spPr>
          <a:xfrm>
            <a:off x="4984115" y="1564005"/>
            <a:ext cx="142240" cy="215900"/>
          </a:xfrm>
          <a:prstGeom prst="downArrow">
            <a:avLst/>
          </a:prstGeom>
          <a:solidFill>
            <a:srgbClr val="00B050"/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47" name="下箭头 146"/>
          <p:cNvSpPr/>
          <p:nvPr/>
        </p:nvSpPr>
        <p:spPr>
          <a:xfrm>
            <a:off x="4984115" y="2364105"/>
            <a:ext cx="142240" cy="182880"/>
          </a:xfrm>
          <a:prstGeom prst="downArrow">
            <a:avLst/>
          </a:prstGeom>
          <a:solidFill>
            <a:srgbClr val="00B050"/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48" name="矩形 147"/>
          <p:cNvSpPr/>
          <p:nvPr/>
        </p:nvSpPr>
        <p:spPr>
          <a:xfrm>
            <a:off x="4521835" y="2736215"/>
            <a:ext cx="690245" cy="14414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/>
              <a:t>scale</a:t>
            </a:r>
            <a:endParaRPr lang="en-US" altLang="zh-CN" sz="800"/>
          </a:p>
        </p:txBody>
      </p:sp>
      <p:sp>
        <p:nvSpPr>
          <p:cNvPr id="167" name="圆角矩形 166"/>
          <p:cNvSpPr/>
          <p:nvPr/>
        </p:nvSpPr>
        <p:spPr>
          <a:xfrm>
            <a:off x="9927590" y="5897245"/>
            <a:ext cx="612775" cy="21145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800" b="1"/>
          </a:p>
        </p:txBody>
      </p:sp>
      <p:sp>
        <p:nvSpPr>
          <p:cNvPr id="168" name="椭圆 167"/>
          <p:cNvSpPr/>
          <p:nvPr/>
        </p:nvSpPr>
        <p:spPr>
          <a:xfrm>
            <a:off x="10000615" y="5965190"/>
            <a:ext cx="75565" cy="75565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9" name="椭圆 168"/>
          <p:cNvSpPr/>
          <p:nvPr/>
        </p:nvSpPr>
        <p:spPr>
          <a:xfrm>
            <a:off x="10127615" y="5965190"/>
            <a:ext cx="75565" cy="75565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0" name="椭圆 169"/>
          <p:cNvSpPr/>
          <p:nvPr/>
        </p:nvSpPr>
        <p:spPr>
          <a:xfrm>
            <a:off x="10254615" y="5965190"/>
            <a:ext cx="75565" cy="75565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1" name="椭圆 170"/>
          <p:cNvSpPr/>
          <p:nvPr/>
        </p:nvSpPr>
        <p:spPr>
          <a:xfrm>
            <a:off x="10381615" y="5965190"/>
            <a:ext cx="75565" cy="75565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2" name="文本框 171"/>
          <p:cNvSpPr txBox="1"/>
          <p:nvPr/>
        </p:nvSpPr>
        <p:spPr>
          <a:xfrm>
            <a:off x="10557510" y="5897880"/>
            <a:ext cx="516890" cy="2108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800" b="1">
                <a:solidFill>
                  <a:schemeClr val="accent4">
                    <a:lumMod val="75000"/>
                  </a:schemeClr>
                </a:solidFill>
              </a:rPr>
              <a:t>Linear</a:t>
            </a:r>
            <a:endParaRPr lang="zh-CN" altLang="en-US" sz="800" b="1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73" name="圆角矩形 172"/>
          <p:cNvSpPr/>
          <p:nvPr/>
        </p:nvSpPr>
        <p:spPr>
          <a:xfrm>
            <a:off x="8830945" y="5423535"/>
            <a:ext cx="612775" cy="21145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  <a:scene3d>
            <a:camera prst="orthographicFront">
              <a:rot lat="0" lon="0" rev="16200000"/>
            </a:camera>
            <a:lightRig rig="threePt" dir="t"/>
          </a:scene3d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800" b="1"/>
          </a:p>
        </p:txBody>
      </p:sp>
      <p:sp>
        <p:nvSpPr>
          <p:cNvPr id="174" name="椭圆 173"/>
          <p:cNvSpPr/>
          <p:nvPr/>
        </p:nvSpPr>
        <p:spPr>
          <a:xfrm>
            <a:off x="9103360" y="5423535"/>
            <a:ext cx="76200" cy="762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  <a:scene3d>
            <a:camera prst="orthographicFront">
              <a:rot lat="0" lon="0" rev="16200000"/>
            </a:camera>
            <a:lightRig rig="threePt" dir="t"/>
          </a:scene3d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5" name="椭圆 174"/>
          <p:cNvSpPr/>
          <p:nvPr/>
        </p:nvSpPr>
        <p:spPr>
          <a:xfrm>
            <a:off x="9103360" y="5295900"/>
            <a:ext cx="75565" cy="75565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  <a:scene3d>
            <a:camera prst="orthographicFront">
              <a:rot lat="0" lon="0" rev="16200000"/>
            </a:camera>
            <a:lightRig rig="threePt" dir="t"/>
          </a:scene3d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7" name="椭圆 196"/>
          <p:cNvSpPr/>
          <p:nvPr/>
        </p:nvSpPr>
        <p:spPr>
          <a:xfrm>
            <a:off x="9103995" y="5559425"/>
            <a:ext cx="75565" cy="75565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  <a:scene3d>
            <a:camera prst="orthographicFront">
              <a:rot lat="0" lon="0" rev="16200000"/>
            </a:camera>
            <a:lightRig rig="threePt" dir="t"/>
          </a:scene3d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4" name="椭圆 203"/>
          <p:cNvSpPr/>
          <p:nvPr/>
        </p:nvSpPr>
        <p:spPr>
          <a:xfrm>
            <a:off x="9103995" y="5692775"/>
            <a:ext cx="75565" cy="75565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  <a:scene3d>
            <a:camera prst="orthographicFront">
              <a:rot lat="0" lon="0" rev="16200000"/>
            </a:camera>
            <a:lightRig rig="threePt" dir="t"/>
          </a:scene3d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5" name="文本框 204"/>
          <p:cNvSpPr txBox="1"/>
          <p:nvPr/>
        </p:nvSpPr>
        <p:spPr>
          <a:xfrm>
            <a:off x="9064625" y="5735955"/>
            <a:ext cx="516890" cy="210820"/>
          </a:xfrm>
          <a:prstGeom prst="rect">
            <a:avLst/>
          </a:prstGeom>
          <a:noFill/>
          <a:scene3d>
            <a:camera prst="orthographicFront">
              <a:rot lat="0" lon="0" rev="16200000"/>
            </a:camera>
            <a:lightRig rig="threePt" dir="t"/>
          </a:scene3d>
        </p:spPr>
        <p:txBody>
          <a:bodyPr wrap="square" rtlCol="0">
            <a:noAutofit/>
          </a:bodyPr>
          <a:p>
            <a:r>
              <a:rPr lang="en-US" altLang="zh-CN" sz="800" b="1">
                <a:solidFill>
                  <a:schemeClr val="accent4">
                    <a:lumMod val="75000"/>
                  </a:schemeClr>
                </a:solidFill>
              </a:rPr>
              <a:t>Linear</a:t>
            </a:r>
            <a:endParaRPr lang="zh-CN" altLang="en-US" sz="800" b="1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11" name="文本框 210"/>
          <p:cNvSpPr txBox="1"/>
          <p:nvPr/>
        </p:nvSpPr>
        <p:spPr>
          <a:xfrm>
            <a:off x="8142605" y="5371465"/>
            <a:ext cx="516890" cy="210820"/>
          </a:xfrm>
          <a:prstGeom prst="rect">
            <a:avLst/>
          </a:prstGeom>
          <a:noFill/>
          <a:scene3d>
            <a:camera prst="orthographicFront">
              <a:rot lat="0" lon="0" rev="16200000"/>
            </a:camera>
            <a:lightRig rig="threePt" dir="t"/>
          </a:scene3d>
        </p:spPr>
        <p:txBody>
          <a:bodyPr wrap="square" rtlCol="0">
            <a:noAutofit/>
          </a:bodyPr>
          <a:p>
            <a:r>
              <a:rPr lang="en-US" altLang="zh-CN" sz="800" b="1">
                <a:solidFill>
                  <a:schemeClr val="accent4">
                    <a:lumMod val="75000"/>
                  </a:schemeClr>
                </a:solidFill>
              </a:rPr>
              <a:t>Q K V</a:t>
            </a:r>
            <a:endParaRPr lang="zh-CN" altLang="en-US" sz="800" b="1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12" name="右箭头 211"/>
          <p:cNvSpPr/>
          <p:nvPr/>
        </p:nvSpPr>
        <p:spPr>
          <a:xfrm>
            <a:off x="9673590" y="5346065"/>
            <a:ext cx="157480" cy="179705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3" name="左箭头 212"/>
          <p:cNvSpPr/>
          <p:nvPr/>
        </p:nvSpPr>
        <p:spPr>
          <a:xfrm>
            <a:off x="8674735" y="5334635"/>
            <a:ext cx="264795" cy="75565"/>
          </a:xfrm>
          <a:prstGeom prst="lef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4" name="左箭头 213"/>
          <p:cNvSpPr/>
          <p:nvPr/>
        </p:nvSpPr>
        <p:spPr>
          <a:xfrm>
            <a:off x="8659495" y="5416550"/>
            <a:ext cx="264795" cy="75565"/>
          </a:xfrm>
          <a:prstGeom prst="lef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5" name="左箭头 214"/>
          <p:cNvSpPr/>
          <p:nvPr/>
        </p:nvSpPr>
        <p:spPr>
          <a:xfrm>
            <a:off x="8641080" y="5525770"/>
            <a:ext cx="264795" cy="75565"/>
          </a:xfrm>
          <a:prstGeom prst="lef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16" name="直接箭头连接符 215"/>
          <p:cNvCxnSpPr/>
          <p:nvPr/>
        </p:nvCxnSpPr>
        <p:spPr>
          <a:xfrm>
            <a:off x="5474970" y="3286760"/>
            <a:ext cx="2849880" cy="19608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17" name="左箭头 216"/>
          <p:cNvSpPr/>
          <p:nvPr/>
        </p:nvSpPr>
        <p:spPr>
          <a:xfrm>
            <a:off x="8004810" y="5377815"/>
            <a:ext cx="264795" cy="75565"/>
          </a:xfrm>
          <a:prstGeom prst="lef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8" name="文本框 217"/>
          <p:cNvSpPr txBox="1"/>
          <p:nvPr/>
        </p:nvSpPr>
        <p:spPr>
          <a:xfrm>
            <a:off x="7660640" y="5387340"/>
            <a:ext cx="704215" cy="233680"/>
          </a:xfrm>
          <a:prstGeom prst="rect">
            <a:avLst/>
          </a:prstGeom>
          <a:noFill/>
          <a:scene3d>
            <a:camera prst="orthographicFront">
              <a:rot lat="0" lon="0" rev="16200000"/>
            </a:camera>
            <a:lightRig rig="threePt" dir="t"/>
          </a:scene3d>
        </p:spPr>
        <p:txBody>
          <a:bodyPr wrap="square" rtlCol="0">
            <a:noAutofit/>
          </a:bodyPr>
          <a:p>
            <a:r>
              <a:rPr lang="en-US" altLang="zh-CN" sz="800" b="1">
                <a:solidFill>
                  <a:schemeClr val="accent4">
                    <a:lumMod val="75000"/>
                  </a:schemeClr>
                </a:solidFill>
              </a:rPr>
              <a:t>Q* K* V</a:t>
            </a:r>
            <a:endParaRPr lang="zh-CN" altLang="en-US" sz="800" b="1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19" name="圆角矩形 218"/>
          <p:cNvSpPr/>
          <p:nvPr/>
        </p:nvSpPr>
        <p:spPr>
          <a:xfrm>
            <a:off x="7410450" y="5230495"/>
            <a:ext cx="511175" cy="25082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000">
                <a:sym typeface="+mn-ea"/>
              </a:rPr>
              <a:t>Gate</a:t>
            </a:r>
            <a:endParaRPr lang="zh-CN" altLang="en-US" sz="1000">
              <a:sym typeface="+mn-ea"/>
            </a:endParaRPr>
          </a:p>
        </p:txBody>
      </p:sp>
      <p:cxnSp>
        <p:nvCxnSpPr>
          <p:cNvPr id="220" name="直接箭头连接符 219"/>
          <p:cNvCxnSpPr>
            <a:stCxn id="157" idx="1"/>
          </p:cNvCxnSpPr>
          <p:nvPr/>
        </p:nvCxnSpPr>
        <p:spPr>
          <a:xfrm flipH="1">
            <a:off x="7812405" y="4990465"/>
            <a:ext cx="2334895" cy="19113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21" name="左箭头 220"/>
          <p:cNvSpPr/>
          <p:nvPr/>
        </p:nvSpPr>
        <p:spPr>
          <a:xfrm>
            <a:off x="7051675" y="5278120"/>
            <a:ext cx="277495" cy="93345"/>
          </a:xfrm>
          <a:prstGeom prst="lef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2" name="圆角矩形 221"/>
          <p:cNvSpPr/>
          <p:nvPr/>
        </p:nvSpPr>
        <p:spPr>
          <a:xfrm>
            <a:off x="6459220" y="5159375"/>
            <a:ext cx="511175" cy="25082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000">
                <a:sym typeface="+mn-ea"/>
              </a:rPr>
              <a:t>ffn</a:t>
            </a:r>
            <a:endParaRPr lang="en-US" altLang="zh-CN" sz="1000">
              <a:sym typeface="+mn-ea"/>
            </a:endParaRPr>
          </a:p>
        </p:txBody>
      </p:sp>
      <p:sp>
        <p:nvSpPr>
          <p:cNvPr id="223" name="圆角矩形 222"/>
          <p:cNvSpPr/>
          <p:nvPr/>
        </p:nvSpPr>
        <p:spPr>
          <a:xfrm>
            <a:off x="1598295" y="3872865"/>
            <a:ext cx="511175" cy="25082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 b="1"/>
              <a:t>ReLU</a:t>
            </a:r>
            <a:endParaRPr lang="en-US" altLang="zh-CN" sz="800" b="1"/>
          </a:p>
        </p:txBody>
      </p:sp>
      <p:sp>
        <p:nvSpPr>
          <p:cNvPr id="227" name="太阳形 226"/>
          <p:cNvSpPr/>
          <p:nvPr/>
        </p:nvSpPr>
        <p:spPr>
          <a:xfrm>
            <a:off x="683895" y="6449060"/>
            <a:ext cx="358140" cy="304800"/>
          </a:xfrm>
          <a:prstGeom prst="sun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8" name="太阳形 227"/>
          <p:cNvSpPr/>
          <p:nvPr/>
        </p:nvSpPr>
        <p:spPr>
          <a:xfrm>
            <a:off x="10868025" y="5692775"/>
            <a:ext cx="358140" cy="304800"/>
          </a:xfrm>
          <a:prstGeom prst="sun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0" name="下箭头 229"/>
          <p:cNvSpPr/>
          <p:nvPr/>
        </p:nvSpPr>
        <p:spPr>
          <a:xfrm>
            <a:off x="1816735" y="2232660"/>
            <a:ext cx="142240" cy="124460"/>
          </a:xfrm>
          <a:prstGeom prst="downArrow">
            <a:avLst/>
          </a:prstGeom>
          <a:solidFill>
            <a:srgbClr val="00B050"/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31" name="下箭头 230"/>
          <p:cNvSpPr/>
          <p:nvPr/>
        </p:nvSpPr>
        <p:spPr>
          <a:xfrm>
            <a:off x="1746885" y="3697605"/>
            <a:ext cx="142240" cy="124460"/>
          </a:xfrm>
          <a:prstGeom prst="downArrow">
            <a:avLst/>
          </a:prstGeom>
          <a:solidFill>
            <a:srgbClr val="00B050"/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33" name="文本框 232"/>
          <p:cNvSpPr txBox="1"/>
          <p:nvPr/>
        </p:nvSpPr>
        <p:spPr>
          <a:xfrm>
            <a:off x="628015" y="2552065"/>
            <a:ext cx="4140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*n</a:t>
            </a:r>
            <a:endParaRPr lang="en-US" altLang="zh-CN"/>
          </a:p>
        </p:txBody>
      </p:sp>
      <p:sp>
        <p:nvSpPr>
          <p:cNvPr id="234" name="梯形 233"/>
          <p:cNvSpPr/>
          <p:nvPr/>
        </p:nvSpPr>
        <p:spPr>
          <a:xfrm>
            <a:off x="6828155" y="699135"/>
            <a:ext cx="787400" cy="422275"/>
          </a:xfrm>
          <a:prstGeom prst="trapezoid">
            <a:avLst/>
          </a:prstGeom>
          <a:scene3d>
            <a:camera prst="orthographicFront">
              <a:rot lat="0" lon="0" rev="16200000"/>
            </a:camera>
            <a:lightRig rig="threePt" dir="t"/>
          </a:scene3d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 u="sng"/>
              <a:t>Encoder</a:t>
            </a:r>
            <a:endParaRPr lang="en-US" altLang="zh-CN" sz="800" u="sng"/>
          </a:p>
        </p:txBody>
      </p:sp>
      <p:sp>
        <p:nvSpPr>
          <p:cNvPr id="235" name="右箭头 234"/>
          <p:cNvSpPr/>
          <p:nvPr/>
        </p:nvSpPr>
        <p:spPr>
          <a:xfrm>
            <a:off x="6467475" y="1111250"/>
            <a:ext cx="360680" cy="151130"/>
          </a:xfrm>
          <a:prstGeom prst="rightArrow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6" name="右箭头 235"/>
          <p:cNvSpPr/>
          <p:nvPr/>
        </p:nvSpPr>
        <p:spPr>
          <a:xfrm>
            <a:off x="7451725" y="840105"/>
            <a:ext cx="1472565" cy="118110"/>
          </a:xfrm>
          <a:prstGeom prst="rightArrow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7" name="右箭头 236"/>
          <p:cNvSpPr/>
          <p:nvPr/>
        </p:nvSpPr>
        <p:spPr>
          <a:xfrm>
            <a:off x="9906635" y="906145"/>
            <a:ext cx="808355" cy="108585"/>
          </a:xfrm>
          <a:prstGeom prst="rightArrow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5069205" y="985520"/>
            <a:ext cx="1600200" cy="45847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/>
              <a:t>Context extraction</a:t>
            </a:r>
            <a:endParaRPr lang="en-US" altLang="zh-CN" sz="1200"/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圆角矩形 231"/>
          <p:cNvSpPr/>
          <p:nvPr/>
        </p:nvSpPr>
        <p:spPr>
          <a:xfrm>
            <a:off x="0" y="1087755"/>
            <a:ext cx="4095750" cy="3175000"/>
          </a:xfrm>
          <a:prstGeom prst="roundRect">
            <a:avLst>
              <a:gd name="adj" fmla="val 8881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椭圆 3"/>
          <p:cNvSpPr/>
          <p:nvPr/>
        </p:nvSpPr>
        <p:spPr>
          <a:xfrm>
            <a:off x="315595" y="814705"/>
            <a:ext cx="177800" cy="17462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404495" y="303530"/>
            <a:ext cx="177800" cy="174625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861695" y="216535"/>
            <a:ext cx="177800" cy="174625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1318895" y="478155"/>
            <a:ext cx="177800" cy="174625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1167130" y="781050"/>
            <a:ext cx="177800" cy="174625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772795" y="652780"/>
            <a:ext cx="177800" cy="174625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0" name="直接连接符 9"/>
          <p:cNvCxnSpPr>
            <a:stCxn id="5" idx="4"/>
            <a:endCxn id="4" idx="0"/>
          </p:cNvCxnSpPr>
          <p:nvPr/>
        </p:nvCxnSpPr>
        <p:spPr>
          <a:xfrm flipH="1">
            <a:off x="404495" y="478155"/>
            <a:ext cx="88900" cy="3365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直接连接符 10"/>
          <p:cNvCxnSpPr>
            <a:stCxn id="4" idx="6"/>
            <a:endCxn id="9" idx="2"/>
          </p:cNvCxnSpPr>
          <p:nvPr/>
        </p:nvCxnSpPr>
        <p:spPr>
          <a:xfrm flipV="1">
            <a:off x="493395" y="740410"/>
            <a:ext cx="279400" cy="1619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连接符 11"/>
          <p:cNvCxnSpPr>
            <a:stCxn id="5" idx="5"/>
            <a:endCxn id="9" idx="1"/>
          </p:cNvCxnSpPr>
          <p:nvPr/>
        </p:nvCxnSpPr>
        <p:spPr>
          <a:xfrm>
            <a:off x="556260" y="452755"/>
            <a:ext cx="242570" cy="2254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连接符 12"/>
          <p:cNvCxnSpPr>
            <a:stCxn id="5" idx="6"/>
            <a:endCxn id="6" idx="2"/>
          </p:cNvCxnSpPr>
          <p:nvPr/>
        </p:nvCxnSpPr>
        <p:spPr>
          <a:xfrm flipV="1">
            <a:off x="582295" y="304165"/>
            <a:ext cx="279400" cy="8699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直接连接符 14"/>
          <p:cNvCxnSpPr>
            <a:stCxn id="9" idx="0"/>
            <a:endCxn id="6" idx="4"/>
          </p:cNvCxnSpPr>
          <p:nvPr/>
        </p:nvCxnSpPr>
        <p:spPr>
          <a:xfrm flipV="1">
            <a:off x="861695" y="391160"/>
            <a:ext cx="88900" cy="2616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直接连接符 15"/>
          <p:cNvCxnSpPr>
            <a:stCxn id="6" idx="6"/>
            <a:endCxn id="7" idx="1"/>
          </p:cNvCxnSpPr>
          <p:nvPr/>
        </p:nvCxnSpPr>
        <p:spPr>
          <a:xfrm>
            <a:off x="1039495" y="304165"/>
            <a:ext cx="305435" cy="19939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直接连接符 16"/>
          <p:cNvCxnSpPr>
            <a:stCxn id="7" idx="4"/>
            <a:endCxn id="8" idx="7"/>
          </p:cNvCxnSpPr>
          <p:nvPr/>
        </p:nvCxnSpPr>
        <p:spPr>
          <a:xfrm flipH="1">
            <a:off x="1318895" y="652780"/>
            <a:ext cx="88900" cy="1536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直接连接符 18"/>
          <p:cNvCxnSpPr>
            <a:stCxn id="9" idx="6"/>
            <a:endCxn id="8" idx="2"/>
          </p:cNvCxnSpPr>
          <p:nvPr/>
        </p:nvCxnSpPr>
        <p:spPr>
          <a:xfrm>
            <a:off x="950595" y="740410"/>
            <a:ext cx="216535" cy="1282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0" name="右箭头 19"/>
          <p:cNvSpPr/>
          <p:nvPr/>
        </p:nvSpPr>
        <p:spPr>
          <a:xfrm>
            <a:off x="1562735" y="370840"/>
            <a:ext cx="396000" cy="288000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圆角矩形 20"/>
          <p:cNvSpPr/>
          <p:nvPr/>
        </p:nvSpPr>
        <p:spPr>
          <a:xfrm>
            <a:off x="2092325" y="121285"/>
            <a:ext cx="1086485" cy="83439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800"/>
          </a:p>
        </p:txBody>
      </p:sp>
      <p:sp>
        <p:nvSpPr>
          <p:cNvPr id="24" name="文本框 23"/>
          <p:cNvSpPr txBox="1"/>
          <p:nvPr/>
        </p:nvSpPr>
        <p:spPr>
          <a:xfrm>
            <a:off x="2157095" y="182245"/>
            <a:ext cx="1123315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800" b="1">
                <a:solidFill>
                  <a:schemeClr val="bg1"/>
                </a:solidFill>
                <a:sym typeface="+mn-ea"/>
              </a:rPr>
              <a:t>Make Bidirectional</a:t>
            </a:r>
            <a:endParaRPr lang="en-US" altLang="zh-CN" sz="800" b="1">
              <a:solidFill>
                <a:schemeClr val="bg1"/>
              </a:solidFill>
              <a:sym typeface="+mn-ea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2198370" y="714375"/>
            <a:ext cx="981075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800" b="1">
                <a:solidFill>
                  <a:schemeClr val="bg1"/>
                </a:solidFill>
              </a:rPr>
              <a:t>Add Self Loops</a:t>
            </a:r>
            <a:endParaRPr lang="en-US" altLang="zh-CN" sz="800" b="1">
              <a:solidFill>
                <a:schemeClr val="bg1"/>
              </a:solidFill>
            </a:endParaRPr>
          </a:p>
        </p:txBody>
      </p:sp>
      <p:sp>
        <p:nvSpPr>
          <p:cNvPr id="27" name="下箭头 26"/>
          <p:cNvSpPr/>
          <p:nvPr/>
        </p:nvSpPr>
        <p:spPr>
          <a:xfrm>
            <a:off x="2694940" y="434975"/>
            <a:ext cx="75565" cy="75565"/>
          </a:xfrm>
          <a:prstGeom prst="down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右箭头 29"/>
          <p:cNvSpPr/>
          <p:nvPr/>
        </p:nvSpPr>
        <p:spPr>
          <a:xfrm flipV="1">
            <a:off x="3280410" y="544830"/>
            <a:ext cx="896620" cy="151130"/>
          </a:xfrm>
          <a:prstGeom prst="rightArrow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下箭头 30"/>
          <p:cNvSpPr/>
          <p:nvPr/>
        </p:nvSpPr>
        <p:spPr>
          <a:xfrm>
            <a:off x="2499995" y="975995"/>
            <a:ext cx="159385" cy="224155"/>
          </a:xfrm>
          <a:prstGeom prst="downArrow">
            <a:avLst/>
          </a:prstGeom>
          <a:solidFill>
            <a:srgbClr val="00B050"/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2" name="圆角矩形 31"/>
          <p:cNvSpPr/>
          <p:nvPr/>
        </p:nvSpPr>
        <p:spPr>
          <a:xfrm>
            <a:off x="779145" y="1200150"/>
            <a:ext cx="2560955" cy="40894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 b="1"/>
              <a:t>LayerNorm</a:t>
            </a:r>
            <a:endParaRPr lang="en-US" altLang="zh-CN" sz="800" b="1"/>
          </a:p>
        </p:txBody>
      </p:sp>
      <p:sp>
        <p:nvSpPr>
          <p:cNvPr id="33" name="圆角矩形 32"/>
          <p:cNvSpPr/>
          <p:nvPr/>
        </p:nvSpPr>
        <p:spPr>
          <a:xfrm>
            <a:off x="2378075" y="2396490"/>
            <a:ext cx="612775" cy="21145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 b="1"/>
              <a:t>Linear</a:t>
            </a:r>
            <a:endParaRPr lang="en-US" altLang="zh-CN" sz="800" b="1"/>
          </a:p>
        </p:txBody>
      </p:sp>
      <p:sp>
        <p:nvSpPr>
          <p:cNvPr id="34" name="下箭头 33"/>
          <p:cNvSpPr/>
          <p:nvPr/>
        </p:nvSpPr>
        <p:spPr>
          <a:xfrm>
            <a:off x="2660650" y="1669415"/>
            <a:ext cx="76200" cy="657225"/>
          </a:xfrm>
          <a:prstGeom prst="downArrow">
            <a:avLst/>
          </a:prstGeom>
          <a:solidFill>
            <a:srgbClr val="00B050"/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41" name="下箭头 40"/>
          <p:cNvSpPr/>
          <p:nvPr/>
        </p:nvSpPr>
        <p:spPr>
          <a:xfrm>
            <a:off x="2686685" y="2621280"/>
            <a:ext cx="142240" cy="532130"/>
          </a:xfrm>
          <a:prstGeom prst="downArrow">
            <a:avLst/>
          </a:prstGeom>
          <a:solidFill>
            <a:srgbClr val="00B050"/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42" name="圆角矩形 41"/>
          <p:cNvSpPr/>
          <p:nvPr/>
        </p:nvSpPr>
        <p:spPr>
          <a:xfrm>
            <a:off x="2451100" y="3328035"/>
            <a:ext cx="511175" cy="25082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 b="1"/>
              <a:t>ReLU</a:t>
            </a:r>
            <a:endParaRPr lang="en-US" altLang="zh-CN" sz="800" b="1"/>
          </a:p>
        </p:txBody>
      </p:sp>
      <p:sp>
        <p:nvSpPr>
          <p:cNvPr id="44" name="椭圆 43"/>
          <p:cNvSpPr/>
          <p:nvPr/>
        </p:nvSpPr>
        <p:spPr>
          <a:xfrm>
            <a:off x="517525" y="2470785"/>
            <a:ext cx="177800" cy="17462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45" name="椭圆 44"/>
          <p:cNvSpPr/>
          <p:nvPr/>
        </p:nvSpPr>
        <p:spPr>
          <a:xfrm>
            <a:off x="695325" y="2121535"/>
            <a:ext cx="177800" cy="17462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46" name="椭圆 45"/>
          <p:cNvSpPr/>
          <p:nvPr/>
        </p:nvSpPr>
        <p:spPr>
          <a:xfrm>
            <a:off x="1063625" y="1946910"/>
            <a:ext cx="177800" cy="17462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47" name="椭圆 46"/>
          <p:cNvSpPr/>
          <p:nvPr/>
        </p:nvSpPr>
        <p:spPr>
          <a:xfrm>
            <a:off x="1675765" y="2470785"/>
            <a:ext cx="177800" cy="17462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48" name="椭圆 47"/>
          <p:cNvSpPr/>
          <p:nvPr/>
        </p:nvSpPr>
        <p:spPr>
          <a:xfrm>
            <a:off x="1424305" y="2121535"/>
            <a:ext cx="177800" cy="17462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49" name="椭圆 48"/>
          <p:cNvSpPr/>
          <p:nvPr/>
        </p:nvSpPr>
        <p:spPr>
          <a:xfrm>
            <a:off x="1063625" y="2470785"/>
            <a:ext cx="177800" cy="174625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cxnSp>
        <p:nvCxnSpPr>
          <p:cNvPr id="51" name="直接连接符 50"/>
          <p:cNvCxnSpPr>
            <a:stCxn id="44" idx="6"/>
            <a:endCxn id="49" idx="2"/>
          </p:cNvCxnSpPr>
          <p:nvPr/>
        </p:nvCxnSpPr>
        <p:spPr>
          <a:xfrm>
            <a:off x="695325" y="2558415"/>
            <a:ext cx="368300" cy="0"/>
          </a:xfrm>
          <a:prstGeom prst="line">
            <a:avLst/>
          </a:prstGeom>
          <a:ln w="6350" cmpd="sng">
            <a:solidFill>
              <a:schemeClr val="tx1"/>
            </a:solidFill>
            <a:prstDash val="solid"/>
            <a:tailEnd type="triangle" w="sm" len="sm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2" name="直接连接符 51"/>
          <p:cNvCxnSpPr>
            <a:stCxn id="45" idx="5"/>
            <a:endCxn id="49" idx="1"/>
          </p:cNvCxnSpPr>
          <p:nvPr/>
        </p:nvCxnSpPr>
        <p:spPr>
          <a:xfrm>
            <a:off x="847090" y="2270760"/>
            <a:ext cx="242570" cy="225425"/>
          </a:xfrm>
          <a:prstGeom prst="line">
            <a:avLst/>
          </a:prstGeom>
          <a:ln w="6350" cmpd="sng">
            <a:solidFill>
              <a:schemeClr val="tx1"/>
            </a:solidFill>
            <a:prstDash val="solid"/>
            <a:tailEnd type="triangle" w="sm" len="sm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4" name="直接连接符 53"/>
          <p:cNvCxnSpPr>
            <a:stCxn id="49" idx="0"/>
            <a:endCxn id="46" idx="4"/>
          </p:cNvCxnSpPr>
          <p:nvPr/>
        </p:nvCxnSpPr>
        <p:spPr>
          <a:xfrm flipV="1">
            <a:off x="1152525" y="2121535"/>
            <a:ext cx="0" cy="349250"/>
          </a:xfrm>
          <a:prstGeom prst="line">
            <a:avLst/>
          </a:prstGeom>
          <a:ln w="6350" cmpd="sng">
            <a:solidFill>
              <a:schemeClr val="tx1"/>
            </a:solidFill>
            <a:prstDash val="solid"/>
            <a:headEnd type="triangle" w="sm" len="sm"/>
            <a:tailEnd type="none" w="sm" len="sm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8" name="直接箭头连接符 57"/>
          <p:cNvCxnSpPr>
            <a:stCxn id="48" idx="3"/>
            <a:endCxn id="49" idx="7"/>
          </p:cNvCxnSpPr>
          <p:nvPr/>
        </p:nvCxnSpPr>
        <p:spPr>
          <a:xfrm flipH="1">
            <a:off x="1215390" y="2270760"/>
            <a:ext cx="234950" cy="225425"/>
          </a:xfrm>
          <a:prstGeom prst="straightConnector1">
            <a:avLst/>
          </a:prstGeom>
          <a:ln w="6350" cmpd="sng">
            <a:solidFill>
              <a:schemeClr val="tx1"/>
            </a:solidFill>
            <a:prstDash val="solid"/>
            <a:tailEnd type="triangle" w="sm" len="sm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9" name="直接箭头连接符 58"/>
          <p:cNvCxnSpPr>
            <a:stCxn id="47" idx="2"/>
            <a:endCxn id="49" idx="6"/>
          </p:cNvCxnSpPr>
          <p:nvPr/>
        </p:nvCxnSpPr>
        <p:spPr>
          <a:xfrm flipH="1">
            <a:off x="1241425" y="2558415"/>
            <a:ext cx="434340" cy="0"/>
          </a:xfrm>
          <a:prstGeom prst="straightConnector1">
            <a:avLst/>
          </a:prstGeom>
          <a:ln w="6350" cmpd="sng">
            <a:solidFill>
              <a:schemeClr val="tx1"/>
            </a:solidFill>
            <a:prstDash val="solid"/>
            <a:tailEnd type="triangle" w="sm" len="sm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1" name="椭圆 60"/>
          <p:cNvSpPr/>
          <p:nvPr/>
        </p:nvSpPr>
        <p:spPr>
          <a:xfrm>
            <a:off x="1063625" y="2932430"/>
            <a:ext cx="177800" cy="174625"/>
          </a:xfrm>
          <a:prstGeom prst="ellipse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cxnSp>
        <p:nvCxnSpPr>
          <p:cNvPr id="62" name="直接箭头连接符 61"/>
          <p:cNvCxnSpPr>
            <a:stCxn id="49" idx="4"/>
            <a:endCxn id="61" idx="0"/>
          </p:cNvCxnSpPr>
          <p:nvPr/>
        </p:nvCxnSpPr>
        <p:spPr>
          <a:xfrm>
            <a:off x="1152525" y="2645410"/>
            <a:ext cx="0" cy="287020"/>
          </a:xfrm>
          <a:prstGeom prst="straightConnector1">
            <a:avLst/>
          </a:prstGeom>
          <a:ln w="6350" cmpd="sng">
            <a:solidFill>
              <a:schemeClr val="tx1"/>
            </a:solidFill>
            <a:prstDash val="solid"/>
            <a:headEnd type="none" w="sm" len="sm"/>
            <a:tailEnd type="triangle" w="sm" len="sm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1" name="左大括号 70"/>
          <p:cNvSpPr/>
          <p:nvPr/>
        </p:nvSpPr>
        <p:spPr>
          <a:xfrm>
            <a:off x="1816735" y="2923540"/>
            <a:ext cx="245745" cy="1633855"/>
          </a:xfrm>
          <a:prstGeom prst="leftBrace">
            <a:avLst>
              <a:gd name="adj1" fmla="val 0"/>
              <a:gd name="adj2" fmla="val 50058"/>
            </a:avLst>
          </a:prstGeom>
          <a:ln w="53975"/>
          <a:scene3d>
            <a:camera prst="orthographicFront">
              <a:rot lat="0" lon="0" rev="5400000"/>
            </a:camera>
            <a:lightRig rig="threePt" dir="t"/>
          </a:scene3d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4" name="圆角矩形 73"/>
          <p:cNvSpPr/>
          <p:nvPr/>
        </p:nvSpPr>
        <p:spPr>
          <a:xfrm>
            <a:off x="1816735" y="3935095"/>
            <a:ext cx="2360930" cy="144145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 b="1"/>
              <a:t>多项式</a:t>
            </a:r>
            <a:r>
              <a:rPr lang="en-US" altLang="zh-CN" sz="800" b="1"/>
              <a:t>x = (1-β) × LN(h⊙x_conv) + β × x_conv</a:t>
            </a:r>
            <a:endParaRPr lang="en-US" altLang="zh-CN" sz="800" b="1"/>
          </a:p>
        </p:txBody>
      </p:sp>
      <p:sp>
        <p:nvSpPr>
          <p:cNvPr id="80" name="左弧形箭头 79"/>
          <p:cNvSpPr/>
          <p:nvPr/>
        </p:nvSpPr>
        <p:spPr>
          <a:xfrm>
            <a:off x="1036955" y="2602230"/>
            <a:ext cx="76200" cy="100330"/>
          </a:xfrm>
          <a:prstGeom prst="curvedRightArrow">
            <a:avLst/>
          </a:prstGeom>
          <a:solidFill>
            <a:schemeClr val="tx1"/>
          </a:solidFill>
          <a:ln>
            <a:noFill/>
          </a:ln>
          <a:scene3d>
            <a:camera prst="orthographicFront">
              <a:rot lat="0" lon="0" rev="3000000"/>
            </a:camera>
            <a:lightRig rig="threePt" dir="t"/>
          </a:scene3d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1" name="圆角矩形 80"/>
          <p:cNvSpPr/>
          <p:nvPr/>
        </p:nvSpPr>
        <p:spPr>
          <a:xfrm>
            <a:off x="209550" y="4310380"/>
            <a:ext cx="354330" cy="224155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 b="1"/>
              <a:t>X1</a:t>
            </a:r>
            <a:endParaRPr lang="en-US" altLang="zh-CN" sz="800" b="1"/>
          </a:p>
        </p:txBody>
      </p:sp>
      <p:sp>
        <p:nvSpPr>
          <p:cNvPr id="82" name="圆角矩形 81"/>
          <p:cNvSpPr/>
          <p:nvPr/>
        </p:nvSpPr>
        <p:spPr>
          <a:xfrm>
            <a:off x="601345" y="4310380"/>
            <a:ext cx="354330" cy="224155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 b="1"/>
              <a:t>X2</a:t>
            </a:r>
            <a:endParaRPr lang="en-US" altLang="zh-CN" sz="800" b="1"/>
          </a:p>
        </p:txBody>
      </p:sp>
      <p:sp>
        <p:nvSpPr>
          <p:cNvPr id="83" name="圆角矩形 82"/>
          <p:cNvSpPr/>
          <p:nvPr/>
        </p:nvSpPr>
        <p:spPr>
          <a:xfrm>
            <a:off x="1000760" y="4310380"/>
            <a:ext cx="354330" cy="224155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 b="1"/>
              <a:t>X3</a:t>
            </a:r>
            <a:endParaRPr lang="en-US" altLang="zh-CN" sz="800" b="1"/>
          </a:p>
        </p:txBody>
      </p:sp>
      <p:sp>
        <p:nvSpPr>
          <p:cNvPr id="84" name="圆角矩形 83"/>
          <p:cNvSpPr/>
          <p:nvPr/>
        </p:nvSpPr>
        <p:spPr>
          <a:xfrm>
            <a:off x="1653540" y="4310380"/>
            <a:ext cx="354330" cy="224155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 b="1"/>
              <a:t>Xn</a:t>
            </a:r>
            <a:endParaRPr lang="en-US" altLang="zh-CN" sz="800" b="1"/>
          </a:p>
        </p:txBody>
      </p:sp>
      <p:sp>
        <p:nvSpPr>
          <p:cNvPr id="85" name="文本框 84"/>
          <p:cNvSpPr txBox="1"/>
          <p:nvPr/>
        </p:nvSpPr>
        <p:spPr>
          <a:xfrm flipH="1">
            <a:off x="1290320" y="4201795"/>
            <a:ext cx="3632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...</a:t>
            </a:r>
            <a:endParaRPr lang="en-US" altLang="zh-CN"/>
          </a:p>
        </p:txBody>
      </p:sp>
      <p:cxnSp>
        <p:nvCxnSpPr>
          <p:cNvPr id="88" name="直接连接符 87"/>
          <p:cNvCxnSpPr>
            <a:stCxn id="82" idx="2"/>
          </p:cNvCxnSpPr>
          <p:nvPr/>
        </p:nvCxnSpPr>
        <p:spPr>
          <a:xfrm>
            <a:off x="778510" y="4534535"/>
            <a:ext cx="635" cy="1079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9" name="直接连接符 88"/>
          <p:cNvCxnSpPr>
            <a:stCxn id="83" idx="2"/>
          </p:cNvCxnSpPr>
          <p:nvPr/>
        </p:nvCxnSpPr>
        <p:spPr>
          <a:xfrm flipH="1">
            <a:off x="1176655" y="4534535"/>
            <a:ext cx="1270" cy="1016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4" name="菱形 93"/>
          <p:cNvSpPr/>
          <p:nvPr/>
        </p:nvSpPr>
        <p:spPr>
          <a:xfrm>
            <a:off x="434340" y="5106035"/>
            <a:ext cx="699770" cy="384810"/>
          </a:xfrm>
          <a:prstGeom prst="diamond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800"/>
          </a:p>
        </p:txBody>
      </p:sp>
      <p:sp>
        <p:nvSpPr>
          <p:cNvPr id="95" name="文本框 94"/>
          <p:cNvSpPr txBox="1"/>
          <p:nvPr/>
        </p:nvSpPr>
        <p:spPr>
          <a:xfrm>
            <a:off x="523875" y="5191760"/>
            <a:ext cx="521335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800" b="1">
                <a:solidFill>
                  <a:schemeClr val="bg1"/>
                </a:solidFill>
              </a:rPr>
              <a:t>Global?</a:t>
            </a:r>
            <a:endParaRPr lang="en-US" altLang="zh-CN" sz="800" b="1">
              <a:solidFill>
                <a:schemeClr val="bg1"/>
              </a:solidFill>
            </a:endParaRPr>
          </a:p>
        </p:txBody>
      </p:sp>
      <p:sp>
        <p:nvSpPr>
          <p:cNvPr id="96" name="圆角矩形 95"/>
          <p:cNvSpPr/>
          <p:nvPr/>
        </p:nvSpPr>
        <p:spPr>
          <a:xfrm>
            <a:off x="505460" y="4660900"/>
            <a:ext cx="572770" cy="224155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 b="1"/>
              <a:t>X local</a:t>
            </a:r>
            <a:endParaRPr lang="en-US" altLang="zh-CN" sz="800" b="1"/>
          </a:p>
        </p:txBody>
      </p:sp>
      <p:sp>
        <p:nvSpPr>
          <p:cNvPr id="104" name="圆角矩形 103"/>
          <p:cNvSpPr/>
          <p:nvPr/>
        </p:nvSpPr>
        <p:spPr>
          <a:xfrm>
            <a:off x="1765300" y="5148580"/>
            <a:ext cx="612775" cy="211455"/>
          </a:xfrm>
          <a:prstGeom prst="roundRect">
            <a:avLst/>
          </a:prstGeom>
          <a:solidFill>
            <a:srgbClr val="00B050"/>
          </a:solidFill>
          <a:ln>
            <a:solidFill>
              <a:schemeClr val="accent4">
                <a:lumMod val="40000"/>
                <a:lumOff val="60000"/>
              </a:schemeClr>
            </a:solidFill>
          </a:ln>
          <a:scene3d>
            <a:camera prst="orthographicFront">
              <a:rot lat="0" lon="0" rev="16200000"/>
            </a:camera>
            <a:lightRig rig="threePt" dir="t"/>
          </a:scene3d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 b="1"/>
              <a:t>Linear</a:t>
            </a:r>
            <a:endParaRPr lang="en-US" altLang="zh-CN" sz="800" b="1"/>
          </a:p>
        </p:txBody>
      </p:sp>
      <p:sp>
        <p:nvSpPr>
          <p:cNvPr id="113" name="右箭头 112"/>
          <p:cNvSpPr/>
          <p:nvPr/>
        </p:nvSpPr>
        <p:spPr>
          <a:xfrm>
            <a:off x="1176655" y="5203190"/>
            <a:ext cx="199390" cy="76200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4" name="右箭头 113"/>
          <p:cNvSpPr/>
          <p:nvPr/>
        </p:nvSpPr>
        <p:spPr>
          <a:xfrm>
            <a:off x="2974975" y="5019675"/>
            <a:ext cx="199390" cy="76200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5" name="右箭头 114"/>
          <p:cNvSpPr/>
          <p:nvPr/>
        </p:nvSpPr>
        <p:spPr>
          <a:xfrm>
            <a:off x="2974975" y="5134610"/>
            <a:ext cx="199390" cy="76200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6" name="右箭头 115"/>
          <p:cNvSpPr/>
          <p:nvPr/>
        </p:nvSpPr>
        <p:spPr>
          <a:xfrm>
            <a:off x="2974975" y="5250180"/>
            <a:ext cx="199390" cy="76200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8" name="文本框 117"/>
          <p:cNvSpPr txBox="1"/>
          <p:nvPr/>
        </p:nvSpPr>
        <p:spPr>
          <a:xfrm>
            <a:off x="3005455" y="5095875"/>
            <a:ext cx="516890" cy="210820"/>
          </a:xfrm>
          <a:prstGeom prst="rect">
            <a:avLst/>
          </a:prstGeom>
          <a:noFill/>
          <a:scene3d>
            <a:camera prst="orthographicFront">
              <a:rot lat="0" lon="0" rev="16200000"/>
            </a:camera>
            <a:lightRig rig="threePt" dir="t"/>
          </a:scene3d>
        </p:spPr>
        <p:txBody>
          <a:bodyPr wrap="square" rtlCol="0">
            <a:noAutofit/>
          </a:bodyPr>
          <a:p>
            <a:r>
              <a:rPr lang="en-US" altLang="zh-CN" sz="800" b="1">
                <a:solidFill>
                  <a:schemeClr val="accent4">
                    <a:lumMod val="75000"/>
                  </a:schemeClr>
                </a:solidFill>
              </a:rPr>
              <a:t>Q K V</a:t>
            </a:r>
            <a:endParaRPr lang="zh-CN" altLang="en-US" sz="800" b="1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19" name="右箭头 118"/>
          <p:cNvSpPr/>
          <p:nvPr/>
        </p:nvSpPr>
        <p:spPr>
          <a:xfrm>
            <a:off x="3364865" y="5070475"/>
            <a:ext cx="157480" cy="179705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0" name="下箭头 119"/>
          <p:cNvSpPr/>
          <p:nvPr/>
        </p:nvSpPr>
        <p:spPr>
          <a:xfrm>
            <a:off x="746125" y="5525135"/>
            <a:ext cx="76200" cy="106680"/>
          </a:xfrm>
          <a:prstGeom prst="downArrow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21" name="文本框 120"/>
          <p:cNvSpPr txBox="1"/>
          <p:nvPr/>
        </p:nvSpPr>
        <p:spPr>
          <a:xfrm>
            <a:off x="1089660" y="5050155"/>
            <a:ext cx="411480" cy="1606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800">
                <a:solidFill>
                  <a:srgbClr val="92D050"/>
                </a:solidFill>
                <a:sym typeface="+mn-ea"/>
              </a:rPr>
              <a:t>YES</a:t>
            </a:r>
            <a:endParaRPr lang="en-US" altLang="zh-CN" sz="800">
              <a:solidFill>
                <a:srgbClr val="92D050"/>
              </a:solidFill>
            </a:endParaRPr>
          </a:p>
        </p:txBody>
      </p:sp>
      <p:sp>
        <p:nvSpPr>
          <p:cNvPr id="122" name="文本框 121"/>
          <p:cNvSpPr txBox="1"/>
          <p:nvPr/>
        </p:nvSpPr>
        <p:spPr>
          <a:xfrm>
            <a:off x="873125" y="5433695"/>
            <a:ext cx="347345" cy="1606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800">
                <a:solidFill>
                  <a:srgbClr val="92D050"/>
                </a:solidFill>
                <a:sym typeface="+mn-ea"/>
              </a:rPr>
              <a:t>NO</a:t>
            </a:r>
            <a:endParaRPr lang="en-US" altLang="zh-CN" sz="800">
              <a:solidFill>
                <a:srgbClr val="92D050"/>
              </a:solidFill>
            </a:endParaRPr>
          </a:p>
        </p:txBody>
      </p:sp>
      <p:sp>
        <p:nvSpPr>
          <p:cNvPr id="123" name="圆角矩形 122"/>
          <p:cNvSpPr/>
          <p:nvPr/>
        </p:nvSpPr>
        <p:spPr>
          <a:xfrm>
            <a:off x="407035" y="5693410"/>
            <a:ext cx="612775" cy="21145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800" b="1"/>
          </a:p>
        </p:txBody>
      </p:sp>
      <p:sp>
        <p:nvSpPr>
          <p:cNvPr id="125" name="椭圆 124"/>
          <p:cNvSpPr/>
          <p:nvPr/>
        </p:nvSpPr>
        <p:spPr>
          <a:xfrm>
            <a:off x="480060" y="5761355"/>
            <a:ext cx="75565" cy="75565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6" name="椭圆 125"/>
          <p:cNvSpPr/>
          <p:nvPr/>
        </p:nvSpPr>
        <p:spPr>
          <a:xfrm>
            <a:off x="607060" y="5761355"/>
            <a:ext cx="75565" cy="75565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7" name="椭圆 126"/>
          <p:cNvSpPr/>
          <p:nvPr/>
        </p:nvSpPr>
        <p:spPr>
          <a:xfrm>
            <a:off x="734060" y="5761355"/>
            <a:ext cx="75565" cy="75565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8" name="椭圆 127"/>
          <p:cNvSpPr/>
          <p:nvPr/>
        </p:nvSpPr>
        <p:spPr>
          <a:xfrm>
            <a:off x="861060" y="5761355"/>
            <a:ext cx="75565" cy="75565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9" name="文本框 128"/>
          <p:cNvSpPr txBox="1"/>
          <p:nvPr/>
        </p:nvSpPr>
        <p:spPr>
          <a:xfrm>
            <a:off x="1036955" y="5694045"/>
            <a:ext cx="516890" cy="2108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800" b="1">
                <a:solidFill>
                  <a:schemeClr val="accent4">
                    <a:lumMod val="75000"/>
                  </a:schemeClr>
                </a:solidFill>
              </a:rPr>
              <a:t>Linear</a:t>
            </a:r>
            <a:endParaRPr lang="zh-CN" altLang="en-US" sz="800" b="1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31" name="圆角矩形 130"/>
          <p:cNvSpPr/>
          <p:nvPr/>
        </p:nvSpPr>
        <p:spPr>
          <a:xfrm>
            <a:off x="3672205" y="4429125"/>
            <a:ext cx="386715" cy="1229360"/>
          </a:xfrm>
          <a:prstGeom prst="roundRect">
            <a:avLst>
              <a:gd name="adj" fmla="val 8881"/>
            </a:avLst>
          </a:prstGeom>
          <a:solidFill>
            <a:schemeClr val="accent4">
              <a:lumMod val="60000"/>
              <a:lumOff val="40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2" name="右箭头 131"/>
          <p:cNvSpPr/>
          <p:nvPr/>
        </p:nvSpPr>
        <p:spPr>
          <a:xfrm>
            <a:off x="2425700" y="5727700"/>
            <a:ext cx="3333750" cy="143510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3" name="下箭头 132"/>
          <p:cNvSpPr/>
          <p:nvPr/>
        </p:nvSpPr>
        <p:spPr>
          <a:xfrm>
            <a:off x="746125" y="4987290"/>
            <a:ext cx="76200" cy="106680"/>
          </a:xfrm>
          <a:prstGeom prst="downArrow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34" name="文本框 133"/>
          <p:cNvSpPr txBox="1"/>
          <p:nvPr/>
        </p:nvSpPr>
        <p:spPr>
          <a:xfrm>
            <a:off x="3278505" y="4953000"/>
            <a:ext cx="1895475" cy="238760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>
                <a:rot lat="0" lon="0" rev="16200000"/>
              </a:camera>
              <a:lightRig rig="threePt" dir="t"/>
            </a:scene3d>
          </a:bodyPr>
          <a:p>
            <a:r>
              <a:rPr lang="en-US" altLang="zh-CN" sz="1200" b="1">
                <a:solidFill>
                  <a:schemeClr val="bg1"/>
                </a:solidFill>
              </a:rPr>
              <a:t>Attn </a:t>
            </a:r>
            <a:r>
              <a:rPr lang="zh-CN" altLang="en-US" sz="1200" b="1">
                <a:solidFill>
                  <a:schemeClr val="bg1"/>
                </a:solidFill>
              </a:rPr>
              <a:t>（</a:t>
            </a:r>
            <a:r>
              <a:rPr lang="en-US" altLang="zh-CN" sz="1200" b="1">
                <a:solidFill>
                  <a:schemeClr val="bg1"/>
                </a:solidFill>
              </a:rPr>
              <a:t>Q=K</a:t>
            </a:r>
            <a:r>
              <a:rPr lang="zh-CN" altLang="en-US" sz="1200" b="1">
                <a:solidFill>
                  <a:schemeClr val="bg1"/>
                </a:solidFill>
              </a:rPr>
              <a:t>）</a:t>
            </a:r>
            <a:endParaRPr lang="zh-CN" altLang="en-US" sz="1200" b="1">
              <a:solidFill>
                <a:schemeClr val="bg1"/>
              </a:solidFill>
            </a:endParaRPr>
          </a:p>
        </p:txBody>
      </p:sp>
      <p:sp>
        <p:nvSpPr>
          <p:cNvPr id="135" name="圆角矩形 134"/>
          <p:cNvSpPr/>
          <p:nvPr/>
        </p:nvSpPr>
        <p:spPr>
          <a:xfrm>
            <a:off x="4291965" y="5028565"/>
            <a:ext cx="511175" cy="25082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000">
                <a:sym typeface="+mn-ea"/>
              </a:rPr>
              <a:t>Gate</a:t>
            </a:r>
            <a:endParaRPr lang="zh-CN" altLang="en-US" sz="1000">
              <a:sym typeface="+mn-ea"/>
            </a:endParaRPr>
          </a:p>
        </p:txBody>
      </p:sp>
      <p:sp>
        <p:nvSpPr>
          <p:cNvPr id="136" name="右箭头 135"/>
          <p:cNvSpPr/>
          <p:nvPr/>
        </p:nvSpPr>
        <p:spPr>
          <a:xfrm>
            <a:off x="4862830" y="5080635"/>
            <a:ext cx="1201420" cy="143510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7" name="右箭头 136"/>
          <p:cNvSpPr/>
          <p:nvPr/>
        </p:nvSpPr>
        <p:spPr>
          <a:xfrm>
            <a:off x="4058920" y="5070475"/>
            <a:ext cx="157480" cy="179705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8" name="圆角矩形 137"/>
          <p:cNvSpPr/>
          <p:nvPr/>
        </p:nvSpPr>
        <p:spPr>
          <a:xfrm>
            <a:off x="4095750" y="120650"/>
            <a:ext cx="2145665" cy="78168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/>
              <a:t>Context extraction 3</a:t>
            </a:r>
            <a:r>
              <a:rPr lang="zh-CN" altLang="en-US" sz="1200"/>
              <a:t>个数字</a:t>
            </a:r>
            <a:endParaRPr lang="zh-CN" altLang="en-US" sz="1200"/>
          </a:p>
        </p:txBody>
      </p:sp>
      <p:sp>
        <p:nvSpPr>
          <p:cNvPr id="166" name="圆角矩形 165"/>
          <p:cNvSpPr/>
          <p:nvPr/>
        </p:nvSpPr>
        <p:spPr>
          <a:xfrm>
            <a:off x="1134110" y="5028565"/>
            <a:ext cx="909955" cy="408940"/>
          </a:xfrm>
          <a:prstGeom prst="roundRect">
            <a:avLst/>
          </a:prstGeom>
          <a:solidFill>
            <a:srgbClr val="00B050"/>
          </a:solidFill>
          <a:ln>
            <a:solidFill>
              <a:schemeClr val="accent4">
                <a:lumMod val="40000"/>
                <a:lumOff val="60000"/>
              </a:schemeClr>
            </a:solidFill>
          </a:ln>
          <a:scene3d>
            <a:camera prst="orthographicFront">
              <a:rot lat="0" lon="0" rev="16200000"/>
            </a:camera>
            <a:lightRig rig="threePt" dir="t"/>
          </a:scene3d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 b="1"/>
              <a:t>LayerNorm</a:t>
            </a:r>
            <a:endParaRPr lang="en-US" altLang="zh-CN" sz="800" b="1"/>
          </a:p>
        </p:txBody>
      </p:sp>
      <p:sp>
        <p:nvSpPr>
          <p:cNvPr id="177" name="椭圆 176"/>
          <p:cNvSpPr/>
          <p:nvPr/>
        </p:nvSpPr>
        <p:spPr>
          <a:xfrm>
            <a:off x="9817100" y="975995"/>
            <a:ext cx="177800" cy="17462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78" name="椭圆 177"/>
          <p:cNvSpPr/>
          <p:nvPr/>
        </p:nvSpPr>
        <p:spPr>
          <a:xfrm>
            <a:off x="9911080" y="669925"/>
            <a:ext cx="177800" cy="17462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79" name="椭圆 178"/>
          <p:cNvSpPr/>
          <p:nvPr/>
        </p:nvSpPr>
        <p:spPr>
          <a:xfrm>
            <a:off x="10305415" y="593725"/>
            <a:ext cx="177800" cy="17462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80" name="椭圆 179"/>
          <p:cNvSpPr/>
          <p:nvPr/>
        </p:nvSpPr>
        <p:spPr>
          <a:xfrm>
            <a:off x="10713720" y="1032510"/>
            <a:ext cx="177800" cy="17462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81" name="椭圆 180"/>
          <p:cNvSpPr/>
          <p:nvPr/>
        </p:nvSpPr>
        <p:spPr>
          <a:xfrm>
            <a:off x="10610850" y="688340"/>
            <a:ext cx="177800" cy="17462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82" name="椭圆 181"/>
          <p:cNvSpPr/>
          <p:nvPr/>
        </p:nvSpPr>
        <p:spPr>
          <a:xfrm>
            <a:off x="10279380" y="1007110"/>
            <a:ext cx="177800" cy="174625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cxnSp>
        <p:nvCxnSpPr>
          <p:cNvPr id="183" name="直接连接符 182"/>
          <p:cNvCxnSpPr>
            <a:stCxn id="177" idx="6"/>
            <a:endCxn id="182" idx="2"/>
          </p:cNvCxnSpPr>
          <p:nvPr/>
        </p:nvCxnSpPr>
        <p:spPr>
          <a:xfrm>
            <a:off x="9994900" y="1063625"/>
            <a:ext cx="284480" cy="31115"/>
          </a:xfrm>
          <a:prstGeom prst="line">
            <a:avLst/>
          </a:prstGeom>
          <a:ln w="6350" cmpd="sng">
            <a:solidFill>
              <a:schemeClr val="tx1"/>
            </a:solidFill>
            <a:prstDash val="solid"/>
            <a:tailEnd type="triangle" w="sm" len="sm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4" name="直接连接符 183"/>
          <p:cNvCxnSpPr>
            <a:stCxn id="178" idx="5"/>
            <a:endCxn id="182" idx="1"/>
          </p:cNvCxnSpPr>
          <p:nvPr/>
        </p:nvCxnSpPr>
        <p:spPr>
          <a:xfrm>
            <a:off x="10062845" y="819150"/>
            <a:ext cx="242570" cy="213360"/>
          </a:xfrm>
          <a:prstGeom prst="line">
            <a:avLst/>
          </a:prstGeom>
          <a:ln w="6350" cmpd="sng">
            <a:solidFill>
              <a:schemeClr val="tx1"/>
            </a:solidFill>
            <a:prstDash val="solid"/>
            <a:tailEnd type="triangle" w="sm" len="sm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5" name="直接连接符 184"/>
          <p:cNvCxnSpPr>
            <a:stCxn id="182" idx="0"/>
            <a:endCxn id="179" idx="4"/>
          </p:cNvCxnSpPr>
          <p:nvPr/>
        </p:nvCxnSpPr>
        <p:spPr>
          <a:xfrm flipV="1">
            <a:off x="10368280" y="768350"/>
            <a:ext cx="26035" cy="238760"/>
          </a:xfrm>
          <a:prstGeom prst="line">
            <a:avLst/>
          </a:prstGeom>
          <a:ln w="6350" cmpd="sng">
            <a:solidFill>
              <a:schemeClr val="tx1"/>
            </a:solidFill>
            <a:prstDash val="solid"/>
            <a:headEnd type="triangle" w="sm" len="sm"/>
            <a:tailEnd type="none" w="sm" len="sm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6" name="直接箭头连接符 185"/>
          <p:cNvCxnSpPr>
            <a:stCxn id="181" idx="3"/>
            <a:endCxn id="182" idx="7"/>
          </p:cNvCxnSpPr>
          <p:nvPr/>
        </p:nvCxnSpPr>
        <p:spPr>
          <a:xfrm flipH="1">
            <a:off x="10431145" y="837565"/>
            <a:ext cx="205740" cy="194945"/>
          </a:xfrm>
          <a:prstGeom prst="straightConnector1">
            <a:avLst/>
          </a:prstGeom>
          <a:ln w="6350" cmpd="sng">
            <a:solidFill>
              <a:schemeClr val="tx1"/>
            </a:solidFill>
            <a:prstDash val="solid"/>
            <a:tailEnd type="triangle" w="sm" len="sm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7" name="直接箭头连接符 186"/>
          <p:cNvCxnSpPr>
            <a:stCxn id="180" idx="2"/>
            <a:endCxn id="182" idx="6"/>
          </p:cNvCxnSpPr>
          <p:nvPr/>
        </p:nvCxnSpPr>
        <p:spPr>
          <a:xfrm flipH="1" flipV="1">
            <a:off x="10457180" y="1094740"/>
            <a:ext cx="256540" cy="25400"/>
          </a:xfrm>
          <a:prstGeom prst="straightConnector1">
            <a:avLst/>
          </a:prstGeom>
          <a:ln w="6350" cmpd="sng">
            <a:solidFill>
              <a:schemeClr val="tx1"/>
            </a:solidFill>
            <a:prstDash val="solid"/>
            <a:tailEnd type="triangle" w="sm" len="sm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88" name="椭圆 187"/>
          <p:cNvSpPr/>
          <p:nvPr/>
        </p:nvSpPr>
        <p:spPr>
          <a:xfrm>
            <a:off x="10279380" y="1558290"/>
            <a:ext cx="177800" cy="174625"/>
          </a:xfrm>
          <a:prstGeom prst="ellipse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cxnSp>
        <p:nvCxnSpPr>
          <p:cNvPr id="189" name="直接箭头连接符 188"/>
          <p:cNvCxnSpPr>
            <a:stCxn id="182" idx="4"/>
            <a:endCxn id="188" idx="0"/>
          </p:cNvCxnSpPr>
          <p:nvPr/>
        </p:nvCxnSpPr>
        <p:spPr>
          <a:xfrm>
            <a:off x="10368280" y="1181735"/>
            <a:ext cx="0" cy="376555"/>
          </a:xfrm>
          <a:prstGeom prst="straightConnector1">
            <a:avLst/>
          </a:prstGeom>
          <a:ln w="6350" cmpd="sng">
            <a:solidFill>
              <a:schemeClr val="tx1"/>
            </a:solidFill>
            <a:prstDash val="solid"/>
            <a:headEnd type="none" w="sm" len="sm"/>
            <a:tailEnd type="triangle" w="sm" len="sm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92" name="左弧形箭头 191"/>
          <p:cNvSpPr/>
          <p:nvPr/>
        </p:nvSpPr>
        <p:spPr>
          <a:xfrm>
            <a:off x="10252710" y="1138555"/>
            <a:ext cx="76200" cy="100330"/>
          </a:xfrm>
          <a:prstGeom prst="curvedRightArrow">
            <a:avLst/>
          </a:prstGeom>
          <a:solidFill>
            <a:schemeClr val="tx1"/>
          </a:solidFill>
          <a:ln>
            <a:noFill/>
          </a:ln>
          <a:scene3d>
            <a:camera prst="orthographicFront">
              <a:rot lat="0" lon="0" rev="3000000"/>
            </a:camera>
            <a:lightRig rig="threePt" dir="t"/>
          </a:scene3d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03" name="圆角矩形 202"/>
          <p:cNvSpPr/>
          <p:nvPr/>
        </p:nvSpPr>
        <p:spPr>
          <a:xfrm>
            <a:off x="8484235" y="1581785"/>
            <a:ext cx="463550" cy="46418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/>
              <a:t>Filter</a:t>
            </a:r>
            <a:endParaRPr lang="en-US" altLang="zh-CN" sz="800"/>
          </a:p>
        </p:txBody>
      </p:sp>
      <p:sp>
        <p:nvSpPr>
          <p:cNvPr id="2" name="下箭头 1"/>
          <p:cNvSpPr/>
          <p:nvPr/>
        </p:nvSpPr>
        <p:spPr>
          <a:xfrm>
            <a:off x="2745740" y="683895"/>
            <a:ext cx="75565" cy="75565"/>
          </a:xfrm>
          <a:prstGeom prst="down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3" name="下箭头 52"/>
          <p:cNvSpPr/>
          <p:nvPr/>
        </p:nvSpPr>
        <p:spPr>
          <a:xfrm>
            <a:off x="5854065" y="866140"/>
            <a:ext cx="142240" cy="215900"/>
          </a:xfrm>
          <a:prstGeom prst="downArrow">
            <a:avLst/>
          </a:prstGeom>
          <a:solidFill>
            <a:srgbClr val="00B050"/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7557135" y="229870"/>
            <a:ext cx="690245" cy="14414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/>
              <a:t>softmax</a:t>
            </a:r>
            <a:endParaRPr lang="en-US" altLang="zh-CN" sz="800"/>
          </a:p>
        </p:txBody>
      </p:sp>
      <p:sp>
        <p:nvSpPr>
          <p:cNvPr id="60" name="下箭头 59"/>
          <p:cNvSpPr/>
          <p:nvPr/>
        </p:nvSpPr>
        <p:spPr>
          <a:xfrm>
            <a:off x="5843270" y="1711325"/>
            <a:ext cx="142240" cy="182880"/>
          </a:xfrm>
          <a:prstGeom prst="downArrow">
            <a:avLst/>
          </a:prstGeom>
          <a:solidFill>
            <a:srgbClr val="00B050"/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87" name="直角上箭头 86"/>
          <p:cNvSpPr/>
          <p:nvPr/>
        </p:nvSpPr>
        <p:spPr>
          <a:xfrm>
            <a:off x="1113155" y="4011930"/>
            <a:ext cx="682625" cy="182245"/>
          </a:xfrm>
          <a:prstGeom prst="bentUpArrow">
            <a:avLst/>
          </a:prstGeom>
          <a:scene3d>
            <a:camera prst="orthographicFront">
              <a:rot lat="0" lon="0" rev="10800000"/>
            </a:camera>
            <a:lightRig rig="threePt" dir="t"/>
          </a:scene3d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9" name="圆角矩形 98"/>
          <p:cNvSpPr/>
          <p:nvPr/>
        </p:nvSpPr>
        <p:spPr>
          <a:xfrm>
            <a:off x="10720070" y="3578860"/>
            <a:ext cx="511175" cy="250825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 b="1"/>
              <a:t>Gate</a:t>
            </a:r>
            <a:endParaRPr lang="en-US" altLang="zh-CN" sz="800" b="1"/>
          </a:p>
        </p:txBody>
      </p:sp>
      <p:sp>
        <p:nvSpPr>
          <p:cNvPr id="100" name="圆角矩形 99"/>
          <p:cNvSpPr/>
          <p:nvPr/>
        </p:nvSpPr>
        <p:spPr>
          <a:xfrm>
            <a:off x="9730105" y="3099435"/>
            <a:ext cx="354330" cy="224155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 b="1"/>
              <a:t>X1</a:t>
            </a:r>
            <a:endParaRPr lang="en-US" altLang="zh-CN" sz="800" b="1"/>
          </a:p>
        </p:txBody>
      </p:sp>
      <p:sp>
        <p:nvSpPr>
          <p:cNvPr id="101" name="圆角矩形 100"/>
          <p:cNvSpPr/>
          <p:nvPr/>
        </p:nvSpPr>
        <p:spPr>
          <a:xfrm>
            <a:off x="10121900" y="3099435"/>
            <a:ext cx="354330" cy="224155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 b="1"/>
              <a:t>X2</a:t>
            </a:r>
            <a:endParaRPr lang="en-US" altLang="zh-CN" sz="800" b="1"/>
          </a:p>
        </p:txBody>
      </p:sp>
      <p:sp>
        <p:nvSpPr>
          <p:cNvPr id="102" name="圆角矩形 101"/>
          <p:cNvSpPr/>
          <p:nvPr/>
        </p:nvSpPr>
        <p:spPr>
          <a:xfrm>
            <a:off x="10521315" y="3099435"/>
            <a:ext cx="354330" cy="224155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 b="1"/>
              <a:t>X3</a:t>
            </a:r>
            <a:endParaRPr lang="en-US" altLang="zh-CN" sz="800" b="1"/>
          </a:p>
        </p:txBody>
      </p:sp>
      <p:sp>
        <p:nvSpPr>
          <p:cNvPr id="103" name="圆角矩形 102"/>
          <p:cNvSpPr/>
          <p:nvPr/>
        </p:nvSpPr>
        <p:spPr>
          <a:xfrm>
            <a:off x="11174095" y="3099435"/>
            <a:ext cx="354330" cy="224155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 b="1"/>
              <a:t>Xn</a:t>
            </a:r>
            <a:endParaRPr lang="en-US" altLang="zh-CN" sz="800" b="1"/>
          </a:p>
        </p:txBody>
      </p:sp>
      <p:sp>
        <p:nvSpPr>
          <p:cNvPr id="117" name="左弧形箭头 116"/>
          <p:cNvSpPr/>
          <p:nvPr/>
        </p:nvSpPr>
        <p:spPr>
          <a:xfrm>
            <a:off x="11398885" y="3335020"/>
            <a:ext cx="228600" cy="391795"/>
          </a:xfrm>
          <a:prstGeom prst="curvedRightArrow">
            <a:avLst/>
          </a:prstGeom>
          <a:scene3d>
            <a:camera prst="orthographicFront">
              <a:rot lat="0" lon="10800000" rev="0"/>
            </a:camera>
            <a:lightRig rig="threePt" dir="t"/>
          </a:scene3d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57" name="圆角矩形 156"/>
          <p:cNvSpPr/>
          <p:nvPr/>
        </p:nvSpPr>
        <p:spPr>
          <a:xfrm>
            <a:off x="10716895" y="4029075"/>
            <a:ext cx="572770" cy="224155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 b="1"/>
              <a:t>X local</a:t>
            </a:r>
            <a:endParaRPr lang="en-US" altLang="zh-CN" sz="800" b="1"/>
          </a:p>
        </p:txBody>
      </p:sp>
      <p:sp>
        <p:nvSpPr>
          <p:cNvPr id="158" name="矩形 157"/>
          <p:cNvSpPr/>
          <p:nvPr/>
        </p:nvSpPr>
        <p:spPr>
          <a:xfrm>
            <a:off x="9285605" y="2153920"/>
            <a:ext cx="2831465" cy="17272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>
                <a:solidFill>
                  <a:schemeClr val="tx1"/>
                </a:solidFill>
              </a:rPr>
              <a:t>update = message + </a:t>
            </a:r>
            <a:r>
              <a:rPr lang="en-US" altLang="zh-CN" sz="800">
                <a:solidFill>
                  <a:schemeClr val="tx1"/>
                </a:solidFill>
              </a:rPr>
              <a:t>residual + r_hetero × discrepancy</a:t>
            </a:r>
            <a:endParaRPr lang="en-US" altLang="zh-CN" sz="800">
              <a:solidFill>
                <a:schemeClr val="tx1"/>
              </a:solidFill>
            </a:endParaRPr>
          </a:p>
        </p:txBody>
      </p:sp>
      <p:sp>
        <p:nvSpPr>
          <p:cNvPr id="160" name="菱形 159"/>
          <p:cNvSpPr/>
          <p:nvPr/>
        </p:nvSpPr>
        <p:spPr>
          <a:xfrm>
            <a:off x="10674350" y="4403725"/>
            <a:ext cx="699770" cy="384810"/>
          </a:xfrm>
          <a:prstGeom prst="diamond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800"/>
          </a:p>
        </p:txBody>
      </p:sp>
      <p:sp>
        <p:nvSpPr>
          <p:cNvPr id="161" name="文本框 160"/>
          <p:cNvSpPr txBox="1"/>
          <p:nvPr/>
        </p:nvSpPr>
        <p:spPr>
          <a:xfrm>
            <a:off x="10763885" y="4489450"/>
            <a:ext cx="521335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800" b="1">
                <a:solidFill>
                  <a:schemeClr val="bg1"/>
                </a:solidFill>
              </a:rPr>
              <a:t>Global?</a:t>
            </a:r>
            <a:endParaRPr lang="en-US" altLang="zh-CN" sz="800" b="1">
              <a:solidFill>
                <a:schemeClr val="bg1"/>
              </a:solidFill>
            </a:endParaRPr>
          </a:p>
        </p:txBody>
      </p:sp>
      <p:sp>
        <p:nvSpPr>
          <p:cNvPr id="162" name="右箭头 161"/>
          <p:cNvSpPr/>
          <p:nvPr/>
        </p:nvSpPr>
        <p:spPr>
          <a:xfrm>
            <a:off x="10418445" y="4567555"/>
            <a:ext cx="199390" cy="76200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scene3d>
            <a:camera prst="orthographicFront">
              <a:rot lat="0" lon="0" rev="10800000"/>
            </a:camera>
            <a:lightRig rig="threePt" dir="t"/>
          </a:scene3d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3" name="下箭头 162"/>
          <p:cNvSpPr/>
          <p:nvPr/>
        </p:nvSpPr>
        <p:spPr>
          <a:xfrm>
            <a:off x="10986135" y="4822825"/>
            <a:ext cx="76200" cy="106680"/>
          </a:xfrm>
          <a:prstGeom prst="downArrow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65" name="文本框 164"/>
          <p:cNvSpPr txBox="1"/>
          <p:nvPr/>
        </p:nvSpPr>
        <p:spPr>
          <a:xfrm>
            <a:off x="11113135" y="4731385"/>
            <a:ext cx="347345" cy="1606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800">
                <a:solidFill>
                  <a:srgbClr val="92D050"/>
                </a:solidFill>
                <a:sym typeface="+mn-ea"/>
              </a:rPr>
              <a:t>NO</a:t>
            </a:r>
            <a:endParaRPr lang="en-US" altLang="zh-CN" sz="800">
              <a:solidFill>
                <a:srgbClr val="92D050"/>
              </a:solidFill>
            </a:endParaRPr>
          </a:p>
        </p:txBody>
      </p:sp>
      <p:sp>
        <p:nvSpPr>
          <p:cNvPr id="176" name="下箭头 175"/>
          <p:cNvSpPr/>
          <p:nvPr/>
        </p:nvSpPr>
        <p:spPr>
          <a:xfrm>
            <a:off x="10986135" y="4284980"/>
            <a:ext cx="76200" cy="106680"/>
          </a:xfrm>
          <a:prstGeom prst="downArrow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93" name="下箭头 192"/>
          <p:cNvSpPr/>
          <p:nvPr/>
        </p:nvSpPr>
        <p:spPr>
          <a:xfrm>
            <a:off x="10986135" y="3920490"/>
            <a:ext cx="76200" cy="106680"/>
          </a:xfrm>
          <a:prstGeom prst="downArrow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94" name="文本框 193"/>
          <p:cNvSpPr txBox="1"/>
          <p:nvPr/>
        </p:nvSpPr>
        <p:spPr>
          <a:xfrm>
            <a:off x="10355580" y="4416425"/>
            <a:ext cx="411480" cy="1606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800">
                <a:solidFill>
                  <a:srgbClr val="92D050"/>
                </a:solidFill>
                <a:sym typeface="+mn-ea"/>
              </a:rPr>
              <a:t>YES</a:t>
            </a:r>
            <a:endParaRPr lang="en-US" altLang="zh-CN" sz="800">
              <a:solidFill>
                <a:srgbClr val="92D050"/>
              </a:solidFill>
            </a:endParaRPr>
          </a:p>
        </p:txBody>
      </p:sp>
      <p:sp>
        <p:nvSpPr>
          <p:cNvPr id="198" name="文本框 197"/>
          <p:cNvSpPr txBox="1"/>
          <p:nvPr/>
        </p:nvSpPr>
        <p:spPr>
          <a:xfrm>
            <a:off x="2118995" y="445135"/>
            <a:ext cx="115824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800" b="1">
                <a:solidFill>
                  <a:schemeClr val="bg1"/>
                </a:solidFill>
              </a:rPr>
              <a:t>Remove Self Loops</a:t>
            </a:r>
            <a:endParaRPr lang="en-US" altLang="zh-CN" sz="800" b="1">
              <a:solidFill>
                <a:schemeClr val="bg1"/>
              </a:solidFill>
            </a:endParaRPr>
          </a:p>
        </p:txBody>
      </p:sp>
      <p:sp>
        <p:nvSpPr>
          <p:cNvPr id="77" name="矩形 76"/>
          <p:cNvSpPr/>
          <p:nvPr/>
        </p:nvSpPr>
        <p:spPr>
          <a:xfrm>
            <a:off x="5601335" y="2326005"/>
            <a:ext cx="690245" cy="14414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/>
              <a:t>beta</a:t>
            </a:r>
            <a:endParaRPr lang="en-US" altLang="zh-CN" sz="800"/>
          </a:p>
        </p:txBody>
      </p:sp>
      <p:sp>
        <p:nvSpPr>
          <p:cNvPr id="92" name="矩形 91"/>
          <p:cNvSpPr/>
          <p:nvPr/>
        </p:nvSpPr>
        <p:spPr>
          <a:xfrm>
            <a:off x="5601335" y="1475740"/>
            <a:ext cx="532130" cy="15494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/>
              <a:t>tanh</a:t>
            </a:r>
            <a:endParaRPr lang="en-US" altLang="zh-CN" sz="800"/>
          </a:p>
        </p:txBody>
      </p:sp>
      <p:sp>
        <p:nvSpPr>
          <p:cNvPr id="147" name="下箭头 146"/>
          <p:cNvSpPr/>
          <p:nvPr/>
        </p:nvSpPr>
        <p:spPr>
          <a:xfrm>
            <a:off x="5843270" y="1292860"/>
            <a:ext cx="142240" cy="182880"/>
          </a:xfrm>
          <a:prstGeom prst="downArrow">
            <a:avLst/>
          </a:prstGeom>
          <a:solidFill>
            <a:srgbClr val="00B050"/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67" name="圆角矩形 166"/>
          <p:cNvSpPr/>
          <p:nvPr/>
        </p:nvSpPr>
        <p:spPr>
          <a:xfrm>
            <a:off x="10497185" y="5048250"/>
            <a:ext cx="612775" cy="21145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800" b="1"/>
          </a:p>
        </p:txBody>
      </p:sp>
      <p:sp>
        <p:nvSpPr>
          <p:cNvPr id="168" name="椭圆 167"/>
          <p:cNvSpPr/>
          <p:nvPr/>
        </p:nvSpPr>
        <p:spPr>
          <a:xfrm>
            <a:off x="10570210" y="5116195"/>
            <a:ext cx="75565" cy="75565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9" name="椭圆 168"/>
          <p:cNvSpPr/>
          <p:nvPr/>
        </p:nvSpPr>
        <p:spPr>
          <a:xfrm>
            <a:off x="10697210" y="5116195"/>
            <a:ext cx="75565" cy="75565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0" name="椭圆 169"/>
          <p:cNvSpPr/>
          <p:nvPr/>
        </p:nvSpPr>
        <p:spPr>
          <a:xfrm>
            <a:off x="10824210" y="5116195"/>
            <a:ext cx="75565" cy="75565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1" name="椭圆 170"/>
          <p:cNvSpPr/>
          <p:nvPr/>
        </p:nvSpPr>
        <p:spPr>
          <a:xfrm>
            <a:off x="10951210" y="5116195"/>
            <a:ext cx="75565" cy="75565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2" name="文本框 171"/>
          <p:cNvSpPr txBox="1"/>
          <p:nvPr/>
        </p:nvSpPr>
        <p:spPr>
          <a:xfrm>
            <a:off x="11127105" y="5048885"/>
            <a:ext cx="516890" cy="2108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800" b="1">
                <a:solidFill>
                  <a:schemeClr val="accent4">
                    <a:lumMod val="75000"/>
                  </a:schemeClr>
                </a:solidFill>
              </a:rPr>
              <a:t>Linear</a:t>
            </a:r>
            <a:endParaRPr lang="zh-CN" altLang="en-US" sz="800" b="1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73" name="圆角矩形 172"/>
          <p:cNvSpPr/>
          <p:nvPr/>
        </p:nvSpPr>
        <p:spPr>
          <a:xfrm>
            <a:off x="9730105" y="4577080"/>
            <a:ext cx="612775" cy="21145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  <a:scene3d>
            <a:camera prst="orthographicFront">
              <a:rot lat="0" lon="0" rev="16200000"/>
            </a:camera>
            <a:lightRig rig="threePt" dir="t"/>
          </a:scene3d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800" b="1"/>
          </a:p>
        </p:txBody>
      </p:sp>
      <p:sp>
        <p:nvSpPr>
          <p:cNvPr id="205" name="文本框 204"/>
          <p:cNvSpPr txBox="1"/>
          <p:nvPr/>
        </p:nvSpPr>
        <p:spPr>
          <a:xfrm>
            <a:off x="9788525" y="4570095"/>
            <a:ext cx="516890" cy="210820"/>
          </a:xfrm>
          <a:prstGeom prst="rect">
            <a:avLst/>
          </a:prstGeom>
          <a:noFill/>
          <a:scene3d>
            <a:camera prst="orthographicFront">
              <a:rot lat="0" lon="0" rev="16200000"/>
            </a:camera>
            <a:lightRig rig="threePt" dir="t"/>
          </a:scene3d>
        </p:spPr>
        <p:txBody>
          <a:bodyPr wrap="square" rtlCol="0">
            <a:noAutofit/>
          </a:bodyPr>
          <a:p>
            <a:r>
              <a:rPr lang="en-US" altLang="zh-CN" sz="800" b="1">
                <a:solidFill>
                  <a:schemeClr val="accent4">
                    <a:lumMod val="75000"/>
                  </a:schemeClr>
                </a:solidFill>
              </a:rPr>
              <a:t>Linear</a:t>
            </a:r>
            <a:endParaRPr lang="zh-CN" altLang="en-US" sz="800" b="1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11" name="文本框 210"/>
          <p:cNvSpPr txBox="1"/>
          <p:nvPr/>
        </p:nvSpPr>
        <p:spPr>
          <a:xfrm>
            <a:off x="9271635" y="4561205"/>
            <a:ext cx="516890" cy="210820"/>
          </a:xfrm>
          <a:prstGeom prst="rect">
            <a:avLst/>
          </a:prstGeom>
          <a:noFill/>
          <a:scene3d>
            <a:camera prst="orthographicFront">
              <a:rot lat="0" lon="0" rev="16200000"/>
            </a:camera>
            <a:lightRig rig="threePt" dir="t"/>
          </a:scene3d>
        </p:spPr>
        <p:txBody>
          <a:bodyPr wrap="square" rtlCol="0">
            <a:noAutofit/>
          </a:bodyPr>
          <a:p>
            <a:r>
              <a:rPr lang="en-US" altLang="zh-CN" sz="800" b="1">
                <a:solidFill>
                  <a:schemeClr val="accent4">
                    <a:lumMod val="75000"/>
                  </a:schemeClr>
                </a:solidFill>
              </a:rPr>
              <a:t>Q K V</a:t>
            </a:r>
            <a:endParaRPr lang="zh-CN" altLang="en-US" sz="800" b="1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17" name="左箭头 216"/>
          <p:cNvSpPr/>
          <p:nvPr/>
        </p:nvSpPr>
        <p:spPr>
          <a:xfrm>
            <a:off x="8574405" y="4528820"/>
            <a:ext cx="264795" cy="75565"/>
          </a:xfrm>
          <a:prstGeom prst="lef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8" name="文本框 217"/>
          <p:cNvSpPr txBox="1"/>
          <p:nvPr/>
        </p:nvSpPr>
        <p:spPr>
          <a:xfrm>
            <a:off x="8581390" y="4547235"/>
            <a:ext cx="704215" cy="233680"/>
          </a:xfrm>
          <a:prstGeom prst="rect">
            <a:avLst/>
          </a:prstGeom>
          <a:noFill/>
          <a:scene3d>
            <a:camera prst="orthographicFront">
              <a:rot lat="0" lon="0" rev="16200000"/>
            </a:camera>
            <a:lightRig rig="threePt" dir="t"/>
          </a:scene3d>
        </p:spPr>
        <p:txBody>
          <a:bodyPr wrap="square" rtlCol="0">
            <a:noAutofit/>
          </a:bodyPr>
          <a:p>
            <a:r>
              <a:rPr lang="en-US" altLang="zh-CN" sz="800" b="1">
                <a:solidFill>
                  <a:schemeClr val="accent4">
                    <a:lumMod val="75000"/>
                  </a:schemeClr>
                </a:solidFill>
              </a:rPr>
              <a:t>Q* K* V</a:t>
            </a:r>
            <a:endParaRPr lang="zh-CN" altLang="en-US" sz="800" b="1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19" name="圆角矩形 218"/>
          <p:cNvSpPr/>
          <p:nvPr/>
        </p:nvSpPr>
        <p:spPr>
          <a:xfrm>
            <a:off x="7980045" y="4381500"/>
            <a:ext cx="511175" cy="25082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000">
                <a:sym typeface="+mn-ea"/>
              </a:rPr>
              <a:t>Gate</a:t>
            </a:r>
            <a:endParaRPr lang="zh-CN" altLang="en-US" sz="1000">
              <a:sym typeface="+mn-ea"/>
            </a:endParaRPr>
          </a:p>
        </p:txBody>
      </p:sp>
      <p:sp>
        <p:nvSpPr>
          <p:cNvPr id="221" name="左箭头 220"/>
          <p:cNvSpPr/>
          <p:nvPr/>
        </p:nvSpPr>
        <p:spPr>
          <a:xfrm>
            <a:off x="7621270" y="4429125"/>
            <a:ext cx="277495" cy="93345"/>
          </a:xfrm>
          <a:prstGeom prst="lef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2" name="圆角矩形 221"/>
          <p:cNvSpPr/>
          <p:nvPr/>
        </p:nvSpPr>
        <p:spPr>
          <a:xfrm>
            <a:off x="7028815" y="4310380"/>
            <a:ext cx="511175" cy="25082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000">
                <a:sym typeface="+mn-ea"/>
              </a:rPr>
              <a:t>ffn</a:t>
            </a:r>
            <a:endParaRPr lang="en-US" altLang="zh-CN" sz="1000">
              <a:sym typeface="+mn-ea"/>
            </a:endParaRPr>
          </a:p>
        </p:txBody>
      </p:sp>
      <p:sp>
        <p:nvSpPr>
          <p:cNvPr id="223" name="圆角矩形 222"/>
          <p:cNvSpPr/>
          <p:nvPr/>
        </p:nvSpPr>
        <p:spPr>
          <a:xfrm>
            <a:off x="929640" y="3328035"/>
            <a:ext cx="511175" cy="25082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 b="1"/>
              <a:t>ReLU</a:t>
            </a:r>
            <a:endParaRPr lang="en-US" altLang="zh-CN" sz="800" b="1"/>
          </a:p>
        </p:txBody>
      </p:sp>
      <p:sp>
        <p:nvSpPr>
          <p:cNvPr id="230" name="下箭头 229"/>
          <p:cNvSpPr/>
          <p:nvPr/>
        </p:nvSpPr>
        <p:spPr>
          <a:xfrm>
            <a:off x="1148080" y="1687830"/>
            <a:ext cx="142240" cy="124460"/>
          </a:xfrm>
          <a:prstGeom prst="downArrow">
            <a:avLst/>
          </a:prstGeom>
          <a:solidFill>
            <a:srgbClr val="00B050"/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31" name="下箭头 230"/>
          <p:cNvSpPr/>
          <p:nvPr/>
        </p:nvSpPr>
        <p:spPr>
          <a:xfrm>
            <a:off x="1078230" y="3152775"/>
            <a:ext cx="142240" cy="124460"/>
          </a:xfrm>
          <a:prstGeom prst="downArrow">
            <a:avLst/>
          </a:prstGeom>
          <a:solidFill>
            <a:srgbClr val="00B050"/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33" name="文本框 232"/>
          <p:cNvSpPr txBox="1"/>
          <p:nvPr/>
        </p:nvSpPr>
        <p:spPr>
          <a:xfrm>
            <a:off x="-40640" y="2007235"/>
            <a:ext cx="4140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*n</a:t>
            </a:r>
            <a:endParaRPr lang="en-US" altLang="zh-CN"/>
          </a:p>
        </p:txBody>
      </p:sp>
      <p:sp>
        <p:nvSpPr>
          <p:cNvPr id="234" name="梯形 233"/>
          <p:cNvSpPr/>
          <p:nvPr/>
        </p:nvSpPr>
        <p:spPr>
          <a:xfrm>
            <a:off x="6510655" y="727710"/>
            <a:ext cx="787400" cy="422275"/>
          </a:xfrm>
          <a:prstGeom prst="trapezoid">
            <a:avLst/>
          </a:prstGeom>
          <a:scene3d>
            <a:camera prst="orthographicFront">
              <a:rot lat="0" lon="0" rev="16200000"/>
            </a:camera>
            <a:lightRig rig="threePt" dir="t"/>
          </a:scene3d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 u="sng"/>
              <a:t>Encoder</a:t>
            </a:r>
            <a:r>
              <a:rPr lang="zh-CN" altLang="en-US" sz="800" u="sng"/>
              <a:t>完整特征</a:t>
            </a:r>
            <a:endParaRPr lang="zh-CN" altLang="en-US" sz="800" u="sng"/>
          </a:p>
        </p:txBody>
      </p:sp>
      <p:sp>
        <p:nvSpPr>
          <p:cNvPr id="235" name="右箭头 234"/>
          <p:cNvSpPr/>
          <p:nvPr/>
        </p:nvSpPr>
        <p:spPr>
          <a:xfrm>
            <a:off x="6242050" y="751205"/>
            <a:ext cx="360680" cy="151130"/>
          </a:xfrm>
          <a:prstGeom prst="rightArrow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6" name="右箭头 235"/>
          <p:cNvSpPr/>
          <p:nvPr/>
        </p:nvSpPr>
        <p:spPr>
          <a:xfrm>
            <a:off x="7134225" y="868680"/>
            <a:ext cx="1230630" cy="118110"/>
          </a:xfrm>
          <a:prstGeom prst="rightArrow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0" name="矩形 49"/>
          <p:cNvSpPr/>
          <p:nvPr/>
        </p:nvSpPr>
        <p:spPr>
          <a:xfrm>
            <a:off x="8026400" y="2520315"/>
            <a:ext cx="1146810" cy="18224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/>
              <a:t>SiLU</a:t>
            </a:r>
            <a:endParaRPr lang="en-US" altLang="zh-CN" sz="800"/>
          </a:p>
        </p:txBody>
      </p:sp>
      <p:sp>
        <p:nvSpPr>
          <p:cNvPr id="64" name="矩形 63"/>
          <p:cNvSpPr/>
          <p:nvPr/>
        </p:nvSpPr>
        <p:spPr>
          <a:xfrm>
            <a:off x="5540375" y="1919605"/>
            <a:ext cx="690245" cy="14414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/>
              <a:t>sigmoid</a:t>
            </a:r>
            <a:endParaRPr lang="en-US" altLang="zh-CN" sz="800"/>
          </a:p>
        </p:txBody>
      </p:sp>
      <p:sp>
        <p:nvSpPr>
          <p:cNvPr id="65" name="文本框 64"/>
          <p:cNvSpPr txBox="1"/>
          <p:nvPr/>
        </p:nvSpPr>
        <p:spPr>
          <a:xfrm>
            <a:off x="5540375" y="1711325"/>
            <a:ext cx="537210" cy="2368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800"/>
              <a:t>delta</a:t>
            </a:r>
            <a:endParaRPr lang="en-US" altLang="zh-CN" sz="800"/>
          </a:p>
        </p:txBody>
      </p:sp>
      <p:sp>
        <p:nvSpPr>
          <p:cNvPr id="66" name="下箭头 65"/>
          <p:cNvSpPr/>
          <p:nvPr/>
        </p:nvSpPr>
        <p:spPr>
          <a:xfrm>
            <a:off x="5841365" y="2125980"/>
            <a:ext cx="142240" cy="182880"/>
          </a:xfrm>
          <a:prstGeom prst="downArrow">
            <a:avLst/>
          </a:prstGeom>
          <a:solidFill>
            <a:srgbClr val="00B050"/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79" name="圆角矩形 78"/>
          <p:cNvSpPr/>
          <p:nvPr/>
        </p:nvSpPr>
        <p:spPr>
          <a:xfrm>
            <a:off x="9630410" y="2558415"/>
            <a:ext cx="909955" cy="22161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 b="1"/>
              <a:t>LayerNorm</a:t>
            </a:r>
            <a:endParaRPr lang="en-US" altLang="zh-CN" sz="800" b="1"/>
          </a:p>
        </p:txBody>
      </p:sp>
      <p:sp>
        <p:nvSpPr>
          <p:cNvPr id="93" name="文本框 92"/>
          <p:cNvSpPr txBox="1"/>
          <p:nvPr/>
        </p:nvSpPr>
        <p:spPr>
          <a:xfrm>
            <a:off x="9509125" y="2809240"/>
            <a:ext cx="652145" cy="3225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800"/>
              <a:t>interaction</a:t>
            </a:r>
            <a:endParaRPr lang="en-US" altLang="zh-CN" sz="800"/>
          </a:p>
        </p:txBody>
      </p:sp>
      <p:sp>
        <p:nvSpPr>
          <p:cNvPr id="149" name="矩形 148"/>
          <p:cNvSpPr/>
          <p:nvPr/>
        </p:nvSpPr>
        <p:spPr>
          <a:xfrm>
            <a:off x="10252710" y="2809240"/>
            <a:ext cx="2265045" cy="18796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>
                <a:solidFill>
                  <a:schemeClr val="tx1"/>
                </a:solidFill>
              </a:rPr>
              <a:t>x = (1-beta) × interaction + beta × update</a:t>
            </a:r>
            <a:endParaRPr lang="en-US" altLang="zh-CN" sz="800">
              <a:solidFill>
                <a:schemeClr val="tx1"/>
              </a:solidFill>
            </a:endParaRPr>
          </a:p>
        </p:txBody>
      </p:sp>
      <p:sp>
        <p:nvSpPr>
          <p:cNvPr id="152" name="矩形 151"/>
          <p:cNvSpPr/>
          <p:nvPr/>
        </p:nvSpPr>
        <p:spPr>
          <a:xfrm>
            <a:off x="4177665" y="1116330"/>
            <a:ext cx="690245" cy="14414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/>
              <a:t>concat</a:t>
            </a:r>
            <a:endParaRPr lang="en-US" altLang="zh-CN" sz="800"/>
          </a:p>
        </p:txBody>
      </p:sp>
      <p:sp>
        <p:nvSpPr>
          <p:cNvPr id="153" name="下箭头 152"/>
          <p:cNvSpPr/>
          <p:nvPr/>
        </p:nvSpPr>
        <p:spPr>
          <a:xfrm>
            <a:off x="4502785" y="1296035"/>
            <a:ext cx="142240" cy="182880"/>
          </a:xfrm>
          <a:prstGeom prst="downArrow">
            <a:avLst/>
          </a:prstGeom>
          <a:solidFill>
            <a:srgbClr val="00B050"/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54" name="矩形 153"/>
          <p:cNvSpPr/>
          <p:nvPr/>
        </p:nvSpPr>
        <p:spPr>
          <a:xfrm>
            <a:off x="4238625" y="1403350"/>
            <a:ext cx="690245" cy="14414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/>
              <a:t>MLP</a:t>
            </a:r>
            <a:endParaRPr lang="en-US" altLang="zh-CN" sz="800"/>
          </a:p>
        </p:txBody>
      </p:sp>
      <p:sp>
        <p:nvSpPr>
          <p:cNvPr id="155" name="下箭头 154"/>
          <p:cNvSpPr/>
          <p:nvPr/>
        </p:nvSpPr>
        <p:spPr>
          <a:xfrm>
            <a:off x="4514215" y="1592580"/>
            <a:ext cx="76200" cy="2078355"/>
          </a:xfrm>
          <a:prstGeom prst="downArrow">
            <a:avLst/>
          </a:prstGeom>
          <a:solidFill>
            <a:srgbClr val="00B050"/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56" name="矩形 155"/>
          <p:cNvSpPr/>
          <p:nvPr/>
        </p:nvSpPr>
        <p:spPr>
          <a:xfrm>
            <a:off x="4276090" y="3670935"/>
            <a:ext cx="558800" cy="1397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/>
              <a:t>score1</a:t>
            </a:r>
            <a:endParaRPr lang="en-US" altLang="zh-CN" sz="800"/>
          </a:p>
        </p:txBody>
      </p:sp>
      <p:sp>
        <p:nvSpPr>
          <p:cNvPr id="164" name="矩形 163"/>
          <p:cNvSpPr/>
          <p:nvPr/>
        </p:nvSpPr>
        <p:spPr>
          <a:xfrm>
            <a:off x="4909185" y="3679190"/>
            <a:ext cx="558800" cy="1397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/>
              <a:t>score2</a:t>
            </a:r>
            <a:endParaRPr lang="en-US" altLang="zh-CN" sz="800"/>
          </a:p>
        </p:txBody>
      </p:sp>
      <p:sp>
        <p:nvSpPr>
          <p:cNvPr id="207" name="矩形 206"/>
          <p:cNvSpPr/>
          <p:nvPr/>
        </p:nvSpPr>
        <p:spPr>
          <a:xfrm>
            <a:off x="5515610" y="3680460"/>
            <a:ext cx="558800" cy="1397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/>
              <a:t>scoren</a:t>
            </a:r>
            <a:endParaRPr lang="en-US" altLang="zh-CN" sz="800"/>
          </a:p>
        </p:txBody>
      </p:sp>
      <p:sp>
        <p:nvSpPr>
          <p:cNvPr id="210" name="矩形 209"/>
          <p:cNvSpPr/>
          <p:nvPr/>
        </p:nvSpPr>
        <p:spPr>
          <a:xfrm>
            <a:off x="5601335" y="1082040"/>
            <a:ext cx="532130" cy="15494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/>
              <a:t>MLP</a:t>
            </a:r>
            <a:endParaRPr lang="en-US" altLang="zh-CN" sz="800"/>
          </a:p>
        </p:txBody>
      </p:sp>
      <p:sp>
        <p:nvSpPr>
          <p:cNvPr id="224" name="矩形 223"/>
          <p:cNvSpPr/>
          <p:nvPr/>
        </p:nvSpPr>
        <p:spPr>
          <a:xfrm>
            <a:off x="6602730" y="236220"/>
            <a:ext cx="532130" cy="15494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/>
              <a:t>MLP</a:t>
            </a:r>
            <a:endParaRPr lang="en-US" altLang="zh-CN" sz="800"/>
          </a:p>
        </p:txBody>
      </p:sp>
      <p:sp>
        <p:nvSpPr>
          <p:cNvPr id="239" name="矩形 238"/>
          <p:cNvSpPr/>
          <p:nvPr/>
        </p:nvSpPr>
        <p:spPr>
          <a:xfrm>
            <a:off x="8674735" y="226695"/>
            <a:ext cx="690245" cy="14414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>
                <a:sym typeface="+mn-ea"/>
              </a:rPr>
              <a:t> r_hetero</a:t>
            </a:r>
            <a:endParaRPr lang="en-US" altLang="zh-CN" sz="800"/>
          </a:p>
        </p:txBody>
      </p:sp>
      <p:cxnSp>
        <p:nvCxnSpPr>
          <p:cNvPr id="248" name="直接箭头连接符 247"/>
          <p:cNvCxnSpPr>
            <a:stCxn id="203" idx="2"/>
          </p:cNvCxnSpPr>
          <p:nvPr/>
        </p:nvCxnSpPr>
        <p:spPr>
          <a:xfrm>
            <a:off x="8716010" y="2045970"/>
            <a:ext cx="15875" cy="43561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9" name="肘形连接符 248"/>
          <p:cNvCxnSpPr>
            <a:stCxn id="77" idx="2"/>
            <a:endCxn id="100" idx="1"/>
          </p:cNvCxnSpPr>
          <p:nvPr/>
        </p:nvCxnSpPr>
        <p:spPr>
          <a:xfrm rot="5400000" flipV="1">
            <a:off x="7467600" y="949325"/>
            <a:ext cx="741680" cy="3783330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2" name="肘形连接符 261"/>
          <p:cNvCxnSpPr>
            <a:endCxn id="203" idx="1"/>
          </p:cNvCxnSpPr>
          <p:nvPr/>
        </p:nvCxnSpPr>
        <p:spPr>
          <a:xfrm rot="5400000" flipV="1">
            <a:off x="7813675" y="1143635"/>
            <a:ext cx="802640" cy="538480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64" name="右箭头 263"/>
          <p:cNvSpPr/>
          <p:nvPr/>
        </p:nvSpPr>
        <p:spPr>
          <a:xfrm>
            <a:off x="6179820" y="269240"/>
            <a:ext cx="422910" cy="7556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5" name="右箭头 264"/>
          <p:cNvSpPr/>
          <p:nvPr/>
        </p:nvSpPr>
        <p:spPr>
          <a:xfrm>
            <a:off x="7134225" y="269240"/>
            <a:ext cx="422910" cy="7556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6" name="右箭头 265"/>
          <p:cNvSpPr/>
          <p:nvPr/>
        </p:nvSpPr>
        <p:spPr>
          <a:xfrm>
            <a:off x="8251825" y="269240"/>
            <a:ext cx="422910" cy="7556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7" name="右箭头 266"/>
          <p:cNvSpPr/>
          <p:nvPr/>
        </p:nvSpPr>
        <p:spPr>
          <a:xfrm>
            <a:off x="9348470" y="862965"/>
            <a:ext cx="360680" cy="151130"/>
          </a:xfrm>
          <a:prstGeom prst="rightArrow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1" name="右箭头 270"/>
          <p:cNvSpPr/>
          <p:nvPr/>
        </p:nvSpPr>
        <p:spPr>
          <a:xfrm>
            <a:off x="9173210" y="2569845"/>
            <a:ext cx="422910" cy="7556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72" name="直接箭头连接符 271"/>
          <p:cNvCxnSpPr/>
          <p:nvPr/>
        </p:nvCxnSpPr>
        <p:spPr>
          <a:xfrm flipH="1">
            <a:off x="9977755" y="2809240"/>
            <a:ext cx="17145" cy="34417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3" name="肘形连接符 272"/>
          <p:cNvCxnSpPr>
            <a:endCxn id="203" idx="3"/>
          </p:cNvCxnSpPr>
          <p:nvPr/>
        </p:nvCxnSpPr>
        <p:spPr>
          <a:xfrm rot="10800000" flipV="1">
            <a:off x="8947785" y="1238885"/>
            <a:ext cx="852170" cy="575310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4" name="肘形连接符 273"/>
          <p:cNvCxnSpPr/>
          <p:nvPr/>
        </p:nvCxnSpPr>
        <p:spPr>
          <a:xfrm flipH="1">
            <a:off x="9046845" y="299085"/>
            <a:ext cx="318135" cy="2244725"/>
          </a:xfrm>
          <a:prstGeom prst="bentConnector4">
            <a:avLst>
              <a:gd name="adj1" fmla="val -532534"/>
              <a:gd name="adj2" fmla="val 81782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75" name="下箭头 274"/>
          <p:cNvSpPr/>
          <p:nvPr/>
        </p:nvSpPr>
        <p:spPr>
          <a:xfrm>
            <a:off x="4451350" y="902335"/>
            <a:ext cx="142240" cy="215900"/>
          </a:xfrm>
          <a:prstGeom prst="downArrow">
            <a:avLst/>
          </a:prstGeom>
          <a:solidFill>
            <a:srgbClr val="00B050"/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cxnSp>
        <p:nvCxnSpPr>
          <p:cNvPr id="277" name="肘形连接符 276"/>
          <p:cNvCxnSpPr>
            <a:stCxn id="100" idx="2"/>
            <a:endCxn id="152" idx="3"/>
          </p:cNvCxnSpPr>
          <p:nvPr/>
        </p:nvCxnSpPr>
        <p:spPr>
          <a:xfrm rot="5400000" flipH="1">
            <a:off x="6320155" y="-263525"/>
            <a:ext cx="2134870" cy="5039360"/>
          </a:xfrm>
          <a:prstGeom prst="bentConnector4">
            <a:avLst>
              <a:gd name="adj1" fmla="val -11154"/>
              <a:gd name="adj2" fmla="val 95262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0" name="直接箭头连接符 279"/>
          <p:cNvCxnSpPr>
            <a:stCxn id="207" idx="3"/>
            <a:endCxn id="99" idx="1"/>
          </p:cNvCxnSpPr>
          <p:nvPr/>
        </p:nvCxnSpPr>
        <p:spPr>
          <a:xfrm flipV="1">
            <a:off x="6074410" y="3704590"/>
            <a:ext cx="4645660" cy="457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81" name="圆角矩形 280"/>
          <p:cNvSpPr/>
          <p:nvPr/>
        </p:nvSpPr>
        <p:spPr>
          <a:xfrm>
            <a:off x="2425700" y="5070475"/>
            <a:ext cx="511175" cy="250825"/>
          </a:xfrm>
          <a:prstGeom prst="roundRect">
            <a:avLst/>
          </a:prstGeom>
          <a:solidFill>
            <a:srgbClr val="00B050"/>
          </a:solidFill>
          <a:ln>
            <a:solidFill>
              <a:schemeClr val="accent4">
                <a:lumMod val="40000"/>
                <a:lumOff val="60000"/>
              </a:schemeClr>
            </a:solidFill>
          </a:ln>
          <a:scene3d>
            <a:camera prst="orthographicFront">
              <a:rot lat="0" lon="0" rev="16200000"/>
            </a:camera>
            <a:lightRig rig="threePt" dir="t"/>
          </a:scene3d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 b="1"/>
              <a:t>ReLU</a:t>
            </a:r>
            <a:endParaRPr lang="en-US" altLang="zh-CN" sz="800" b="1"/>
          </a:p>
        </p:txBody>
      </p:sp>
      <p:sp>
        <p:nvSpPr>
          <p:cNvPr id="283" name="右箭头 282"/>
          <p:cNvSpPr/>
          <p:nvPr/>
        </p:nvSpPr>
        <p:spPr>
          <a:xfrm>
            <a:off x="1813560" y="5210810"/>
            <a:ext cx="147955" cy="7556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4" name="右箭头 283"/>
          <p:cNvSpPr/>
          <p:nvPr/>
        </p:nvSpPr>
        <p:spPr>
          <a:xfrm>
            <a:off x="2261870" y="5202555"/>
            <a:ext cx="233045" cy="7556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6" name="矩形 285"/>
          <p:cNvSpPr/>
          <p:nvPr/>
        </p:nvSpPr>
        <p:spPr>
          <a:xfrm>
            <a:off x="6917690" y="2921635"/>
            <a:ext cx="2430780" cy="21018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>
                <a:solidFill>
                  <a:schemeClr val="tx1"/>
                </a:solidFill>
              </a:rPr>
              <a:t>interaction = LayerNorm(SiLU(residual) × update)</a:t>
            </a:r>
            <a:endParaRPr lang="en-US" altLang="zh-CN" sz="800">
              <a:solidFill>
                <a:schemeClr val="tx1"/>
              </a:solidFill>
            </a:endParaRPr>
          </a:p>
        </p:txBody>
      </p:sp>
      <p:sp>
        <p:nvSpPr>
          <p:cNvPr id="288" name="矩形 287"/>
          <p:cNvSpPr/>
          <p:nvPr/>
        </p:nvSpPr>
        <p:spPr>
          <a:xfrm>
            <a:off x="9307830" y="2376170"/>
            <a:ext cx="1678305" cy="18224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>
                <a:solidFill>
                  <a:schemeClr val="tx1"/>
                </a:solidFill>
              </a:rPr>
              <a:t>update = SiLU(update)</a:t>
            </a:r>
            <a:endParaRPr lang="en-US" altLang="zh-CN" sz="800">
              <a:solidFill>
                <a:schemeClr val="tx1"/>
              </a:solidFill>
            </a:endParaRPr>
          </a:p>
        </p:txBody>
      </p:sp>
      <p:sp>
        <p:nvSpPr>
          <p:cNvPr id="291" name="圆角矩形 290"/>
          <p:cNvSpPr/>
          <p:nvPr/>
        </p:nvSpPr>
        <p:spPr>
          <a:xfrm>
            <a:off x="8364855" y="707390"/>
            <a:ext cx="909955" cy="40894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 b="1"/>
              <a:t>LayerNorm</a:t>
            </a:r>
            <a:endParaRPr lang="en-US" altLang="zh-CN" sz="800" b="1"/>
          </a:p>
        </p:txBody>
      </p:sp>
      <p:sp>
        <p:nvSpPr>
          <p:cNvPr id="292" name="矩形 291"/>
          <p:cNvSpPr/>
          <p:nvPr/>
        </p:nvSpPr>
        <p:spPr>
          <a:xfrm>
            <a:off x="7134860" y="2496185"/>
            <a:ext cx="574675" cy="15684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/>
              <a:t>SiLU</a:t>
            </a:r>
            <a:endParaRPr lang="en-US" altLang="zh-CN" sz="800"/>
          </a:p>
        </p:txBody>
      </p:sp>
      <p:cxnSp>
        <p:nvCxnSpPr>
          <p:cNvPr id="293" name="直接箭头连接符 292"/>
          <p:cNvCxnSpPr/>
          <p:nvPr/>
        </p:nvCxnSpPr>
        <p:spPr>
          <a:xfrm>
            <a:off x="7422515" y="972185"/>
            <a:ext cx="12700" cy="15240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4" name="肘形连接符 293"/>
          <p:cNvCxnSpPr>
            <a:stCxn id="292" idx="2"/>
          </p:cNvCxnSpPr>
          <p:nvPr/>
        </p:nvCxnSpPr>
        <p:spPr>
          <a:xfrm rot="5400000" flipV="1">
            <a:off x="8448675" y="1626870"/>
            <a:ext cx="127000" cy="2179320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96" name="左箭头 295"/>
          <p:cNvSpPr/>
          <p:nvPr/>
        </p:nvSpPr>
        <p:spPr>
          <a:xfrm>
            <a:off x="9087485" y="4604385"/>
            <a:ext cx="277495" cy="93345"/>
          </a:xfrm>
          <a:prstGeom prst="lef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8" name="左箭头 297"/>
          <p:cNvSpPr/>
          <p:nvPr/>
        </p:nvSpPr>
        <p:spPr>
          <a:xfrm>
            <a:off x="9629775" y="4632325"/>
            <a:ext cx="277495" cy="93345"/>
          </a:xfrm>
          <a:prstGeom prst="lef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9" name="矩形 298"/>
          <p:cNvSpPr/>
          <p:nvPr/>
        </p:nvSpPr>
        <p:spPr>
          <a:xfrm>
            <a:off x="7264400" y="5490845"/>
            <a:ext cx="4134485" cy="230060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>
                <a:solidFill>
                  <a:schemeClr val="tx1"/>
                </a:solidFill>
              </a:rPr>
              <a:t>x = (1-beta) × interaction + beta × update</a:t>
            </a:r>
            <a:endParaRPr lang="en-US" altLang="zh-CN" sz="800">
              <a:solidFill>
                <a:schemeClr val="tx1"/>
              </a:solidFill>
            </a:endParaRPr>
          </a:p>
          <a:p>
            <a:pPr algn="ctr"/>
            <a:r>
              <a:rPr lang="en-US" altLang="zh-CN" sz="800">
                <a:solidFill>
                  <a:schemeClr val="tx1"/>
                </a:solidFill>
              </a:rPr>
              <a:t>=</a:t>
            </a:r>
            <a:r>
              <a:rPr lang="zh-CN" altLang="en-US" sz="800">
                <a:solidFill>
                  <a:schemeClr val="tx1"/>
                </a:solidFill>
              </a:rPr>
              <a:t>（</a:t>
            </a:r>
            <a:r>
              <a:rPr lang="en-US" altLang="zh-CN" sz="800">
                <a:solidFill>
                  <a:schemeClr val="tx1"/>
                </a:solidFill>
              </a:rPr>
              <a:t>1-beta)x[layernorn(silu(residual)xsilu(residual+message+r_geterox(residual-message)))]+betax</a:t>
            </a:r>
            <a:r>
              <a:rPr lang="en-US" altLang="zh-CN" sz="800">
                <a:solidFill>
                  <a:schemeClr val="tx1"/>
                </a:solidFill>
                <a:sym typeface="+mn-ea"/>
              </a:rPr>
              <a:t>silu(residual+message+r_geterox(residual-message))</a:t>
            </a:r>
            <a:endParaRPr lang="en-US" altLang="zh-CN" sz="800">
              <a:solidFill>
                <a:schemeClr val="tx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圆角矩形 21"/>
          <p:cNvSpPr/>
          <p:nvPr/>
        </p:nvSpPr>
        <p:spPr>
          <a:xfrm>
            <a:off x="4902200" y="3211830"/>
            <a:ext cx="1882775" cy="179578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8" name="圆角矩形 337"/>
          <p:cNvSpPr/>
          <p:nvPr/>
        </p:nvSpPr>
        <p:spPr>
          <a:xfrm>
            <a:off x="1824355" y="119380"/>
            <a:ext cx="8482965" cy="1246505"/>
          </a:xfrm>
          <a:prstGeom prst="roundRect">
            <a:avLst>
              <a:gd name="adj" fmla="val 10545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7" name="圆角矩形 336"/>
          <p:cNvSpPr/>
          <p:nvPr/>
        </p:nvSpPr>
        <p:spPr>
          <a:xfrm>
            <a:off x="1824990" y="5039360"/>
            <a:ext cx="4960620" cy="1351280"/>
          </a:xfrm>
          <a:prstGeom prst="roundRect">
            <a:avLst>
              <a:gd name="adj" fmla="val 10174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5" name="圆角矩形 334"/>
          <p:cNvSpPr/>
          <p:nvPr/>
        </p:nvSpPr>
        <p:spPr>
          <a:xfrm>
            <a:off x="6886575" y="3211830"/>
            <a:ext cx="3420745" cy="3178810"/>
          </a:xfrm>
          <a:prstGeom prst="roundRect">
            <a:avLst>
              <a:gd name="adj" fmla="val 4481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0" name="圆角矩形 299"/>
          <p:cNvSpPr/>
          <p:nvPr/>
        </p:nvSpPr>
        <p:spPr>
          <a:xfrm>
            <a:off x="4904740" y="1386840"/>
            <a:ext cx="5402580" cy="1794510"/>
          </a:xfrm>
          <a:prstGeom prst="roundRect">
            <a:avLst>
              <a:gd name="adj" fmla="val 5874"/>
            </a:avLst>
          </a:prstGeom>
          <a:solidFill>
            <a:schemeClr val="accent3">
              <a:lumMod val="20000"/>
              <a:lumOff val="80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2" name="圆角矩形 231"/>
          <p:cNvSpPr/>
          <p:nvPr/>
        </p:nvSpPr>
        <p:spPr>
          <a:xfrm>
            <a:off x="1803400" y="1422400"/>
            <a:ext cx="3082925" cy="3609975"/>
          </a:xfrm>
          <a:prstGeom prst="roundRect">
            <a:avLst>
              <a:gd name="adj" fmla="val 4098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椭圆 3"/>
          <p:cNvSpPr/>
          <p:nvPr/>
        </p:nvSpPr>
        <p:spPr>
          <a:xfrm>
            <a:off x="2092960" y="864235"/>
            <a:ext cx="177800" cy="17462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2118995" y="353060"/>
            <a:ext cx="177800" cy="174625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2549525" y="266065"/>
            <a:ext cx="177800" cy="174625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2893060" y="461010"/>
            <a:ext cx="177800" cy="174625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2807970" y="789940"/>
            <a:ext cx="177800" cy="174625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2460625" y="689610"/>
            <a:ext cx="177800" cy="174625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0" name="直接连接符 9"/>
          <p:cNvCxnSpPr>
            <a:stCxn id="5" idx="4"/>
            <a:endCxn id="4" idx="0"/>
          </p:cNvCxnSpPr>
          <p:nvPr/>
        </p:nvCxnSpPr>
        <p:spPr>
          <a:xfrm flipH="1">
            <a:off x="2181860" y="527685"/>
            <a:ext cx="26035" cy="3365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直接连接符 10"/>
          <p:cNvCxnSpPr>
            <a:stCxn id="4" idx="6"/>
            <a:endCxn id="9" idx="2"/>
          </p:cNvCxnSpPr>
          <p:nvPr/>
        </p:nvCxnSpPr>
        <p:spPr>
          <a:xfrm flipV="1">
            <a:off x="2270760" y="777240"/>
            <a:ext cx="189865" cy="1746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连接符 11"/>
          <p:cNvCxnSpPr>
            <a:stCxn id="5" idx="5"/>
            <a:endCxn id="9" idx="1"/>
          </p:cNvCxnSpPr>
          <p:nvPr/>
        </p:nvCxnSpPr>
        <p:spPr>
          <a:xfrm>
            <a:off x="2270760" y="502285"/>
            <a:ext cx="215900" cy="2127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连接符 12"/>
          <p:cNvCxnSpPr>
            <a:stCxn id="5" idx="6"/>
            <a:endCxn id="6" idx="2"/>
          </p:cNvCxnSpPr>
          <p:nvPr/>
        </p:nvCxnSpPr>
        <p:spPr>
          <a:xfrm flipV="1">
            <a:off x="2296795" y="353695"/>
            <a:ext cx="252730" cy="8699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直接连接符 14"/>
          <p:cNvCxnSpPr>
            <a:stCxn id="9" idx="0"/>
            <a:endCxn id="6" idx="4"/>
          </p:cNvCxnSpPr>
          <p:nvPr/>
        </p:nvCxnSpPr>
        <p:spPr>
          <a:xfrm flipV="1">
            <a:off x="2549525" y="440690"/>
            <a:ext cx="88900" cy="2489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直接连接符 15"/>
          <p:cNvCxnSpPr>
            <a:stCxn id="6" idx="6"/>
            <a:endCxn id="7" idx="1"/>
          </p:cNvCxnSpPr>
          <p:nvPr/>
        </p:nvCxnSpPr>
        <p:spPr>
          <a:xfrm>
            <a:off x="2727325" y="353695"/>
            <a:ext cx="191770" cy="1327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直接连接符 16"/>
          <p:cNvCxnSpPr>
            <a:stCxn id="7" idx="4"/>
            <a:endCxn id="8" idx="7"/>
          </p:cNvCxnSpPr>
          <p:nvPr/>
        </p:nvCxnSpPr>
        <p:spPr>
          <a:xfrm flipH="1">
            <a:off x="2959735" y="635635"/>
            <a:ext cx="22225" cy="1797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直接连接符 18"/>
          <p:cNvCxnSpPr>
            <a:stCxn id="9" idx="6"/>
            <a:endCxn id="8" idx="2"/>
          </p:cNvCxnSpPr>
          <p:nvPr/>
        </p:nvCxnSpPr>
        <p:spPr>
          <a:xfrm>
            <a:off x="2638425" y="777240"/>
            <a:ext cx="169545" cy="1003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0" name="右箭头 19"/>
          <p:cNvSpPr/>
          <p:nvPr/>
        </p:nvSpPr>
        <p:spPr>
          <a:xfrm>
            <a:off x="3122930" y="406400"/>
            <a:ext cx="198000" cy="216000"/>
          </a:xfrm>
          <a:prstGeom prst="rightArrow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3388995" y="186055"/>
            <a:ext cx="1812925" cy="807085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800"/>
          </a:p>
        </p:txBody>
      </p:sp>
      <p:sp>
        <p:nvSpPr>
          <p:cNvPr id="24" name="文本框 23"/>
          <p:cNvSpPr txBox="1"/>
          <p:nvPr/>
        </p:nvSpPr>
        <p:spPr>
          <a:xfrm>
            <a:off x="3620135" y="247015"/>
            <a:ext cx="160147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olidFill>
                  <a:schemeClr val="lt1"/>
                </a:solidFill>
                <a:sym typeface="+mn-ea"/>
              </a:rPr>
              <a:t>Make Bidirectional</a:t>
            </a:r>
            <a:endParaRPr lang="en-US" altLang="zh-CN" sz="1200">
              <a:solidFill>
                <a:schemeClr val="lt1"/>
              </a:solidFill>
              <a:sym typeface="+mn-ea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3687445" y="718820"/>
            <a:ext cx="1216660" cy="2743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200">
                <a:solidFill>
                  <a:schemeClr val="bg1"/>
                </a:solidFill>
              </a:rPr>
              <a:t>Add Self Loops</a:t>
            </a:r>
            <a:endParaRPr lang="en-US" altLang="zh-CN" sz="1200">
              <a:solidFill>
                <a:schemeClr val="bg1"/>
              </a:solidFill>
            </a:endParaRPr>
          </a:p>
        </p:txBody>
      </p:sp>
      <p:sp>
        <p:nvSpPr>
          <p:cNvPr id="27" name="下箭头 26"/>
          <p:cNvSpPr/>
          <p:nvPr/>
        </p:nvSpPr>
        <p:spPr>
          <a:xfrm>
            <a:off x="4320540" y="461010"/>
            <a:ext cx="75565" cy="75565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1" name="下箭头 30"/>
          <p:cNvSpPr/>
          <p:nvPr/>
        </p:nvSpPr>
        <p:spPr>
          <a:xfrm>
            <a:off x="4133850" y="1365885"/>
            <a:ext cx="159385" cy="224155"/>
          </a:xfrm>
          <a:prstGeom prst="downArrow">
            <a:avLst/>
          </a:prstGeom>
          <a:solidFill>
            <a:srgbClr val="00B050"/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2" name="圆角矩形 31"/>
          <p:cNvSpPr/>
          <p:nvPr/>
        </p:nvSpPr>
        <p:spPr>
          <a:xfrm>
            <a:off x="3189605" y="1590040"/>
            <a:ext cx="1435100" cy="36639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 b="1"/>
              <a:t>LayerNorm</a:t>
            </a:r>
            <a:endParaRPr lang="en-US" altLang="zh-CN" sz="800" b="1"/>
          </a:p>
        </p:txBody>
      </p:sp>
      <p:sp>
        <p:nvSpPr>
          <p:cNvPr id="33" name="圆角矩形 32"/>
          <p:cNvSpPr/>
          <p:nvPr/>
        </p:nvSpPr>
        <p:spPr>
          <a:xfrm>
            <a:off x="4011930" y="2786380"/>
            <a:ext cx="612775" cy="21145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 b="1"/>
              <a:t>Linear</a:t>
            </a:r>
            <a:endParaRPr lang="en-US" altLang="zh-CN" sz="800" b="1"/>
          </a:p>
        </p:txBody>
      </p:sp>
      <p:sp>
        <p:nvSpPr>
          <p:cNvPr id="34" name="下箭头 33"/>
          <p:cNvSpPr/>
          <p:nvPr/>
        </p:nvSpPr>
        <p:spPr>
          <a:xfrm>
            <a:off x="4294505" y="2059305"/>
            <a:ext cx="76200" cy="657225"/>
          </a:xfrm>
          <a:prstGeom prst="downArrow">
            <a:avLst/>
          </a:prstGeom>
          <a:solidFill>
            <a:srgbClr val="00B050"/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41" name="下箭头 40"/>
          <p:cNvSpPr/>
          <p:nvPr/>
        </p:nvSpPr>
        <p:spPr>
          <a:xfrm>
            <a:off x="4320540" y="3011170"/>
            <a:ext cx="142240" cy="532130"/>
          </a:xfrm>
          <a:prstGeom prst="downArrow">
            <a:avLst/>
          </a:prstGeom>
          <a:solidFill>
            <a:srgbClr val="00B050"/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42" name="圆角矩形 41"/>
          <p:cNvSpPr/>
          <p:nvPr/>
        </p:nvSpPr>
        <p:spPr>
          <a:xfrm>
            <a:off x="4084955" y="3575685"/>
            <a:ext cx="511175" cy="25082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 b="1"/>
              <a:t>ReLU</a:t>
            </a:r>
            <a:endParaRPr lang="en-US" altLang="zh-CN" sz="800" b="1"/>
          </a:p>
        </p:txBody>
      </p:sp>
      <p:sp>
        <p:nvSpPr>
          <p:cNvPr id="71" name="左大括号 70"/>
          <p:cNvSpPr/>
          <p:nvPr/>
        </p:nvSpPr>
        <p:spPr>
          <a:xfrm>
            <a:off x="3623945" y="3379470"/>
            <a:ext cx="241935" cy="1181100"/>
          </a:xfrm>
          <a:prstGeom prst="leftBrace">
            <a:avLst>
              <a:gd name="adj1" fmla="val 0"/>
              <a:gd name="adj2" fmla="val 50058"/>
            </a:avLst>
          </a:prstGeom>
          <a:ln w="53975"/>
          <a:scene3d>
            <a:camera prst="orthographicFront">
              <a:rot lat="0" lon="0" rev="5400000"/>
            </a:camera>
            <a:lightRig rig="threePt" dir="t"/>
          </a:scene3d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4" name="圆角矩形 73"/>
          <p:cNvSpPr/>
          <p:nvPr/>
        </p:nvSpPr>
        <p:spPr>
          <a:xfrm>
            <a:off x="3450590" y="4324985"/>
            <a:ext cx="633730" cy="13589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 b="1"/>
              <a:t>多项式</a:t>
            </a:r>
            <a:endParaRPr lang="en-US" altLang="zh-CN" sz="800" b="1"/>
          </a:p>
        </p:txBody>
      </p:sp>
      <p:sp>
        <p:nvSpPr>
          <p:cNvPr id="81" name="圆角矩形 80"/>
          <p:cNvSpPr/>
          <p:nvPr/>
        </p:nvSpPr>
        <p:spPr>
          <a:xfrm>
            <a:off x="2012950" y="4700270"/>
            <a:ext cx="354330" cy="224155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 b="1"/>
              <a:t>X1</a:t>
            </a:r>
            <a:endParaRPr lang="en-US" altLang="zh-CN" sz="800" b="1"/>
          </a:p>
        </p:txBody>
      </p:sp>
      <p:sp>
        <p:nvSpPr>
          <p:cNvPr id="82" name="圆角矩形 81"/>
          <p:cNvSpPr/>
          <p:nvPr/>
        </p:nvSpPr>
        <p:spPr>
          <a:xfrm>
            <a:off x="2404745" y="4700270"/>
            <a:ext cx="354330" cy="224155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 b="1"/>
              <a:t>X2</a:t>
            </a:r>
            <a:endParaRPr lang="en-US" altLang="zh-CN" sz="800" b="1"/>
          </a:p>
        </p:txBody>
      </p:sp>
      <p:sp>
        <p:nvSpPr>
          <p:cNvPr id="83" name="圆角矩形 82"/>
          <p:cNvSpPr/>
          <p:nvPr/>
        </p:nvSpPr>
        <p:spPr>
          <a:xfrm>
            <a:off x="2804160" y="4700270"/>
            <a:ext cx="354330" cy="224155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 b="1"/>
              <a:t>X3</a:t>
            </a:r>
            <a:endParaRPr lang="en-US" altLang="zh-CN" sz="800" b="1"/>
          </a:p>
        </p:txBody>
      </p:sp>
      <p:sp>
        <p:nvSpPr>
          <p:cNvPr id="84" name="圆角矩形 83"/>
          <p:cNvSpPr/>
          <p:nvPr/>
        </p:nvSpPr>
        <p:spPr>
          <a:xfrm>
            <a:off x="3456940" y="4700270"/>
            <a:ext cx="354330" cy="224155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 b="1"/>
              <a:t>Xn</a:t>
            </a:r>
            <a:endParaRPr lang="en-US" altLang="zh-CN" sz="800" b="1"/>
          </a:p>
        </p:txBody>
      </p:sp>
      <p:sp>
        <p:nvSpPr>
          <p:cNvPr id="85" name="文本框 84"/>
          <p:cNvSpPr txBox="1"/>
          <p:nvPr/>
        </p:nvSpPr>
        <p:spPr>
          <a:xfrm flipH="1">
            <a:off x="3093720" y="4591685"/>
            <a:ext cx="3632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...</a:t>
            </a:r>
            <a:endParaRPr lang="en-US" altLang="zh-CN"/>
          </a:p>
        </p:txBody>
      </p:sp>
      <p:sp>
        <p:nvSpPr>
          <p:cNvPr id="94" name="菱形 93"/>
          <p:cNvSpPr/>
          <p:nvPr/>
        </p:nvSpPr>
        <p:spPr>
          <a:xfrm>
            <a:off x="2237740" y="5495925"/>
            <a:ext cx="699770" cy="384810"/>
          </a:xfrm>
          <a:prstGeom prst="diamond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800"/>
          </a:p>
        </p:txBody>
      </p:sp>
      <p:sp>
        <p:nvSpPr>
          <p:cNvPr id="95" name="文本框 94"/>
          <p:cNvSpPr txBox="1"/>
          <p:nvPr/>
        </p:nvSpPr>
        <p:spPr>
          <a:xfrm>
            <a:off x="2327275" y="5581650"/>
            <a:ext cx="521335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800" b="1">
                <a:solidFill>
                  <a:schemeClr val="bg1"/>
                </a:solidFill>
              </a:rPr>
              <a:t>Global?</a:t>
            </a:r>
            <a:endParaRPr lang="en-US" altLang="zh-CN" sz="800" b="1">
              <a:solidFill>
                <a:schemeClr val="bg1"/>
              </a:solidFill>
            </a:endParaRPr>
          </a:p>
        </p:txBody>
      </p:sp>
      <p:sp>
        <p:nvSpPr>
          <p:cNvPr id="96" name="圆角矩形 95"/>
          <p:cNvSpPr/>
          <p:nvPr/>
        </p:nvSpPr>
        <p:spPr>
          <a:xfrm>
            <a:off x="2308860" y="5050790"/>
            <a:ext cx="572770" cy="224155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 b="1"/>
              <a:t>X_local</a:t>
            </a:r>
            <a:endParaRPr lang="en-US" altLang="zh-CN" sz="800" b="1"/>
          </a:p>
        </p:txBody>
      </p:sp>
      <p:sp>
        <p:nvSpPr>
          <p:cNvPr id="104" name="圆角矩形 103"/>
          <p:cNvSpPr/>
          <p:nvPr/>
        </p:nvSpPr>
        <p:spPr>
          <a:xfrm>
            <a:off x="3253740" y="5524500"/>
            <a:ext cx="971550" cy="211455"/>
          </a:xfrm>
          <a:prstGeom prst="roundRect">
            <a:avLst/>
          </a:prstGeom>
          <a:solidFill>
            <a:srgbClr val="00B050"/>
          </a:solidFill>
          <a:ln>
            <a:solidFill>
              <a:schemeClr val="accent4">
                <a:lumMod val="40000"/>
                <a:lumOff val="60000"/>
              </a:schemeClr>
            </a:solidFill>
          </a:ln>
          <a:scene3d>
            <a:camera prst="orthographicFront">
              <a:rot lat="0" lon="0" rev="16200000"/>
            </a:camera>
            <a:lightRig rig="threePt" dir="t"/>
          </a:scene3d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 b="1"/>
              <a:t>Linear process</a:t>
            </a:r>
            <a:endParaRPr lang="en-US" altLang="zh-CN" sz="800" b="1"/>
          </a:p>
        </p:txBody>
      </p:sp>
      <p:sp>
        <p:nvSpPr>
          <p:cNvPr id="113" name="右箭头 112"/>
          <p:cNvSpPr/>
          <p:nvPr/>
        </p:nvSpPr>
        <p:spPr>
          <a:xfrm>
            <a:off x="2980055" y="5593080"/>
            <a:ext cx="199390" cy="76200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4" name="右箭头 113"/>
          <p:cNvSpPr/>
          <p:nvPr/>
        </p:nvSpPr>
        <p:spPr>
          <a:xfrm>
            <a:off x="3853180" y="5680710"/>
            <a:ext cx="467360" cy="76200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5" name="右箭头 114"/>
          <p:cNvSpPr/>
          <p:nvPr/>
        </p:nvSpPr>
        <p:spPr>
          <a:xfrm>
            <a:off x="3853180" y="5795645"/>
            <a:ext cx="467360" cy="76200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6" name="右箭头 115"/>
          <p:cNvSpPr/>
          <p:nvPr/>
        </p:nvSpPr>
        <p:spPr>
          <a:xfrm>
            <a:off x="3853180" y="5911215"/>
            <a:ext cx="467360" cy="76200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8" name="文本框 117"/>
          <p:cNvSpPr txBox="1"/>
          <p:nvPr/>
        </p:nvSpPr>
        <p:spPr>
          <a:xfrm>
            <a:off x="4052570" y="5612765"/>
            <a:ext cx="716280" cy="210820"/>
          </a:xfrm>
          <a:prstGeom prst="rect">
            <a:avLst/>
          </a:prstGeom>
          <a:noFill/>
          <a:scene3d>
            <a:camera prst="orthographicFront">
              <a:rot lat="0" lon="0" rev="16200000"/>
            </a:camera>
            <a:lightRig rig="threePt" dir="t"/>
          </a:scene3d>
        </p:spPr>
        <p:txBody>
          <a:bodyPr wrap="square" rtlCol="0">
            <a:noAutofit/>
          </a:bodyPr>
          <a:p>
            <a:r>
              <a:rPr lang="en-US" altLang="zh-CN" sz="800" b="1">
                <a:solidFill>
                  <a:schemeClr val="accent4">
                    <a:lumMod val="75000"/>
                  </a:schemeClr>
                </a:solidFill>
              </a:rPr>
              <a:t>H     Q K V</a:t>
            </a:r>
            <a:endParaRPr lang="zh-CN" altLang="en-US" sz="800" b="1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19" name="右箭头 118"/>
          <p:cNvSpPr/>
          <p:nvPr/>
        </p:nvSpPr>
        <p:spPr>
          <a:xfrm>
            <a:off x="4548505" y="5535295"/>
            <a:ext cx="157480" cy="179705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1" name="文本框 120"/>
          <p:cNvSpPr txBox="1"/>
          <p:nvPr/>
        </p:nvSpPr>
        <p:spPr>
          <a:xfrm>
            <a:off x="2893060" y="5440045"/>
            <a:ext cx="411480" cy="1606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800">
                <a:solidFill>
                  <a:srgbClr val="92D050"/>
                </a:solidFill>
                <a:sym typeface="+mn-ea"/>
              </a:rPr>
              <a:t>YES</a:t>
            </a:r>
            <a:endParaRPr lang="en-US" altLang="zh-CN" sz="800">
              <a:solidFill>
                <a:srgbClr val="92D050"/>
              </a:solidFill>
            </a:endParaRPr>
          </a:p>
        </p:txBody>
      </p:sp>
      <p:sp>
        <p:nvSpPr>
          <p:cNvPr id="131" name="圆角矩形 130"/>
          <p:cNvSpPr/>
          <p:nvPr/>
        </p:nvSpPr>
        <p:spPr>
          <a:xfrm>
            <a:off x="4705985" y="5247640"/>
            <a:ext cx="255270" cy="715010"/>
          </a:xfrm>
          <a:prstGeom prst="roundRect">
            <a:avLst>
              <a:gd name="adj" fmla="val 8881"/>
            </a:avLst>
          </a:prstGeom>
          <a:solidFill>
            <a:schemeClr val="accent4">
              <a:lumMod val="60000"/>
              <a:lumOff val="40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3" name="下箭头 132"/>
          <p:cNvSpPr/>
          <p:nvPr/>
        </p:nvSpPr>
        <p:spPr>
          <a:xfrm>
            <a:off x="2549525" y="5314315"/>
            <a:ext cx="76200" cy="169545"/>
          </a:xfrm>
          <a:prstGeom prst="downArrow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34" name="文本框 133"/>
          <p:cNvSpPr txBox="1"/>
          <p:nvPr/>
        </p:nvSpPr>
        <p:spPr>
          <a:xfrm>
            <a:off x="4462780" y="5535295"/>
            <a:ext cx="1895475" cy="238760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>
                <a:rot lat="0" lon="0" rev="16200000"/>
              </a:camera>
              <a:lightRig rig="threePt" dir="t"/>
            </a:scene3d>
          </a:bodyPr>
          <a:p>
            <a:r>
              <a:rPr lang="en-US" altLang="zh-CN" sz="800" b="1">
                <a:solidFill>
                  <a:schemeClr val="bg1"/>
                </a:solidFill>
              </a:rPr>
              <a:t>Attn </a:t>
            </a:r>
            <a:r>
              <a:rPr lang="zh-CN" altLang="en-US" sz="800" b="1">
                <a:solidFill>
                  <a:schemeClr val="bg1"/>
                </a:solidFill>
              </a:rPr>
              <a:t>（</a:t>
            </a:r>
            <a:r>
              <a:rPr lang="en-US" altLang="zh-CN" sz="800" b="1">
                <a:solidFill>
                  <a:schemeClr val="bg1"/>
                </a:solidFill>
              </a:rPr>
              <a:t>Q=K</a:t>
            </a:r>
            <a:r>
              <a:rPr lang="zh-CN" altLang="en-US" sz="800" b="1">
                <a:solidFill>
                  <a:schemeClr val="bg1"/>
                </a:solidFill>
              </a:rPr>
              <a:t>）</a:t>
            </a:r>
            <a:endParaRPr lang="zh-CN" altLang="en-US" sz="800" b="1">
              <a:solidFill>
                <a:schemeClr val="bg1"/>
              </a:solidFill>
            </a:endParaRPr>
          </a:p>
        </p:txBody>
      </p:sp>
      <p:sp>
        <p:nvSpPr>
          <p:cNvPr id="135" name="圆角矩形 134"/>
          <p:cNvSpPr/>
          <p:nvPr/>
        </p:nvSpPr>
        <p:spPr>
          <a:xfrm>
            <a:off x="5148580" y="5440045"/>
            <a:ext cx="511175" cy="25082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000">
                <a:sym typeface="+mn-ea"/>
              </a:rPr>
              <a:t>Gate</a:t>
            </a:r>
            <a:endParaRPr lang="zh-CN" altLang="en-US" sz="1000">
              <a:sym typeface="+mn-ea"/>
            </a:endParaRPr>
          </a:p>
        </p:txBody>
      </p:sp>
      <p:sp>
        <p:nvSpPr>
          <p:cNvPr id="137" name="右箭头 136"/>
          <p:cNvSpPr/>
          <p:nvPr/>
        </p:nvSpPr>
        <p:spPr>
          <a:xfrm>
            <a:off x="4969510" y="5508625"/>
            <a:ext cx="157480" cy="179705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8" name="圆角矩形 137"/>
          <p:cNvSpPr/>
          <p:nvPr/>
        </p:nvSpPr>
        <p:spPr>
          <a:xfrm>
            <a:off x="5453380" y="378460"/>
            <a:ext cx="4529455" cy="361950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/>
              <a:t>Context</a:t>
            </a:r>
            <a:endParaRPr lang="zh-CN" altLang="en-US" sz="1200"/>
          </a:p>
        </p:txBody>
      </p:sp>
      <p:sp>
        <p:nvSpPr>
          <p:cNvPr id="166" name="圆角矩形 165"/>
          <p:cNvSpPr/>
          <p:nvPr/>
        </p:nvSpPr>
        <p:spPr>
          <a:xfrm>
            <a:off x="2894330" y="5516245"/>
            <a:ext cx="909955" cy="257810"/>
          </a:xfrm>
          <a:prstGeom prst="roundRect">
            <a:avLst/>
          </a:prstGeom>
          <a:solidFill>
            <a:srgbClr val="00B050"/>
          </a:solidFill>
          <a:ln>
            <a:solidFill>
              <a:schemeClr val="accent4">
                <a:lumMod val="40000"/>
                <a:lumOff val="60000"/>
              </a:schemeClr>
            </a:solidFill>
          </a:ln>
          <a:scene3d>
            <a:camera prst="orthographicFront">
              <a:rot lat="0" lon="0" rev="16200000"/>
            </a:camera>
            <a:lightRig rig="threePt" dir="t"/>
          </a:scene3d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 b="1"/>
              <a:t>LayerNorm</a:t>
            </a:r>
            <a:endParaRPr lang="en-US" altLang="zh-CN" sz="800" b="1"/>
          </a:p>
        </p:txBody>
      </p:sp>
      <p:sp>
        <p:nvSpPr>
          <p:cNvPr id="2" name="下箭头 1"/>
          <p:cNvSpPr/>
          <p:nvPr/>
        </p:nvSpPr>
        <p:spPr>
          <a:xfrm>
            <a:off x="4320540" y="694690"/>
            <a:ext cx="75565" cy="75565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7" name="直角上箭头 86"/>
          <p:cNvSpPr/>
          <p:nvPr/>
        </p:nvSpPr>
        <p:spPr>
          <a:xfrm>
            <a:off x="2747010" y="4401820"/>
            <a:ext cx="682625" cy="182245"/>
          </a:xfrm>
          <a:prstGeom prst="bentUpArrow">
            <a:avLst/>
          </a:prstGeom>
          <a:scene3d>
            <a:camera prst="orthographicFront">
              <a:rot lat="0" lon="0" rev="10800000"/>
            </a:camera>
            <a:lightRig rig="threePt" dir="t"/>
          </a:scene3d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9" name="圆角矩形 98"/>
          <p:cNvSpPr/>
          <p:nvPr/>
        </p:nvSpPr>
        <p:spPr>
          <a:xfrm>
            <a:off x="7792720" y="2383790"/>
            <a:ext cx="467995" cy="68199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 b="1"/>
              <a:t>Gate</a:t>
            </a:r>
            <a:endParaRPr lang="en-US" altLang="zh-CN" sz="800" b="1"/>
          </a:p>
        </p:txBody>
      </p:sp>
      <p:sp>
        <p:nvSpPr>
          <p:cNvPr id="157" name="圆角矩形 156"/>
          <p:cNvSpPr/>
          <p:nvPr/>
        </p:nvSpPr>
        <p:spPr>
          <a:xfrm>
            <a:off x="7745730" y="3297555"/>
            <a:ext cx="572770" cy="224155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 b="1"/>
              <a:t>X_local</a:t>
            </a:r>
            <a:endParaRPr lang="en-US" altLang="zh-CN" sz="800" b="1"/>
          </a:p>
        </p:txBody>
      </p:sp>
      <p:sp>
        <p:nvSpPr>
          <p:cNvPr id="160" name="菱形 159"/>
          <p:cNvSpPr/>
          <p:nvPr/>
        </p:nvSpPr>
        <p:spPr>
          <a:xfrm>
            <a:off x="7703185" y="3672205"/>
            <a:ext cx="699770" cy="384810"/>
          </a:xfrm>
          <a:prstGeom prst="diamond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800"/>
          </a:p>
        </p:txBody>
      </p:sp>
      <p:sp>
        <p:nvSpPr>
          <p:cNvPr id="161" name="文本框 160"/>
          <p:cNvSpPr txBox="1"/>
          <p:nvPr/>
        </p:nvSpPr>
        <p:spPr>
          <a:xfrm>
            <a:off x="7792720" y="3757930"/>
            <a:ext cx="521335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800" b="1">
                <a:solidFill>
                  <a:schemeClr val="bg1"/>
                </a:solidFill>
              </a:rPr>
              <a:t>Global?</a:t>
            </a:r>
            <a:endParaRPr lang="en-US" altLang="zh-CN" sz="800" b="1">
              <a:solidFill>
                <a:schemeClr val="bg1"/>
              </a:solidFill>
            </a:endParaRPr>
          </a:p>
        </p:txBody>
      </p:sp>
      <p:sp>
        <p:nvSpPr>
          <p:cNvPr id="162" name="右箭头 161"/>
          <p:cNvSpPr/>
          <p:nvPr/>
        </p:nvSpPr>
        <p:spPr>
          <a:xfrm>
            <a:off x="7447280" y="3836035"/>
            <a:ext cx="199390" cy="76200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scene3d>
            <a:camera prst="orthographicFront">
              <a:rot lat="0" lon="0" rev="10800000"/>
            </a:camera>
            <a:lightRig rig="threePt" dir="t"/>
          </a:scene3d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3" name="下箭头 162"/>
          <p:cNvSpPr/>
          <p:nvPr/>
        </p:nvSpPr>
        <p:spPr>
          <a:xfrm>
            <a:off x="8014970" y="4091305"/>
            <a:ext cx="76200" cy="106680"/>
          </a:xfrm>
          <a:prstGeom prst="downArrow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76" name="下箭头 175"/>
          <p:cNvSpPr/>
          <p:nvPr/>
        </p:nvSpPr>
        <p:spPr>
          <a:xfrm>
            <a:off x="8014970" y="3553460"/>
            <a:ext cx="76200" cy="106680"/>
          </a:xfrm>
          <a:prstGeom prst="downArrow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93" name="下箭头 192"/>
          <p:cNvSpPr/>
          <p:nvPr/>
        </p:nvSpPr>
        <p:spPr>
          <a:xfrm>
            <a:off x="8014970" y="3105150"/>
            <a:ext cx="76200" cy="106680"/>
          </a:xfrm>
          <a:prstGeom prst="downArrow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94" name="文本框 193"/>
          <p:cNvSpPr txBox="1"/>
          <p:nvPr/>
        </p:nvSpPr>
        <p:spPr>
          <a:xfrm>
            <a:off x="8138795" y="4037330"/>
            <a:ext cx="411480" cy="1606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800">
                <a:solidFill>
                  <a:srgbClr val="92D050"/>
                </a:solidFill>
                <a:sym typeface="+mn-ea"/>
              </a:rPr>
              <a:t>YES</a:t>
            </a:r>
            <a:endParaRPr lang="en-US" altLang="zh-CN" sz="800">
              <a:solidFill>
                <a:srgbClr val="92D050"/>
              </a:solidFill>
            </a:endParaRPr>
          </a:p>
        </p:txBody>
      </p:sp>
      <p:sp>
        <p:nvSpPr>
          <p:cNvPr id="198" name="文本框 197"/>
          <p:cNvSpPr txBox="1"/>
          <p:nvPr/>
        </p:nvSpPr>
        <p:spPr>
          <a:xfrm>
            <a:off x="3565525" y="461010"/>
            <a:ext cx="169037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olidFill>
                  <a:schemeClr val="lt1"/>
                </a:solidFill>
              </a:rPr>
              <a:t>Remove Self Loops</a:t>
            </a:r>
            <a:endParaRPr lang="en-US" altLang="zh-CN" sz="1200">
              <a:solidFill>
                <a:schemeClr val="lt1"/>
              </a:solidFill>
            </a:endParaRPr>
          </a:p>
        </p:txBody>
      </p:sp>
      <p:sp>
        <p:nvSpPr>
          <p:cNvPr id="167" name="圆角矩形 166"/>
          <p:cNvSpPr/>
          <p:nvPr/>
        </p:nvSpPr>
        <p:spPr>
          <a:xfrm>
            <a:off x="7722870" y="4267200"/>
            <a:ext cx="612775" cy="21145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800" b="1"/>
          </a:p>
        </p:txBody>
      </p:sp>
      <p:sp>
        <p:nvSpPr>
          <p:cNvPr id="168" name="椭圆 167"/>
          <p:cNvSpPr/>
          <p:nvPr/>
        </p:nvSpPr>
        <p:spPr>
          <a:xfrm>
            <a:off x="7795895" y="4335145"/>
            <a:ext cx="75565" cy="75565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9" name="椭圆 168"/>
          <p:cNvSpPr/>
          <p:nvPr/>
        </p:nvSpPr>
        <p:spPr>
          <a:xfrm>
            <a:off x="7922895" y="4335145"/>
            <a:ext cx="75565" cy="75565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0" name="椭圆 169"/>
          <p:cNvSpPr/>
          <p:nvPr/>
        </p:nvSpPr>
        <p:spPr>
          <a:xfrm>
            <a:off x="8049895" y="4335145"/>
            <a:ext cx="75565" cy="75565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1" name="椭圆 170"/>
          <p:cNvSpPr/>
          <p:nvPr/>
        </p:nvSpPr>
        <p:spPr>
          <a:xfrm>
            <a:off x="8176895" y="4335145"/>
            <a:ext cx="75565" cy="75565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2" name="文本框 171"/>
          <p:cNvSpPr txBox="1"/>
          <p:nvPr/>
        </p:nvSpPr>
        <p:spPr>
          <a:xfrm>
            <a:off x="8352790" y="4267835"/>
            <a:ext cx="516890" cy="2108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800" b="1">
                <a:solidFill>
                  <a:schemeClr val="accent4">
                    <a:lumMod val="75000"/>
                  </a:schemeClr>
                </a:solidFill>
              </a:rPr>
              <a:t>Linear</a:t>
            </a:r>
            <a:endParaRPr lang="zh-CN" altLang="en-US" sz="800" b="1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19" name="圆角矩形 218"/>
          <p:cNvSpPr/>
          <p:nvPr/>
        </p:nvSpPr>
        <p:spPr>
          <a:xfrm>
            <a:off x="7077075" y="4478655"/>
            <a:ext cx="511175" cy="25082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000">
                <a:sym typeface="+mn-ea"/>
              </a:rPr>
              <a:t>Gate</a:t>
            </a:r>
            <a:endParaRPr lang="zh-CN" altLang="en-US" sz="1000">
              <a:sym typeface="+mn-ea"/>
            </a:endParaRPr>
          </a:p>
        </p:txBody>
      </p:sp>
      <p:sp>
        <p:nvSpPr>
          <p:cNvPr id="223" name="圆角矩形 222"/>
          <p:cNvSpPr/>
          <p:nvPr/>
        </p:nvSpPr>
        <p:spPr>
          <a:xfrm>
            <a:off x="3028315" y="3578860"/>
            <a:ext cx="511175" cy="25082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 b="1"/>
              <a:t>ReLU</a:t>
            </a:r>
            <a:endParaRPr lang="en-US" altLang="zh-CN" sz="800" b="1"/>
          </a:p>
        </p:txBody>
      </p:sp>
      <p:sp>
        <p:nvSpPr>
          <p:cNvPr id="230" name="下箭头 229"/>
          <p:cNvSpPr/>
          <p:nvPr/>
        </p:nvSpPr>
        <p:spPr>
          <a:xfrm>
            <a:off x="3248025" y="2059305"/>
            <a:ext cx="142240" cy="124460"/>
          </a:xfrm>
          <a:prstGeom prst="downArrow">
            <a:avLst/>
          </a:prstGeom>
          <a:solidFill>
            <a:srgbClr val="00B050"/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31" name="下箭头 230"/>
          <p:cNvSpPr/>
          <p:nvPr/>
        </p:nvSpPr>
        <p:spPr>
          <a:xfrm>
            <a:off x="3253740" y="3379470"/>
            <a:ext cx="142240" cy="124460"/>
          </a:xfrm>
          <a:prstGeom prst="downArrow">
            <a:avLst/>
          </a:prstGeom>
          <a:solidFill>
            <a:srgbClr val="00B050"/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79" name="圆角矩形 78"/>
          <p:cNvSpPr/>
          <p:nvPr/>
        </p:nvSpPr>
        <p:spPr>
          <a:xfrm>
            <a:off x="7588250" y="2082165"/>
            <a:ext cx="765175" cy="23495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 b="1"/>
              <a:t>LayerNorm</a:t>
            </a:r>
            <a:endParaRPr lang="en-US" altLang="zh-CN" sz="800" b="1"/>
          </a:p>
        </p:txBody>
      </p:sp>
      <p:sp>
        <p:nvSpPr>
          <p:cNvPr id="281" name="圆角矩形 280"/>
          <p:cNvSpPr/>
          <p:nvPr/>
        </p:nvSpPr>
        <p:spPr>
          <a:xfrm>
            <a:off x="3897630" y="5342255"/>
            <a:ext cx="472440" cy="208915"/>
          </a:xfrm>
          <a:prstGeom prst="roundRect">
            <a:avLst/>
          </a:prstGeom>
          <a:solidFill>
            <a:srgbClr val="00B050"/>
          </a:solidFill>
          <a:ln>
            <a:solidFill>
              <a:schemeClr val="accent4">
                <a:lumMod val="40000"/>
                <a:lumOff val="60000"/>
              </a:schemeClr>
            </a:solidFill>
          </a:ln>
          <a:scene3d>
            <a:camera prst="orthographicFront">
              <a:rot lat="0" lon="0" rev="16200000"/>
            </a:camera>
            <a:lightRig rig="threePt" dir="t"/>
          </a:scene3d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 b="1"/>
              <a:t>ReLU</a:t>
            </a:r>
            <a:endParaRPr lang="en-US" altLang="zh-CN" sz="800" b="1"/>
          </a:p>
        </p:txBody>
      </p:sp>
      <p:sp>
        <p:nvSpPr>
          <p:cNvPr id="283" name="右箭头 282"/>
          <p:cNvSpPr/>
          <p:nvPr/>
        </p:nvSpPr>
        <p:spPr>
          <a:xfrm>
            <a:off x="3498215" y="5593080"/>
            <a:ext cx="104775" cy="7620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4" name="右箭头 283"/>
          <p:cNvSpPr/>
          <p:nvPr/>
        </p:nvSpPr>
        <p:spPr>
          <a:xfrm>
            <a:off x="3857625" y="5432425"/>
            <a:ext cx="110490" cy="7620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1" name="圆角矩形 290"/>
          <p:cNvSpPr/>
          <p:nvPr/>
        </p:nvSpPr>
        <p:spPr>
          <a:xfrm>
            <a:off x="5137150" y="1625600"/>
            <a:ext cx="758825" cy="23495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800">
                <a:sym typeface="+mn-ea"/>
              </a:rPr>
              <a:t>LayerNorm</a:t>
            </a:r>
            <a:endParaRPr lang="en-US" altLang="zh-CN" sz="800">
              <a:sym typeface="+mn-ea"/>
            </a:endParaRPr>
          </a:p>
        </p:txBody>
      </p:sp>
      <p:sp>
        <p:nvSpPr>
          <p:cNvPr id="26" name="圆角矩形 25"/>
          <p:cNvSpPr/>
          <p:nvPr/>
        </p:nvSpPr>
        <p:spPr>
          <a:xfrm>
            <a:off x="6303645" y="2076450"/>
            <a:ext cx="1092200" cy="23241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800">
                <a:sym typeface="+mn-ea"/>
              </a:rPr>
              <a:t>update</a:t>
            </a:r>
            <a:endParaRPr lang="en-US" altLang="zh-CN" sz="800">
              <a:sym typeface="+mn-ea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5952490" y="1645920"/>
            <a:ext cx="551815" cy="23495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800">
                <a:sym typeface="+mn-ea"/>
              </a:rPr>
              <a:t>Filter</a:t>
            </a:r>
            <a:endParaRPr lang="en-US" altLang="zh-CN" sz="800">
              <a:sym typeface="+mn-ea"/>
            </a:endParaRPr>
          </a:p>
        </p:txBody>
      </p:sp>
      <p:sp>
        <p:nvSpPr>
          <p:cNvPr id="68" name="圆角矩形 67"/>
          <p:cNvSpPr/>
          <p:nvPr/>
        </p:nvSpPr>
        <p:spPr>
          <a:xfrm>
            <a:off x="8716010" y="1553210"/>
            <a:ext cx="354330" cy="224155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 b="1"/>
              <a:t>X1</a:t>
            </a:r>
            <a:endParaRPr lang="en-US" altLang="zh-CN" sz="800" b="1"/>
          </a:p>
        </p:txBody>
      </p:sp>
      <p:sp>
        <p:nvSpPr>
          <p:cNvPr id="69" name="圆角矩形 68"/>
          <p:cNvSpPr/>
          <p:nvPr/>
        </p:nvSpPr>
        <p:spPr>
          <a:xfrm>
            <a:off x="8716010" y="1821815"/>
            <a:ext cx="354330" cy="224155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 b="1"/>
              <a:t>X2</a:t>
            </a:r>
            <a:endParaRPr lang="en-US" altLang="zh-CN" sz="800" b="1"/>
          </a:p>
        </p:txBody>
      </p:sp>
      <p:sp>
        <p:nvSpPr>
          <p:cNvPr id="70" name="圆角矩形 69"/>
          <p:cNvSpPr/>
          <p:nvPr/>
        </p:nvSpPr>
        <p:spPr>
          <a:xfrm>
            <a:off x="8716010" y="2084070"/>
            <a:ext cx="354330" cy="224155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 b="1"/>
              <a:t>X3</a:t>
            </a:r>
            <a:endParaRPr lang="en-US" altLang="zh-CN" sz="800" b="1"/>
          </a:p>
        </p:txBody>
      </p:sp>
      <p:sp>
        <p:nvSpPr>
          <p:cNvPr id="72" name="圆角矩形 71"/>
          <p:cNvSpPr/>
          <p:nvPr/>
        </p:nvSpPr>
        <p:spPr>
          <a:xfrm>
            <a:off x="8716010" y="2510155"/>
            <a:ext cx="354330" cy="224155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 b="1"/>
              <a:t>Xn</a:t>
            </a:r>
            <a:endParaRPr lang="en-US" altLang="zh-CN" sz="800" b="1"/>
          </a:p>
        </p:txBody>
      </p:sp>
      <p:sp>
        <p:nvSpPr>
          <p:cNvPr id="110" name="上箭头 109"/>
          <p:cNvSpPr/>
          <p:nvPr/>
        </p:nvSpPr>
        <p:spPr>
          <a:xfrm>
            <a:off x="6045835" y="1880870"/>
            <a:ext cx="151765" cy="389890"/>
          </a:xfrm>
          <a:prstGeom prst="upArrow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40" name="矩形 139"/>
          <p:cNvSpPr/>
          <p:nvPr/>
        </p:nvSpPr>
        <p:spPr>
          <a:xfrm>
            <a:off x="7023735" y="1482090"/>
            <a:ext cx="440055" cy="762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41" name="矩形 140"/>
          <p:cNvSpPr/>
          <p:nvPr/>
        </p:nvSpPr>
        <p:spPr>
          <a:xfrm>
            <a:off x="7023735" y="1600835"/>
            <a:ext cx="440055" cy="762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42" name="矩形 141"/>
          <p:cNvSpPr/>
          <p:nvPr/>
        </p:nvSpPr>
        <p:spPr>
          <a:xfrm>
            <a:off x="7023735" y="1715770"/>
            <a:ext cx="440055" cy="762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43" name="圆角矩形 142"/>
          <p:cNvSpPr/>
          <p:nvPr/>
        </p:nvSpPr>
        <p:spPr>
          <a:xfrm>
            <a:off x="7173595" y="1452880"/>
            <a:ext cx="140335" cy="372110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/>
              <a:t>MLP</a:t>
            </a:r>
            <a:endParaRPr lang="en-US" altLang="zh-CN" sz="800"/>
          </a:p>
        </p:txBody>
      </p:sp>
      <p:sp>
        <p:nvSpPr>
          <p:cNvPr id="146" name="下箭头 145"/>
          <p:cNvSpPr/>
          <p:nvPr/>
        </p:nvSpPr>
        <p:spPr>
          <a:xfrm>
            <a:off x="5443855" y="1304290"/>
            <a:ext cx="215900" cy="255270"/>
          </a:xfrm>
          <a:prstGeom prst="downArrow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74" name="矩形 173"/>
          <p:cNvSpPr/>
          <p:nvPr/>
        </p:nvSpPr>
        <p:spPr>
          <a:xfrm>
            <a:off x="8244840" y="1506855"/>
            <a:ext cx="440055" cy="76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75" name="矩形 174"/>
          <p:cNvSpPr/>
          <p:nvPr/>
        </p:nvSpPr>
        <p:spPr>
          <a:xfrm>
            <a:off x="8244840" y="1625600"/>
            <a:ext cx="440055" cy="76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90" name="矩形 189"/>
          <p:cNvSpPr/>
          <p:nvPr/>
        </p:nvSpPr>
        <p:spPr>
          <a:xfrm>
            <a:off x="8244840" y="1740535"/>
            <a:ext cx="440055" cy="76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91" name="圆角矩形 190"/>
          <p:cNvSpPr/>
          <p:nvPr/>
        </p:nvSpPr>
        <p:spPr>
          <a:xfrm>
            <a:off x="8394700" y="1477645"/>
            <a:ext cx="140335" cy="37211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/>
              <a:t>MLP</a:t>
            </a:r>
            <a:endParaRPr lang="en-US" altLang="zh-CN" sz="800"/>
          </a:p>
        </p:txBody>
      </p:sp>
      <p:sp>
        <p:nvSpPr>
          <p:cNvPr id="195" name="下箭头 194"/>
          <p:cNvSpPr/>
          <p:nvPr/>
        </p:nvSpPr>
        <p:spPr>
          <a:xfrm flipH="1">
            <a:off x="8394700" y="1884045"/>
            <a:ext cx="139700" cy="359410"/>
          </a:xfrm>
          <a:prstGeom prst="downArrow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27" name="右箭头 226"/>
          <p:cNvSpPr/>
          <p:nvPr/>
        </p:nvSpPr>
        <p:spPr>
          <a:xfrm>
            <a:off x="9149080" y="2009775"/>
            <a:ext cx="322580" cy="133350"/>
          </a:xfrm>
          <a:prstGeom prst="rightArrow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28" name="右箭头 227"/>
          <p:cNvSpPr/>
          <p:nvPr/>
        </p:nvSpPr>
        <p:spPr>
          <a:xfrm>
            <a:off x="8402320" y="2161540"/>
            <a:ext cx="282575" cy="104775"/>
          </a:xfrm>
          <a:prstGeom prst="rightArrow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9" name="右箭头 228"/>
          <p:cNvSpPr/>
          <p:nvPr/>
        </p:nvSpPr>
        <p:spPr>
          <a:xfrm>
            <a:off x="5244465" y="406400"/>
            <a:ext cx="198000" cy="216000"/>
          </a:xfrm>
          <a:prstGeom prst="rightArrow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38" name="下箭头 237"/>
          <p:cNvSpPr/>
          <p:nvPr/>
        </p:nvSpPr>
        <p:spPr>
          <a:xfrm>
            <a:off x="7173595" y="780415"/>
            <a:ext cx="141605" cy="626745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40" name="下箭头 239"/>
          <p:cNvSpPr/>
          <p:nvPr/>
        </p:nvSpPr>
        <p:spPr>
          <a:xfrm>
            <a:off x="5443855" y="1876425"/>
            <a:ext cx="171450" cy="389255"/>
          </a:xfrm>
          <a:prstGeom prst="downArrow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44" name="下箭头 243"/>
          <p:cNvSpPr/>
          <p:nvPr/>
        </p:nvSpPr>
        <p:spPr>
          <a:xfrm>
            <a:off x="6068695" y="1304290"/>
            <a:ext cx="191135" cy="255270"/>
          </a:xfrm>
          <a:prstGeom prst="downArrow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45" name="下箭头 244"/>
          <p:cNvSpPr/>
          <p:nvPr/>
        </p:nvSpPr>
        <p:spPr>
          <a:xfrm>
            <a:off x="6709410" y="1304290"/>
            <a:ext cx="177165" cy="748030"/>
          </a:xfrm>
          <a:prstGeom prst="downArrow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46" name="下箭头 245"/>
          <p:cNvSpPr/>
          <p:nvPr/>
        </p:nvSpPr>
        <p:spPr>
          <a:xfrm>
            <a:off x="7165975" y="1876425"/>
            <a:ext cx="135255" cy="134620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47" name="右箭头 246"/>
          <p:cNvSpPr/>
          <p:nvPr/>
        </p:nvSpPr>
        <p:spPr>
          <a:xfrm>
            <a:off x="7423150" y="2149475"/>
            <a:ext cx="143510" cy="94615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50" name="下箭头 249"/>
          <p:cNvSpPr/>
          <p:nvPr/>
        </p:nvSpPr>
        <p:spPr>
          <a:xfrm>
            <a:off x="8423910" y="814705"/>
            <a:ext cx="111125" cy="603885"/>
          </a:xfrm>
          <a:prstGeom prst="downArrow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55" name="下箭头 254"/>
          <p:cNvSpPr/>
          <p:nvPr/>
        </p:nvSpPr>
        <p:spPr>
          <a:xfrm>
            <a:off x="8014970" y="4504690"/>
            <a:ext cx="76200" cy="106680"/>
          </a:xfrm>
          <a:prstGeom prst="downArrow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56" name="文本框 255"/>
          <p:cNvSpPr txBox="1"/>
          <p:nvPr/>
        </p:nvSpPr>
        <p:spPr>
          <a:xfrm>
            <a:off x="7814310" y="4611370"/>
            <a:ext cx="588645" cy="2044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buClrTx/>
              <a:buSzTx/>
              <a:buFontTx/>
            </a:pPr>
            <a:r>
              <a:rPr lang="en-US" altLang="zh-CN" sz="800" b="1">
                <a:solidFill>
                  <a:schemeClr val="accent4">
                    <a:lumMod val="75000"/>
                  </a:schemeClr>
                </a:solidFill>
              </a:rPr>
              <a:t>Q K V</a:t>
            </a:r>
            <a:endParaRPr lang="en-US" altLang="zh-CN" sz="800" b="1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57" name="下箭头 256"/>
          <p:cNvSpPr/>
          <p:nvPr/>
        </p:nvSpPr>
        <p:spPr>
          <a:xfrm>
            <a:off x="8104505" y="4504690"/>
            <a:ext cx="76200" cy="106680"/>
          </a:xfrm>
          <a:prstGeom prst="downArrow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58" name="下箭头 257"/>
          <p:cNvSpPr/>
          <p:nvPr/>
        </p:nvSpPr>
        <p:spPr>
          <a:xfrm>
            <a:off x="7915275" y="4504690"/>
            <a:ext cx="76200" cy="106680"/>
          </a:xfrm>
          <a:prstGeom prst="downArrow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59" name="下箭头 258"/>
          <p:cNvSpPr/>
          <p:nvPr/>
        </p:nvSpPr>
        <p:spPr>
          <a:xfrm>
            <a:off x="8001635" y="4829175"/>
            <a:ext cx="76200" cy="106680"/>
          </a:xfrm>
          <a:prstGeom prst="downArrow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60" name="下箭头 259"/>
          <p:cNvSpPr/>
          <p:nvPr/>
        </p:nvSpPr>
        <p:spPr>
          <a:xfrm>
            <a:off x="8091170" y="4829175"/>
            <a:ext cx="76200" cy="106680"/>
          </a:xfrm>
          <a:prstGeom prst="downArrow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61" name="下箭头 260"/>
          <p:cNvSpPr/>
          <p:nvPr/>
        </p:nvSpPr>
        <p:spPr>
          <a:xfrm>
            <a:off x="7901940" y="4829175"/>
            <a:ext cx="76200" cy="106680"/>
          </a:xfrm>
          <a:prstGeom prst="downArrow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63" name="文本框 262"/>
          <p:cNvSpPr txBox="1"/>
          <p:nvPr/>
        </p:nvSpPr>
        <p:spPr>
          <a:xfrm>
            <a:off x="7814310" y="4935855"/>
            <a:ext cx="588645" cy="2044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buClrTx/>
              <a:buSzTx/>
              <a:buFontTx/>
            </a:pPr>
            <a:r>
              <a:rPr lang="en-US" altLang="zh-CN" sz="800" b="1">
                <a:solidFill>
                  <a:schemeClr val="accent4">
                    <a:lumMod val="75000"/>
                  </a:schemeClr>
                </a:solidFill>
              </a:rPr>
              <a:t>Q* K* V</a:t>
            </a:r>
            <a:endParaRPr lang="en-US" altLang="zh-CN" sz="800" b="1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68" name="圆角矩形 267"/>
          <p:cNvSpPr/>
          <p:nvPr/>
        </p:nvSpPr>
        <p:spPr>
          <a:xfrm>
            <a:off x="7161530" y="5419090"/>
            <a:ext cx="1005840" cy="25019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000">
                <a:sym typeface="+mn-ea"/>
              </a:rPr>
              <a:t>Attn</a:t>
            </a:r>
            <a:r>
              <a:rPr lang="zh-CN" altLang="en-US" sz="1000">
                <a:sym typeface="+mn-ea"/>
              </a:rPr>
              <a:t>（</a:t>
            </a:r>
            <a:r>
              <a:rPr lang="en-US" altLang="zh-CN" sz="1000">
                <a:sym typeface="+mn-ea"/>
              </a:rPr>
              <a:t>Q≠K</a:t>
            </a:r>
            <a:r>
              <a:rPr lang="zh-CN" altLang="en-US" sz="1000">
                <a:sym typeface="+mn-ea"/>
              </a:rPr>
              <a:t>）</a:t>
            </a:r>
            <a:endParaRPr lang="zh-CN" altLang="en-US" sz="1000">
              <a:sym typeface="+mn-ea"/>
            </a:endParaRPr>
          </a:p>
        </p:txBody>
      </p:sp>
      <p:sp>
        <p:nvSpPr>
          <p:cNvPr id="276" name="右箭头 275"/>
          <p:cNvSpPr/>
          <p:nvPr/>
        </p:nvSpPr>
        <p:spPr>
          <a:xfrm>
            <a:off x="7503795" y="5171440"/>
            <a:ext cx="199390" cy="76200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scene3d>
            <a:camera prst="orthographicFront">
              <a:rot lat="0" lon="0" rev="10800000"/>
            </a:camera>
            <a:lightRig rig="threePt" dir="t"/>
          </a:scene3d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3" name="圆角矩形 302"/>
          <p:cNvSpPr/>
          <p:nvPr/>
        </p:nvSpPr>
        <p:spPr>
          <a:xfrm>
            <a:off x="5480050" y="993140"/>
            <a:ext cx="1406525" cy="270510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/>
              <a:t>Feature</a:t>
            </a:r>
            <a:endParaRPr lang="zh-CN" altLang="en-US" sz="1200"/>
          </a:p>
        </p:txBody>
      </p:sp>
      <p:sp>
        <p:nvSpPr>
          <p:cNvPr id="304" name="右箭头 303"/>
          <p:cNvSpPr/>
          <p:nvPr/>
        </p:nvSpPr>
        <p:spPr>
          <a:xfrm>
            <a:off x="6069965" y="789940"/>
            <a:ext cx="216000" cy="153670"/>
          </a:xfrm>
          <a:prstGeom prst="rightArrow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  <a:scene3d>
            <a:camera prst="orthographicFront">
              <a:rot lat="0" lon="0" rev="16200000"/>
            </a:camera>
            <a:lightRig rig="threePt" dir="t"/>
          </a:scene3d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05" name="椭圆 304"/>
          <p:cNvSpPr/>
          <p:nvPr/>
        </p:nvSpPr>
        <p:spPr>
          <a:xfrm>
            <a:off x="5398770" y="2564130"/>
            <a:ext cx="177800" cy="17462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06" name="椭圆 305"/>
          <p:cNvSpPr/>
          <p:nvPr/>
        </p:nvSpPr>
        <p:spPr>
          <a:xfrm>
            <a:off x="5535930" y="2336800"/>
            <a:ext cx="177800" cy="17462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07" name="椭圆 306"/>
          <p:cNvSpPr/>
          <p:nvPr/>
        </p:nvSpPr>
        <p:spPr>
          <a:xfrm>
            <a:off x="5752465" y="2221865"/>
            <a:ext cx="177800" cy="17462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08" name="椭圆 307"/>
          <p:cNvSpPr/>
          <p:nvPr/>
        </p:nvSpPr>
        <p:spPr>
          <a:xfrm>
            <a:off x="6082030" y="2571115"/>
            <a:ext cx="177800" cy="17462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09" name="椭圆 308"/>
          <p:cNvSpPr/>
          <p:nvPr/>
        </p:nvSpPr>
        <p:spPr>
          <a:xfrm>
            <a:off x="5952490" y="2345055"/>
            <a:ext cx="177800" cy="17462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10" name="椭圆 309"/>
          <p:cNvSpPr/>
          <p:nvPr/>
        </p:nvSpPr>
        <p:spPr>
          <a:xfrm>
            <a:off x="5752465" y="2571115"/>
            <a:ext cx="177800" cy="174625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cxnSp>
        <p:nvCxnSpPr>
          <p:cNvPr id="311" name="直接连接符 310"/>
          <p:cNvCxnSpPr>
            <a:stCxn id="305" idx="6"/>
            <a:endCxn id="310" idx="2"/>
          </p:cNvCxnSpPr>
          <p:nvPr/>
        </p:nvCxnSpPr>
        <p:spPr>
          <a:xfrm>
            <a:off x="5576570" y="2651760"/>
            <a:ext cx="175895" cy="6985"/>
          </a:xfrm>
          <a:prstGeom prst="line">
            <a:avLst/>
          </a:prstGeom>
          <a:ln w="6350" cmpd="sng">
            <a:solidFill>
              <a:schemeClr val="tx1"/>
            </a:solidFill>
            <a:prstDash val="solid"/>
            <a:tailEnd type="triangle" w="sm" len="sm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2" name="直接连接符 311"/>
          <p:cNvCxnSpPr>
            <a:stCxn id="306" idx="5"/>
            <a:endCxn id="310" idx="1"/>
          </p:cNvCxnSpPr>
          <p:nvPr/>
        </p:nvCxnSpPr>
        <p:spPr>
          <a:xfrm>
            <a:off x="5687695" y="2486025"/>
            <a:ext cx="90805" cy="110490"/>
          </a:xfrm>
          <a:prstGeom prst="line">
            <a:avLst/>
          </a:prstGeom>
          <a:ln w="6350" cmpd="sng">
            <a:solidFill>
              <a:schemeClr val="tx1"/>
            </a:solidFill>
            <a:prstDash val="solid"/>
            <a:tailEnd type="triangle" w="sm" len="sm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3" name="直接连接符 312"/>
          <p:cNvCxnSpPr>
            <a:stCxn id="310" idx="0"/>
            <a:endCxn id="307" idx="4"/>
          </p:cNvCxnSpPr>
          <p:nvPr/>
        </p:nvCxnSpPr>
        <p:spPr>
          <a:xfrm flipV="1">
            <a:off x="5841365" y="2396490"/>
            <a:ext cx="0" cy="174625"/>
          </a:xfrm>
          <a:prstGeom prst="line">
            <a:avLst/>
          </a:prstGeom>
          <a:ln w="6350" cmpd="sng">
            <a:solidFill>
              <a:schemeClr val="tx1"/>
            </a:solidFill>
            <a:prstDash val="solid"/>
            <a:headEnd type="triangle" w="sm" len="sm"/>
            <a:tailEnd type="none" w="sm" len="sm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4" name="直接箭头连接符 313"/>
          <p:cNvCxnSpPr>
            <a:stCxn id="309" idx="3"/>
            <a:endCxn id="310" idx="7"/>
          </p:cNvCxnSpPr>
          <p:nvPr/>
        </p:nvCxnSpPr>
        <p:spPr>
          <a:xfrm flipH="1">
            <a:off x="5904230" y="2494280"/>
            <a:ext cx="74295" cy="102235"/>
          </a:xfrm>
          <a:prstGeom prst="straightConnector1">
            <a:avLst/>
          </a:prstGeom>
          <a:ln w="6350" cmpd="sng">
            <a:solidFill>
              <a:schemeClr val="tx1"/>
            </a:solidFill>
            <a:prstDash val="solid"/>
            <a:tailEnd type="triangle" w="sm" len="sm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5" name="直接箭头连接符 314"/>
          <p:cNvCxnSpPr>
            <a:stCxn id="308" idx="2"/>
            <a:endCxn id="310" idx="6"/>
          </p:cNvCxnSpPr>
          <p:nvPr/>
        </p:nvCxnSpPr>
        <p:spPr>
          <a:xfrm flipH="1">
            <a:off x="5930265" y="2658745"/>
            <a:ext cx="151765" cy="0"/>
          </a:xfrm>
          <a:prstGeom prst="straightConnector1">
            <a:avLst/>
          </a:prstGeom>
          <a:ln w="6350" cmpd="sng">
            <a:solidFill>
              <a:schemeClr val="tx1"/>
            </a:solidFill>
            <a:prstDash val="solid"/>
            <a:tailEnd type="triangle" w="sm" len="sm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16" name="椭圆 315"/>
          <p:cNvSpPr/>
          <p:nvPr/>
        </p:nvSpPr>
        <p:spPr>
          <a:xfrm>
            <a:off x="5752465" y="2891155"/>
            <a:ext cx="177800" cy="174625"/>
          </a:xfrm>
          <a:prstGeom prst="ellipse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cxnSp>
        <p:nvCxnSpPr>
          <p:cNvPr id="317" name="直接箭头连接符 316"/>
          <p:cNvCxnSpPr>
            <a:stCxn id="310" idx="4"/>
            <a:endCxn id="316" idx="0"/>
          </p:cNvCxnSpPr>
          <p:nvPr/>
        </p:nvCxnSpPr>
        <p:spPr>
          <a:xfrm>
            <a:off x="5841365" y="2745740"/>
            <a:ext cx="0" cy="145415"/>
          </a:xfrm>
          <a:prstGeom prst="straightConnector1">
            <a:avLst/>
          </a:prstGeom>
          <a:ln w="6350" cmpd="sng">
            <a:solidFill>
              <a:schemeClr val="tx1"/>
            </a:solidFill>
            <a:prstDash val="solid"/>
            <a:headEnd type="none" w="sm" len="sm"/>
            <a:tailEnd type="triangle" w="sm" len="sm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18" name="左弧形箭头 317"/>
          <p:cNvSpPr/>
          <p:nvPr/>
        </p:nvSpPr>
        <p:spPr>
          <a:xfrm>
            <a:off x="5725795" y="2702560"/>
            <a:ext cx="76200" cy="100330"/>
          </a:xfrm>
          <a:prstGeom prst="curvedRightArrow">
            <a:avLst/>
          </a:prstGeom>
          <a:solidFill>
            <a:schemeClr val="tx1"/>
          </a:solidFill>
          <a:ln>
            <a:noFill/>
          </a:ln>
          <a:scene3d>
            <a:camera prst="orthographicFront">
              <a:rot lat="0" lon="0" rev="3000000"/>
            </a:camera>
            <a:lightRig rig="threePt" dir="t"/>
          </a:scene3d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20" name="矩形 319"/>
          <p:cNvSpPr/>
          <p:nvPr/>
        </p:nvSpPr>
        <p:spPr>
          <a:xfrm>
            <a:off x="9214485" y="2701290"/>
            <a:ext cx="440055" cy="762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21" name="矩形 320"/>
          <p:cNvSpPr/>
          <p:nvPr/>
        </p:nvSpPr>
        <p:spPr>
          <a:xfrm>
            <a:off x="9214485" y="2820035"/>
            <a:ext cx="440055" cy="762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22" name="矩形 321"/>
          <p:cNvSpPr/>
          <p:nvPr/>
        </p:nvSpPr>
        <p:spPr>
          <a:xfrm>
            <a:off x="9214485" y="2934970"/>
            <a:ext cx="440055" cy="762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23" name="圆角矩形 322"/>
          <p:cNvSpPr/>
          <p:nvPr/>
        </p:nvSpPr>
        <p:spPr>
          <a:xfrm>
            <a:off x="9364345" y="2672080"/>
            <a:ext cx="140335" cy="37211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800">
                <a:sym typeface="+mn-ea"/>
              </a:rPr>
              <a:t>MLP</a:t>
            </a:r>
            <a:endParaRPr lang="en-US" altLang="zh-CN" sz="800">
              <a:sym typeface="+mn-ea"/>
            </a:endParaRPr>
          </a:p>
        </p:txBody>
      </p:sp>
      <p:sp>
        <p:nvSpPr>
          <p:cNvPr id="325" name="下箭头 324"/>
          <p:cNvSpPr/>
          <p:nvPr/>
        </p:nvSpPr>
        <p:spPr>
          <a:xfrm>
            <a:off x="9364345" y="849630"/>
            <a:ext cx="140335" cy="1727835"/>
          </a:xfrm>
          <a:prstGeom prst="downArrow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30" name="右箭头 329"/>
          <p:cNvSpPr/>
          <p:nvPr/>
        </p:nvSpPr>
        <p:spPr>
          <a:xfrm>
            <a:off x="8353425" y="2592705"/>
            <a:ext cx="280035" cy="83820"/>
          </a:xfrm>
          <a:prstGeom prst="rightArrow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  <a:scene3d>
            <a:camera prst="orthographicFront">
              <a:rot lat="0" lon="0" rev="10800000"/>
            </a:camera>
            <a:lightRig rig="threePt" dir="t"/>
          </a:scene3d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1" name="右箭头 330"/>
          <p:cNvSpPr/>
          <p:nvPr/>
        </p:nvSpPr>
        <p:spPr>
          <a:xfrm>
            <a:off x="8318500" y="2854325"/>
            <a:ext cx="830580" cy="76200"/>
          </a:xfrm>
          <a:prstGeom prst="rightArrow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  <a:scene3d>
            <a:camera prst="orthographicFront">
              <a:rot lat="0" lon="0" rev="10800000"/>
            </a:camera>
            <a:lightRig rig="threePt" dir="t"/>
          </a:scene3d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2" name="下箭头 331"/>
          <p:cNvSpPr/>
          <p:nvPr/>
        </p:nvSpPr>
        <p:spPr>
          <a:xfrm>
            <a:off x="6303645" y="1903730"/>
            <a:ext cx="168275" cy="172720"/>
          </a:xfrm>
          <a:prstGeom prst="downArrow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34" name="文本框 333"/>
          <p:cNvSpPr txBox="1"/>
          <p:nvPr/>
        </p:nvSpPr>
        <p:spPr>
          <a:xfrm flipH="1">
            <a:off x="8622030" y="2242820"/>
            <a:ext cx="343535" cy="334010"/>
          </a:xfrm>
          <a:prstGeom prst="rect">
            <a:avLst/>
          </a:prstGeom>
          <a:noFill/>
          <a:scene3d>
            <a:camera prst="orthographicFront">
              <a:rot lat="0" lon="0" rev="5400000"/>
            </a:camera>
            <a:lightRig rig="threePt" dir="t"/>
          </a:scene3d>
        </p:spPr>
        <p:txBody>
          <a:bodyPr wrap="square" rtlCol="0">
            <a:noAutofit/>
          </a:bodyPr>
          <a:p>
            <a:r>
              <a:rPr lang="en-US" altLang="zh-CN"/>
              <a:t>...</a:t>
            </a:r>
            <a:endParaRPr lang="en-US" altLang="zh-CN"/>
          </a:p>
        </p:txBody>
      </p:sp>
      <p:sp>
        <p:nvSpPr>
          <p:cNvPr id="336" name="下箭头 335"/>
          <p:cNvSpPr/>
          <p:nvPr/>
        </p:nvSpPr>
        <p:spPr>
          <a:xfrm>
            <a:off x="8006715" y="5171440"/>
            <a:ext cx="97155" cy="206375"/>
          </a:xfrm>
          <a:prstGeom prst="downArrow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39" name="椭圆 338"/>
          <p:cNvSpPr/>
          <p:nvPr/>
        </p:nvSpPr>
        <p:spPr>
          <a:xfrm>
            <a:off x="2894330" y="2582545"/>
            <a:ext cx="177800" cy="17462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40" name="椭圆 339"/>
          <p:cNvSpPr/>
          <p:nvPr/>
        </p:nvSpPr>
        <p:spPr>
          <a:xfrm>
            <a:off x="3031490" y="2355215"/>
            <a:ext cx="177800" cy="17462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41" name="椭圆 340"/>
          <p:cNvSpPr/>
          <p:nvPr/>
        </p:nvSpPr>
        <p:spPr>
          <a:xfrm>
            <a:off x="3248025" y="2240280"/>
            <a:ext cx="177800" cy="17462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42" name="椭圆 341"/>
          <p:cNvSpPr/>
          <p:nvPr/>
        </p:nvSpPr>
        <p:spPr>
          <a:xfrm>
            <a:off x="3577590" y="2589530"/>
            <a:ext cx="177800" cy="17462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43" name="椭圆 342"/>
          <p:cNvSpPr/>
          <p:nvPr/>
        </p:nvSpPr>
        <p:spPr>
          <a:xfrm>
            <a:off x="3448050" y="2363470"/>
            <a:ext cx="177800" cy="17462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44" name="椭圆 343"/>
          <p:cNvSpPr/>
          <p:nvPr/>
        </p:nvSpPr>
        <p:spPr>
          <a:xfrm>
            <a:off x="3248025" y="2589530"/>
            <a:ext cx="177800" cy="174625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cxnSp>
        <p:nvCxnSpPr>
          <p:cNvPr id="345" name="直接连接符 344"/>
          <p:cNvCxnSpPr>
            <a:stCxn id="339" idx="6"/>
            <a:endCxn id="344" idx="2"/>
          </p:cNvCxnSpPr>
          <p:nvPr/>
        </p:nvCxnSpPr>
        <p:spPr>
          <a:xfrm>
            <a:off x="3072130" y="2670175"/>
            <a:ext cx="175895" cy="6985"/>
          </a:xfrm>
          <a:prstGeom prst="line">
            <a:avLst/>
          </a:prstGeom>
          <a:ln w="6350" cmpd="sng">
            <a:solidFill>
              <a:schemeClr val="tx1"/>
            </a:solidFill>
            <a:prstDash val="solid"/>
            <a:tailEnd type="triangle" w="sm" len="sm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46" name="直接连接符 345"/>
          <p:cNvCxnSpPr>
            <a:stCxn id="340" idx="5"/>
            <a:endCxn id="344" idx="1"/>
          </p:cNvCxnSpPr>
          <p:nvPr/>
        </p:nvCxnSpPr>
        <p:spPr>
          <a:xfrm>
            <a:off x="3183255" y="2504440"/>
            <a:ext cx="90805" cy="110490"/>
          </a:xfrm>
          <a:prstGeom prst="line">
            <a:avLst/>
          </a:prstGeom>
          <a:ln w="6350" cmpd="sng">
            <a:solidFill>
              <a:schemeClr val="tx1"/>
            </a:solidFill>
            <a:prstDash val="solid"/>
            <a:tailEnd type="triangle" w="sm" len="sm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47" name="直接连接符 346"/>
          <p:cNvCxnSpPr>
            <a:stCxn id="344" idx="0"/>
            <a:endCxn id="341" idx="4"/>
          </p:cNvCxnSpPr>
          <p:nvPr/>
        </p:nvCxnSpPr>
        <p:spPr>
          <a:xfrm flipV="1">
            <a:off x="3336925" y="2414905"/>
            <a:ext cx="0" cy="174625"/>
          </a:xfrm>
          <a:prstGeom prst="line">
            <a:avLst/>
          </a:prstGeom>
          <a:ln w="6350" cmpd="sng">
            <a:solidFill>
              <a:schemeClr val="tx1"/>
            </a:solidFill>
            <a:prstDash val="solid"/>
            <a:headEnd type="triangle" w="sm" len="sm"/>
            <a:tailEnd type="none" w="sm" len="sm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48" name="直接箭头连接符 347"/>
          <p:cNvCxnSpPr>
            <a:stCxn id="343" idx="3"/>
            <a:endCxn id="344" idx="7"/>
          </p:cNvCxnSpPr>
          <p:nvPr/>
        </p:nvCxnSpPr>
        <p:spPr>
          <a:xfrm flipH="1">
            <a:off x="3399790" y="2512695"/>
            <a:ext cx="74295" cy="102235"/>
          </a:xfrm>
          <a:prstGeom prst="straightConnector1">
            <a:avLst/>
          </a:prstGeom>
          <a:ln w="6350" cmpd="sng">
            <a:solidFill>
              <a:schemeClr val="tx1"/>
            </a:solidFill>
            <a:prstDash val="solid"/>
            <a:tailEnd type="triangle" w="sm" len="sm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49" name="直接箭头连接符 348"/>
          <p:cNvCxnSpPr>
            <a:stCxn id="342" idx="2"/>
            <a:endCxn id="344" idx="6"/>
          </p:cNvCxnSpPr>
          <p:nvPr/>
        </p:nvCxnSpPr>
        <p:spPr>
          <a:xfrm flipH="1">
            <a:off x="3425825" y="2677160"/>
            <a:ext cx="151765" cy="0"/>
          </a:xfrm>
          <a:prstGeom prst="straightConnector1">
            <a:avLst/>
          </a:prstGeom>
          <a:ln w="6350" cmpd="sng">
            <a:solidFill>
              <a:schemeClr val="tx1"/>
            </a:solidFill>
            <a:prstDash val="solid"/>
            <a:tailEnd type="triangle" w="sm" len="sm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50" name="椭圆 349"/>
          <p:cNvSpPr/>
          <p:nvPr/>
        </p:nvSpPr>
        <p:spPr>
          <a:xfrm>
            <a:off x="3248025" y="2909570"/>
            <a:ext cx="177800" cy="174625"/>
          </a:xfrm>
          <a:prstGeom prst="ellipse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cxnSp>
        <p:nvCxnSpPr>
          <p:cNvPr id="351" name="直接箭头连接符 350"/>
          <p:cNvCxnSpPr>
            <a:stCxn id="344" idx="4"/>
            <a:endCxn id="350" idx="0"/>
          </p:cNvCxnSpPr>
          <p:nvPr/>
        </p:nvCxnSpPr>
        <p:spPr>
          <a:xfrm>
            <a:off x="3336925" y="2764155"/>
            <a:ext cx="0" cy="145415"/>
          </a:xfrm>
          <a:prstGeom prst="straightConnector1">
            <a:avLst/>
          </a:prstGeom>
          <a:ln w="6350" cmpd="sng">
            <a:solidFill>
              <a:schemeClr val="tx1"/>
            </a:solidFill>
            <a:prstDash val="solid"/>
            <a:headEnd type="none" w="sm" len="sm"/>
            <a:tailEnd type="triangle" w="sm" len="sm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52" name="左弧形箭头 351"/>
          <p:cNvSpPr/>
          <p:nvPr/>
        </p:nvSpPr>
        <p:spPr>
          <a:xfrm>
            <a:off x="3221355" y="2720975"/>
            <a:ext cx="76200" cy="100330"/>
          </a:xfrm>
          <a:prstGeom prst="curvedRightArrow">
            <a:avLst/>
          </a:prstGeom>
          <a:solidFill>
            <a:schemeClr val="tx1"/>
          </a:solidFill>
          <a:ln>
            <a:noFill/>
          </a:ln>
          <a:scene3d>
            <a:camera prst="orthographicFront">
              <a:rot lat="0" lon="0" rev="3000000"/>
            </a:camera>
            <a:lightRig rig="threePt" dir="t"/>
          </a:scene3d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3" name="圆角矩形 22"/>
          <p:cNvSpPr/>
          <p:nvPr/>
        </p:nvSpPr>
        <p:spPr>
          <a:xfrm>
            <a:off x="5335905" y="4422140"/>
            <a:ext cx="360680" cy="36068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/>
              <a:t>O1</a:t>
            </a:r>
            <a:endParaRPr lang="en-US" altLang="zh-CN" sz="800"/>
          </a:p>
        </p:txBody>
      </p:sp>
      <p:sp>
        <p:nvSpPr>
          <p:cNvPr id="29" name="圆角矩形 28"/>
          <p:cNvSpPr/>
          <p:nvPr/>
        </p:nvSpPr>
        <p:spPr>
          <a:xfrm>
            <a:off x="5864225" y="4422140"/>
            <a:ext cx="360680" cy="36068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800">
                <a:sym typeface="+mn-ea"/>
              </a:rPr>
              <a:t>O2</a:t>
            </a:r>
            <a:endParaRPr lang="en-US" altLang="zh-CN" sz="800">
              <a:sym typeface="+mn-ea"/>
            </a:endParaRPr>
          </a:p>
        </p:txBody>
      </p:sp>
      <p:sp>
        <p:nvSpPr>
          <p:cNvPr id="30" name="圆角矩形 29"/>
          <p:cNvSpPr/>
          <p:nvPr/>
        </p:nvSpPr>
        <p:spPr>
          <a:xfrm>
            <a:off x="5363845" y="3922395"/>
            <a:ext cx="878840" cy="21844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800">
                <a:sym typeface="+mn-ea"/>
              </a:rPr>
              <a:t>fused</a:t>
            </a:r>
            <a:endParaRPr lang="en-US" altLang="zh-CN" sz="800">
              <a:sym typeface="+mn-ea"/>
            </a:endParaRPr>
          </a:p>
        </p:txBody>
      </p:sp>
      <p:sp>
        <p:nvSpPr>
          <p:cNvPr id="35" name="上箭头 34"/>
          <p:cNvSpPr/>
          <p:nvPr/>
        </p:nvSpPr>
        <p:spPr>
          <a:xfrm>
            <a:off x="5743575" y="3651250"/>
            <a:ext cx="151765" cy="260985"/>
          </a:xfrm>
          <a:prstGeom prst="upArrow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5328285" y="3357245"/>
            <a:ext cx="878840" cy="218440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800">
                <a:sym typeface="+mn-ea"/>
              </a:rPr>
              <a:t>Output</a:t>
            </a:r>
            <a:endParaRPr lang="en-US" altLang="zh-CN" sz="800">
              <a:sym typeface="+mn-ea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9504680" y="4582160"/>
            <a:ext cx="440055" cy="762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9504680" y="4700905"/>
            <a:ext cx="440055" cy="762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9504680" y="4815840"/>
            <a:ext cx="440055" cy="762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43" name="圆角矩形 42"/>
          <p:cNvSpPr/>
          <p:nvPr/>
        </p:nvSpPr>
        <p:spPr>
          <a:xfrm>
            <a:off x="9654540" y="4552950"/>
            <a:ext cx="140335" cy="37211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800">
                <a:sym typeface="+mn-ea"/>
              </a:rPr>
              <a:t>MLP</a:t>
            </a:r>
            <a:endParaRPr lang="en-US" altLang="zh-CN" sz="800">
              <a:sym typeface="+mn-ea"/>
            </a:endParaRPr>
          </a:p>
        </p:txBody>
      </p:sp>
      <p:sp>
        <p:nvSpPr>
          <p:cNvPr id="44" name="下箭头 43"/>
          <p:cNvSpPr/>
          <p:nvPr/>
        </p:nvSpPr>
        <p:spPr>
          <a:xfrm>
            <a:off x="9794875" y="849630"/>
            <a:ext cx="140335" cy="3509645"/>
          </a:xfrm>
          <a:prstGeom prst="downArrow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45" name="右箭头 44"/>
          <p:cNvSpPr/>
          <p:nvPr/>
        </p:nvSpPr>
        <p:spPr>
          <a:xfrm>
            <a:off x="8260715" y="4806950"/>
            <a:ext cx="1158875" cy="76200"/>
          </a:xfrm>
          <a:prstGeom prst="rightArrow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  <a:scene3d>
            <a:camera prst="orthographicFront">
              <a:rot lat="0" lon="0" rev="10800000"/>
            </a:camera>
            <a:lightRig rig="threePt" dir="t"/>
          </a:scene3d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7" name="上箭头 46"/>
          <p:cNvSpPr/>
          <p:nvPr/>
        </p:nvSpPr>
        <p:spPr>
          <a:xfrm>
            <a:off x="5445125" y="4815840"/>
            <a:ext cx="151765" cy="535305"/>
          </a:xfrm>
          <a:prstGeom prst="upArrow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49" name="上箭头 48"/>
          <p:cNvSpPr/>
          <p:nvPr/>
        </p:nvSpPr>
        <p:spPr>
          <a:xfrm>
            <a:off x="7271385" y="4924425"/>
            <a:ext cx="151765" cy="389890"/>
          </a:xfrm>
          <a:prstGeom prst="upArrow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50" name="右箭头 49"/>
          <p:cNvSpPr/>
          <p:nvPr/>
        </p:nvSpPr>
        <p:spPr>
          <a:xfrm>
            <a:off x="6335395" y="4552950"/>
            <a:ext cx="688340" cy="90170"/>
          </a:xfrm>
          <a:prstGeom prst="rightArrow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  <a:scene3d>
            <a:camera prst="orthographicFront">
              <a:rot lat="0" lon="0" rev="10800000"/>
            </a:camera>
            <a:lightRig rig="threePt" dir="t"/>
          </a:scene3d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3" name="上箭头 52"/>
          <p:cNvSpPr/>
          <p:nvPr/>
        </p:nvSpPr>
        <p:spPr>
          <a:xfrm>
            <a:off x="5480685" y="4140835"/>
            <a:ext cx="151765" cy="260985"/>
          </a:xfrm>
          <a:prstGeom prst="upArrow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54" name="上箭头 53"/>
          <p:cNvSpPr/>
          <p:nvPr/>
        </p:nvSpPr>
        <p:spPr>
          <a:xfrm>
            <a:off x="5956935" y="4157345"/>
            <a:ext cx="151765" cy="260985"/>
          </a:xfrm>
          <a:prstGeom prst="upArrow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55" name="下箭头 54"/>
          <p:cNvSpPr/>
          <p:nvPr/>
        </p:nvSpPr>
        <p:spPr>
          <a:xfrm>
            <a:off x="2549525" y="4926330"/>
            <a:ext cx="142240" cy="124460"/>
          </a:xfrm>
          <a:prstGeom prst="downArrow">
            <a:avLst/>
          </a:prstGeom>
          <a:solidFill>
            <a:srgbClr val="00B050"/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57" name="下箭头 56"/>
          <p:cNvSpPr/>
          <p:nvPr/>
        </p:nvSpPr>
        <p:spPr>
          <a:xfrm>
            <a:off x="2569845" y="5928995"/>
            <a:ext cx="76200" cy="169545"/>
          </a:xfrm>
          <a:prstGeom prst="downArrow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58" name="圆角矩形 57"/>
          <p:cNvSpPr/>
          <p:nvPr/>
        </p:nvSpPr>
        <p:spPr>
          <a:xfrm>
            <a:off x="2456180" y="6103620"/>
            <a:ext cx="322580" cy="25590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 altLang="zh-CN" sz="800">
              <a:sym typeface="+mn-ea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2456180" y="6136640"/>
            <a:ext cx="421640" cy="2095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800">
                <a:solidFill>
                  <a:schemeClr val="bg1"/>
                </a:solidFill>
              </a:rPr>
              <a:t>O1</a:t>
            </a:r>
            <a:endParaRPr lang="en-US" altLang="zh-CN" sz="800">
              <a:solidFill>
                <a:schemeClr val="bg1"/>
              </a:solidFill>
            </a:endParaRPr>
          </a:p>
        </p:txBody>
      </p:sp>
      <p:sp>
        <p:nvSpPr>
          <p:cNvPr id="60" name="圆角矩形 59"/>
          <p:cNvSpPr/>
          <p:nvPr/>
        </p:nvSpPr>
        <p:spPr>
          <a:xfrm>
            <a:off x="8684895" y="3729355"/>
            <a:ext cx="322580" cy="25590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 altLang="zh-CN" sz="800">
              <a:sym typeface="+mn-ea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8684895" y="3762375"/>
            <a:ext cx="421640" cy="2095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800">
                <a:solidFill>
                  <a:schemeClr val="bg1"/>
                </a:solidFill>
              </a:rPr>
              <a:t>O2</a:t>
            </a:r>
            <a:endParaRPr lang="en-US" altLang="zh-CN" sz="800">
              <a:solidFill>
                <a:schemeClr val="bg1"/>
              </a:solidFill>
            </a:endParaRPr>
          </a:p>
        </p:txBody>
      </p:sp>
      <p:sp>
        <p:nvSpPr>
          <p:cNvPr id="63" name="右箭头 62"/>
          <p:cNvSpPr/>
          <p:nvPr/>
        </p:nvSpPr>
        <p:spPr>
          <a:xfrm>
            <a:off x="8402955" y="3829685"/>
            <a:ext cx="267970" cy="76200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5" name="文本框 64"/>
          <p:cNvSpPr txBox="1"/>
          <p:nvPr/>
        </p:nvSpPr>
        <p:spPr>
          <a:xfrm>
            <a:off x="2625725" y="5880735"/>
            <a:ext cx="411480" cy="1606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800">
                <a:solidFill>
                  <a:srgbClr val="92D050"/>
                </a:solidFill>
                <a:sym typeface="+mn-ea"/>
              </a:rPr>
              <a:t>NO</a:t>
            </a:r>
            <a:endParaRPr lang="en-US" altLang="zh-CN" sz="800">
              <a:solidFill>
                <a:srgbClr val="92D050"/>
              </a:solidFill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8335645" y="3665855"/>
            <a:ext cx="411480" cy="1606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800">
                <a:solidFill>
                  <a:srgbClr val="92D050"/>
                </a:solidFill>
              </a:rPr>
              <a:t>NO</a:t>
            </a:r>
            <a:endParaRPr lang="en-US" altLang="zh-CN" sz="800">
              <a:solidFill>
                <a:srgbClr val="92D050"/>
              </a:solidFill>
            </a:endParaRPr>
          </a:p>
        </p:txBody>
      </p:sp>
      <p:sp>
        <p:nvSpPr>
          <p:cNvPr id="67" name="右箭头 66"/>
          <p:cNvSpPr/>
          <p:nvPr/>
        </p:nvSpPr>
        <p:spPr>
          <a:xfrm>
            <a:off x="4248785" y="5447665"/>
            <a:ext cx="110490" cy="7620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圆角矩形 21"/>
          <p:cNvSpPr/>
          <p:nvPr/>
        </p:nvSpPr>
        <p:spPr>
          <a:xfrm>
            <a:off x="5535930" y="3184525"/>
            <a:ext cx="1235075" cy="179578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8" name="圆角矩形 337"/>
          <p:cNvSpPr/>
          <p:nvPr/>
        </p:nvSpPr>
        <p:spPr>
          <a:xfrm>
            <a:off x="1824355" y="119380"/>
            <a:ext cx="8482965" cy="1246505"/>
          </a:xfrm>
          <a:prstGeom prst="roundRect">
            <a:avLst>
              <a:gd name="adj" fmla="val 10545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5" name="圆角矩形 334"/>
          <p:cNvSpPr/>
          <p:nvPr/>
        </p:nvSpPr>
        <p:spPr>
          <a:xfrm>
            <a:off x="6886575" y="3211830"/>
            <a:ext cx="3420745" cy="3178810"/>
          </a:xfrm>
          <a:prstGeom prst="roundRect">
            <a:avLst>
              <a:gd name="adj" fmla="val 4481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0" name="圆角矩形 299"/>
          <p:cNvSpPr/>
          <p:nvPr/>
        </p:nvSpPr>
        <p:spPr>
          <a:xfrm>
            <a:off x="4904740" y="1386840"/>
            <a:ext cx="5402580" cy="1794510"/>
          </a:xfrm>
          <a:prstGeom prst="roundRect">
            <a:avLst>
              <a:gd name="adj" fmla="val 5874"/>
            </a:avLst>
          </a:prstGeom>
          <a:solidFill>
            <a:schemeClr val="accent3">
              <a:lumMod val="20000"/>
              <a:lumOff val="80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2" name="圆角矩形 231"/>
          <p:cNvSpPr/>
          <p:nvPr/>
        </p:nvSpPr>
        <p:spPr>
          <a:xfrm>
            <a:off x="1803400" y="1422400"/>
            <a:ext cx="3082925" cy="3055620"/>
          </a:xfrm>
          <a:prstGeom prst="roundRect">
            <a:avLst>
              <a:gd name="adj" fmla="val 4098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椭圆 3"/>
          <p:cNvSpPr/>
          <p:nvPr/>
        </p:nvSpPr>
        <p:spPr>
          <a:xfrm>
            <a:off x="2092960" y="864235"/>
            <a:ext cx="177800" cy="17462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2118995" y="353060"/>
            <a:ext cx="177800" cy="174625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2549525" y="266065"/>
            <a:ext cx="177800" cy="174625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2893060" y="461010"/>
            <a:ext cx="177800" cy="174625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2807970" y="789940"/>
            <a:ext cx="177800" cy="174625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2460625" y="689610"/>
            <a:ext cx="177800" cy="174625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0" name="直接连接符 9"/>
          <p:cNvCxnSpPr>
            <a:stCxn id="5" idx="4"/>
            <a:endCxn id="4" idx="0"/>
          </p:cNvCxnSpPr>
          <p:nvPr/>
        </p:nvCxnSpPr>
        <p:spPr>
          <a:xfrm flipH="1">
            <a:off x="2181860" y="527685"/>
            <a:ext cx="26035" cy="3365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直接连接符 10"/>
          <p:cNvCxnSpPr>
            <a:stCxn id="4" idx="6"/>
            <a:endCxn id="9" idx="2"/>
          </p:cNvCxnSpPr>
          <p:nvPr/>
        </p:nvCxnSpPr>
        <p:spPr>
          <a:xfrm flipV="1">
            <a:off x="2270760" y="777240"/>
            <a:ext cx="189865" cy="1746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连接符 11"/>
          <p:cNvCxnSpPr>
            <a:stCxn id="5" idx="5"/>
            <a:endCxn id="9" idx="1"/>
          </p:cNvCxnSpPr>
          <p:nvPr/>
        </p:nvCxnSpPr>
        <p:spPr>
          <a:xfrm>
            <a:off x="2270760" y="502285"/>
            <a:ext cx="215900" cy="2127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连接符 12"/>
          <p:cNvCxnSpPr>
            <a:stCxn id="5" idx="6"/>
            <a:endCxn id="6" idx="2"/>
          </p:cNvCxnSpPr>
          <p:nvPr/>
        </p:nvCxnSpPr>
        <p:spPr>
          <a:xfrm flipV="1">
            <a:off x="2296795" y="353695"/>
            <a:ext cx="252730" cy="8699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直接连接符 14"/>
          <p:cNvCxnSpPr>
            <a:stCxn id="9" idx="0"/>
            <a:endCxn id="6" idx="4"/>
          </p:cNvCxnSpPr>
          <p:nvPr/>
        </p:nvCxnSpPr>
        <p:spPr>
          <a:xfrm flipV="1">
            <a:off x="2549525" y="440690"/>
            <a:ext cx="88900" cy="2489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直接连接符 15"/>
          <p:cNvCxnSpPr>
            <a:stCxn id="6" idx="6"/>
            <a:endCxn id="7" idx="1"/>
          </p:cNvCxnSpPr>
          <p:nvPr/>
        </p:nvCxnSpPr>
        <p:spPr>
          <a:xfrm>
            <a:off x="2727325" y="353695"/>
            <a:ext cx="191770" cy="1327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直接连接符 16"/>
          <p:cNvCxnSpPr>
            <a:stCxn id="7" idx="4"/>
            <a:endCxn id="8" idx="7"/>
          </p:cNvCxnSpPr>
          <p:nvPr/>
        </p:nvCxnSpPr>
        <p:spPr>
          <a:xfrm flipH="1">
            <a:off x="2959735" y="635635"/>
            <a:ext cx="22225" cy="1797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直接连接符 18"/>
          <p:cNvCxnSpPr>
            <a:stCxn id="9" idx="6"/>
            <a:endCxn id="8" idx="2"/>
          </p:cNvCxnSpPr>
          <p:nvPr/>
        </p:nvCxnSpPr>
        <p:spPr>
          <a:xfrm>
            <a:off x="2638425" y="777240"/>
            <a:ext cx="169545" cy="1003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0" name="右箭头 19"/>
          <p:cNvSpPr/>
          <p:nvPr/>
        </p:nvSpPr>
        <p:spPr>
          <a:xfrm>
            <a:off x="3122930" y="406400"/>
            <a:ext cx="198000" cy="216000"/>
          </a:xfrm>
          <a:prstGeom prst="rightArrow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3279140" y="186055"/>
            <a:ext cx="1922780" cy="806450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800"/>
          </a:p>
        </p:txBody>
      </p:sp>
      <p:sp>
        <p:nvSpPr>
          <p:cNvPr id="24" name="文本框 23"/>
          <p:cNvSpPr txBox="1"/>
          <p:nvPr/>
        </p:nvSpPr>
        <p:spPr>
          <a:xfrm>
            <a:off x="3620135" y="247015"/>
            <a:ext cx="160147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olidFill>
                  <a:schemeClr val="lt1"/>
                </a:solidFill>
                <a:sym typeface="+mn-ea"/>
              </a:rPr>
              <a:t>Make Bidirectional</a:t>
            </a:r>
            <a:endParaRPr lang="en-US" altLang="zh-CN" sz="1200">
              <a:solidFill>
                <a:schemeClr val="lt1"/>
              </a:solidFill>
              <a:sym typeface="+mn-ea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3687445" y="718820"/>
            <a:ext cx="1216660" cy="2743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200">
                <a:solidFill>
                  <a:schemeClr val="bg1"/>
                </a:solidFill>
              </a:rPr>
              <a:t>Add Self Loops</a:t>
            </a:r>
            <a:endParaRPr lang="en-US" altLang="zh-CN" sz="1200">
              <a:solidFill>
                <a:schemeClr val="bg1"/>
              </a:solidFill>
            </a:endParaRPr>
          </a:p>
        </p:txBody>
      </p:sp>
      <p:sp>
        <p:nvSpPr>
          <p:cNvPr id="27" name="下箭头 26"/>
          <p:cNvSpPr/>
          <p:nvPr/>
        </p:nvSpPr>
        <p:spPr>
          <a:xfrm>
            <a:off x="4320540" y="461010"/>
            <a:ext cx="75565" cy="75565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3" name="圆角矩形 32"/>
          <p:cNvSpPr/>
          <p:nvPr/>
        </p:nvSpPr>
        <p:spPr>
          <a:xfrm>
            <a:off x="4011930" y="2233930"/>
            <a:ext cx="612775" cy="21145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 b="1"/>
              <a:t>Linear</a:t>
            </a:r>
            <a:endParaRPr lang="en-US" altLang="zh-CN" sz="800" b="1"/>
          </a:p>
        </p:txBody>
      </p:sp>
      <p:sp>
        <p:nvSpPr>
          <p:cNvPr id="34" name="下箭头 33"/>
          <p:cNvSpPr/>
          <p:nvPr/>
        </p:nvSpPr>
        <p:spPr>
          <a:xfrm>
            <a:off x="4294505" y="1107440"/>
            <a:ext cx="76200" cy="1056640"/>
          </a:xfrm>
          <a:prstGeom prst="downArrow">
            <a:avLst/>
          </a:prstGeom>
          <a:solidFill>
            <a:srgbClr val="00B050"/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71" name="左大括号 70"/>
          <p:cNvSpPr/>
          <p:nvPr/>
        </p:nvSpPr>
        <p:spPr>
          <a:xfrm>
            <a:off x="3655695" y="2092960"/>
            <a:ext cx="241935" cy="1181100"/>
          </a:xfrm>
          <a:prstGeom prst="leftBrace">
            <a:avLst>
              <a:gd name="adj1" fmla="val 0"/>
              <a:gd name="adj2" fmla="val 50058"/>
            </a:avLst>
          </a:prstGeom>
          <a:ln w="53975"/>
          <a:scene3d>
            <a:camera prst="orthographicFront">
              <a:rot lat="0" lon="0" rev="5400000"/>
            </a:camera>
            <a:lightRig rig="threePt" dir="t"/>
          </a:scene3d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4" name="圆角矩形 73"/>
          <p:cNvSpPr/>
          <p:nvPr/>
        </p:nvSpPr>
        <p:spPr>
          <a:xfrm>
            <a:off x="3577590" y="3314700"/>
            <a:ext cx="905510" cy="224155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 b="1"/>
              <a:t>Weighted fusion</a:t>
            </a:r>
            <a:endParaRPr lang="en-US" altLang="zh-CN" sz="800" b="1"/>
          </a:p>
        </p:txBody>
      </p:sp>
      <p:sp>
        <p:nvSpPr>
          <p:cNvPr id="81" name="圆角矩形 80"/>
          <p:cNvSpPr/>
          <p:nvPr/>
        </p:nvSpPr>
        <p:spPr>
          <a:xfrm>
            <a:off x="2012950" y="4071620"/>
            <a:ext cx="354330" cy="224155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 b="1"/>
              <a:t>X1</a:t>
            </a:r>
            <a:endParaRPr lang="en-US" altLang="zh-CN" sz="800" b="1"/>
          </a:p>
        </p:txBody>
      </p:sp>
      <p:sp>
        <p:nvSpPr>
          <p:cNvPr id="82" name="圆角矩形 81"/>
          <p:cNvSpPr/>
          <p:nvPr/>
        </p:nvSpPr>
        <p:spPr>
          <a:xfrm>
            <a:off x="2404745" y="4071620"/>
            <a:ext cx="354330" cy="224155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 b="1"/>
              <a:t>X2</a:t>
            </a:r>
            <a:endParaRPr lang="en-US" altLang="zh-CN" sz="800" b="1"/>
          </a:p>
        </p:txBody>
      </p:sp>
      <p:sp>
        <p:nvSpPr>
          <p:cNvPr id="83" name="圆角矩形 82"/>
          <p:cNvSpPr/>
          <p:nvPr/>
        </p:nvSpPr>
        <p:spPr>
          <a:xfrm>
            <a:off x="2804160" y="4071620"/>
            <a:ext cx="354330" cy="224155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 b="1"/>
              <a:t>X3</a:t>
            </a:r>
            <a:endParaRPr lang="en-US" altLang="zh-CN" sz="800" b="1"/>
          </a:p>
        </p:txBody>
      </p:sp>
      <p:sp>
        <p:nvSpPr>
          <p:cNvPr id="84" name="圆角矩形 83"/>
          <p:cNvSpPr/>
          <p:nvPr/>
        </p:nvSpPr>
        <p:spPr>
          <a:xfrm>
            <a:off x="3456940" y="4071620"/>
            <a:ext cx="354330" cy="224155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 b="1"/>
              <a:t>Xn</a:t>
            </a:r>
            <a:endParaRPr lang="en-US" altLang="zh-CN" sz="800" b="1"/>
          </a:p>
        </p:txBody>
      </p:sp>
      <p:sp>
        <p:nvSpPr>
          <p:cNvPr id="85" name="文本框 84"/>
          <p:cNvSpPr txBox="1"/>
          <p:nvPr/>
        </p:nvSpPr>
        <p:spPr>
          <a:xfrm flipH="1">
            <a:off x="3093720" y="3963035"/>
            <a:ext cx="3632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...</a:t>
            </a:r>
            <a:endParaRPr lang="en-US" altLang="zh-CN"/>
          </a:p>
        </p:txBody>
      </p:sp>
      <p:sp>
        <p:nvSpPr>
          <p:cNvPr id="94" name="菱形 93"/>
          <p:cNvSpPr/>
          <p:nvPr/>
        </p:nvSpPr>
        <p:spPr>
          <a:xfrm>
            <a:off x="2237740" y="5083175"/>
            <a:ext cx="699770" cy="384810"/>
          </a:xfrm>
          <a:prstGeom prst="diamond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800"/>
          </a:p>
        </p:txBody>
      </p:sp>
      <p:sp>
        <p:nvSpPr>
          <p:cNvPr id="95" name="文本框 94"/>
          <p:cNvSpPr txBox="1"/>
          <p:nvPr/>
        </p:nvSpPr>
        <p:spPr>
          <a:xfrm>
            <a:off x="2327275" y="5168900"/>
            <a:ext cx="521335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800" b="1">
                <a:solidFill>
                  <a:schemeClr val="bg1"/>
                </a:solidFill>
              </a:rPr>
              <a:t>Global?</a:t>
            </a:r>
            <a:endParaRPr lang="en-US" altLang="zh-CN" sz="800" b="1">
              <a:solidFill>
                <a:schemeClr val="bg1"/>
              </a:solidFill>
            </a:endParaRPr>
          </a:p>
        </p:txBody>
      </p:sp>
      <p:sp>
        <p:nvSpPr>
          <p:cNvPr id="96" name="圆角矩形 95"/>
          <p:cNvSpPr/>
          <p:nvPr/>
        </p:nvSpPr>
        <p:spPr>
          <a:xfrm>
            <a:off x="2308860" y="4638040"/>
            <a:ext cx="572770" cy="224155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 b="1"/>
              <a:t>X_local</a:t>
            </a:r>
            <a:endParaRPr lang="en-US" altLang="zh-CN" sz="800" b="1"/>
          </a:p>
        </p:txBody>
      </p:sp>
      <p:sp>
        <p:nvSpPr>
          <p:cNvPr id="104" name="圆角矩形 103"/>
          <p:cNvSpPr/>
          <p:nvPr/>
        </p:nvSpPr>
        <p:spPr>
          <a:xfrm>
            <a:off x="2569845" y="5053965"/>
            <a:ext cx="1355090" cy="260350"/>
          </a:xfrm>
          <a:prstGeom prst="roundRect">
            <a:avLst/>
          </a:prstGeom>
          <a:solidFill>
            <a:srgbClr val="00B050"/>
          </a:solidFill>
          <a:ln>
            <a:solidFill>
              <a:schemeClr val="accent4">
                <a:lumMod val="40000"/>
                <a:lumOff val="60000"/>
              </a:schemeClr>
            </a:solidFill>
          </a:ln>
          <a:scene3d>
            <a:camera prst="orthographicFront">
              <a:rot lat="0" lon="0" rev="16200000"/>
            </a:camera>
            <a:lightRig rig="threePt" dir="t"/>
          </a:scene3d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 b="1"/>
              <a:t>Linear  </a:t>
            </a:r>
            <a:r>
              <a:rPr lang="en-US" altLang="zh-CN" sz="800" b="1">
                <a:sym typeface="+mn-ea"/>
              </a:rPr>
              <a:t>process</a:t>
            </a:r>
            <a:endParaRPr lang="en-US" altLang="zh-CN" sz="800" b="1"/>
          </a:p>
          <a:p>
            <a:pPr algn="ctr"/>
            <a:endParaRPr lang="en-US" altLang="zh-CN" sz="800" b="1"/>
          </a:p>
        </p:txBody>
      </p:sp>
      <p:sp>
        <p:nvSpPr>
          <p:cNvPr id="113" name="右箭头 112"/>
          <p:cNvSpPr/>
          <p:nvPr/>
        </p:nvSpPr>
        <p:spPr>
          <a:xfrm>
            <a:off x="2959735" y="5180330"/>
            <a:ext cx="199390" cy="76200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4" name="右箭头 113"/>
          <p:cNvSpPr/>
          <p:nvPr/>
        </p:nvSpPr>
        <p:spPr>
          <a:xfrm>
            <a:off x="3453130" y="5247640"/>
            <a:ext cx="271145" cy="76200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5" name="右箭头 114"/>
          <p:cNvSpPr/>
          <p:nvPr/>
        </p:nvSpPr>
        <p:spPr>
          <a:xfrm>
            <a:off x="3453130" y="5469255"/>
            <a:ext cx="271145" cy="76200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6" name="右箭头 115"/>
          <p:cNvSpPr/>
          <p:nvPr/>
        </p:nvSpPr>
        <p:spPr>
          <a:xfrm>
            <a:off x="3444240" y="5723890"/>
            <a:ext cx="271145" cy="76200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8" name="文本框 117"/>
          <p:cNvSpPr txBox="1"/>
          <p:nvPr/>
        </p:nvSpPr>
        <p:spPr>
          <a:xfrm>
            <a:off x="3279140" y="5344160"/>
            <a:ext cx="1036320" cy="220345"/>
          </a:xfrm>
          <a:prstGeom prst="rect">
            <a:avLst/>
          </a:prstGeom>
          <a:noFill/>
          <a:scene3d>
            <a:camera prst="orthographicFront">
              <a:rot lat="0" lon="0" rev="16200000"/>
            </a:camera>
            <a:lightRig rig="threePt" dir="t"/>
          </a:scene3d>
        </p:spPr>
        <p:txBody>
          <a:bodyPr wrap="square" rtlCol="0">
            <a:noAutofit/>
          </a:bodyPr>
          <a:p>
            <a:r>
              <a:rPr lang="en-US" altLang="zh-CN" sz="800" b="1">
                <a:solidFill>
                  <a:schemeClr val="accent4">
                    <a:lumMod val="75000"/>
                  </a:schemeClr>
                </a:solidFill>
              </a:rPr>
              <a:t>H     Q      K     V</a:t>
            </a:r>
            <a:endParaRPr lang="zh-CN" altLang="en-US" sz="800" b="1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19" name="右箭头 118"/>
          <p:cNvSpPr/>
          <p:nvPr/>
        </p:nvSpPr>
        <p:spPr>
          <a:xfrm>
            <a:off x="4294505" y="5314315"/>
            <a:ext cx="157480" cy="179705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1" name="文本框 120"/>
          <p:cNvSpPr txBox="1"/>
          <p:nvPr/>
        </p:nvSpPr>
        <p:spPr>
          <a:xfrm>
            <a:off x="2852420" y="5027295"/>
            <a:ext cx="411480" cy="1606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800">
                <a:solidFill>
                  <a:srgbClr val="92D050"/>
                </a:solidFill>
                <a:sym typeface="+mn-ea"/>
              </a:rPr>
              <a:t>YES</a:t>
            </a:r>
            <a:endParaRPr lang="en-US" altLang="zh-CN" sz="800">
              <a:solidFill>
                <a:srgbClr val="92D050"/>
              </a:solidFill>
            </a:endParaRPr>
          </a:p>
        </p:txBody>
      </p:sp>
      <p:sp>
        <p:nvSpPr>
          <p:cNvPr id="131" name="圆角矩形 130"/>
          <p:cNvSpPr/>
          <p:nvPr/>
        </p:nvSpPr>
        <p:spPr>
          <a:xfrm>
            <a:off x="4455795" y="5187950"/>
            <a:ext cx="255270" cy="715010"/>
          </a:xfrm>
          <a:prstGeom prst="roundRect">
            <a:avLst>
              <a:gd name="adj" fmla="val 8881"/>
            </a:avLst>
          </a:prstGeom>
          <a:solidFill>
            <a:schemeClr val="accent4">
              <a:lumMod val="60000"/>
              <a:lumOff val="40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3" name="下箭头 132"/>
          <p:cNvSpPr/>
          <p:nvPr/>
        </p:nvSpPr>
        <p:spPr>
          <a:xfrm>
            <a:off x="2549525" y="4901565"/>
            <a:ext cx="76200" cy="169545"/>
          </a:xfrm>
          <a:prstGeom prst="downArrow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34" name="文本框 133"/>
          <p:cNvSpPr txBox="1"/>
          <p:nvPr/>
        </p:nvSpPr>
        <p:spPr>
          <a:xfrm>
            <a:off x="3970655" y="5469255"/>
            <a:ext cx="1273810" cy="33083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>
                <a:rot lat="0" lon="0" rev="16200000"/>
              </a:camera>
              <a:lightRig rig="threePt" dir="t"/>
            </a:scene3d>
          </a:bodyPr>
          <a:p>
            <a:pPr lvl="0" algn="ctr">
              <a:buClrTx/>
              <a:buSzTx/>
              <a:buFontTx/>
            </a:pPr>
            <a:r>
              <a:rPr lang="en-US" altLang="zh-CN" sz="800">
                <a:sym typeface="+mn-ea"/>
              </a:rPr>
              <a:t>Attn</a:t>
            </a:r>
            <a:r>
              <a:rPr lang="zh-CN" altLang="en-US" sz="800">
                <a:sym typeface="+mn-ea"/>
              </a:rPr>
              <a:t>（</a:t>
            </a:r>
            <a:r>
              <a:rPr lang="en-US" altLang="zh-CN" sz="800">
                <a:sym typeface="+mn-ea"/>
              </a:rPr>
              <a:t>Q=K</a:t>
            </a:r>
            <a:r>
              <a:rPr lang="zh-CN" altLang="en-US" sz="800">
                <a:sym typeface="+mn-ea"/>
              </a:rPr>
              <a:t>）</a:t>
            </a:r>
            <a:endParaRPr lang="zh-CN" altLang="en-US" sz="800" b="1">
              <a:solidFill>
                <a:schemeClr val="bg1"/>
              </a:solidFill>
            </a:endParaRPr>
          </a:p>
        </p:txBody>
      </p:sp>
      <p:sp>
        <p:nvSpPr>
          <p:cNvPr id="135" name="圆角矩形 134"/>
          <p:cNvSpPr/>
          <p:nvPr/>
        </p:nvSpPr>
        <p:spPr>
          <a:xfrm>
            <a:off x="5534660" y="5153025"/>
            <a:ext cx="511175" cy="25082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000">
                <a:sym typeface="+mn-ea"/>
              </a:rPr>
              <a:t>Gate</a:t>
            </a:r>
            <a:endParaRPr lang="zh-CN" altLang="en-US" sz="1000">
              <a:sym typeface="+mn-ea"/>
            </a:endParaRPr>
          </a:p>
        </p:txBody>
      </p:sp>
      <p:sp>
        <p:nvSpPr>
          <p:cNvPr id="137" name="右箭头 136"/>
          <p:cNvSpPr/>
          <p:nvPr/>
        </p:nvSpPr>
        <p:spPr>
          <a:xfrm>
            <a:off x="5322570" y="5164455"/>
            <a:ext cx="157480" cy="179705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8" name="圆角矩形 137"/>
          <p:cNvSpPr/>
          <p:nvPr/>
        </p:nvSpPr>
        <p:spPr>
          <a:xfrm>
            <a:off x="5453380" y="378460"/>
            <a:ext cx="4529455" cy="361950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/>
              <a:t>Graph Context</a:t>
            </a:r>
            <a:endParaRPr lang="zh-CN" altLang="en-US" sz="1200"/>
          </a:p>
        </p:txBody>
      </p:sp>
      <p:sp>
        <p:nvSpPr>
          <p:cNvPr id="2" name="下箭头 1"/>
          <p:cNvSpPr/>
          <p:nvPr/>
        </p:nvSpPr>
        <p:spPr>
          <a:xfrm>
            <a:off x="4320540" y="694690"/>
            <a:ext cx="75565" cy="75565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7" name="直角上箭头 86"/>
          <p:cNvSpPr/>
          <p:nvPr/>
        </p:nvSpPr>
        <p:spPr>
          <a:xfrm>
            <a:off x="2815590" y="3847465"/>
            <a:ext cx="682625" cy="182245"/>
          </a:xfrm>
          <a:prstGeom prst="bentUpArrow">
            <a:avLst/>
          </a:prstGeom>
          <a:scene3d>
            <a:camera prst="orthographicFront">
              <a:rot lat="0" lon="0" rev="10800000"/>
            </a:camera>
            <a:lightRig rig="threePt" dir="t"/>
          </a:scene3d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7" name="圆角矩形 156"/>
          <p:cNvSpPr/>
          <p:nvPr/>
        </p:nvSpPr>
        <p:spPr>
          <a:xfrm>
            <a:off x="7745730" y="3297555"/>
            <a:ext cx="572770" cy="224155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 b="1"/>
              <a:t>X_local</a:t>
            </a:r>
            <a:endParaRPr lang="en-US" altLang="zh-CN" sz="800" b="1"/>
          </a:p>
        </p:txBody>
      </p:sp>
      <p:sp>
        <p:nvSpPr>
          <p:cNvPr id="160" name="菱形 159"/>
          <p:cNvSpPr/>
          <p:nvPr/>
        </p:nvSpPr>
        <p:spPr>
          <a:xfrm>
            <a:off x="7703185" y="3672205"/>
            <a:ext cx="699770" cy="384810"/>
          </a:xfrm>
          <a:prstGeom prst="diamond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800"/>
          </a:p>
        </p:txBody>
      </p:sp>
      <p:sp>
        <p:nvSpPr>
          <p:cNvPr id="161" name="文本框 160"/>
          <p:cNvSpPr txBox="1"/>
          <p:nvPr/>
        </p:nvSpPr>
        <p:spPr>
          <a:xfrm>
            <a:off x="7792720" y="3757930"/>
            <a:ext cx="521335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800" b="1">
                <a:solidFill>
                  <a:schemeClr val="bg1"/>
                </a:solidFill>
              </a:rPr>
              <a:t>Global?</a:t>
            </a:r>
            <a:endParaRPr lang="en-US" altLang="zh-CN" sz="800" b="1">
              <a:solidFill>
                <a:schemeClr val="bg1"/>
              </a:solidFill>
            </a:endParaRPr>
          </a:p>
        </p:txBody>
      </p:sp>
      <p:sp>
        <p:nvSpPr>
          <p:cNvPr id="163" name="下箭头 162"/>
          <p:cNvSpPr/>
          <p:nvPr/>
        </p:nvSpPr>
        <p:spPr>
          <a:xfrm>
            <a:off x="8014970" y="4091305"/>
            <a:ext cx="76200" cy="106680"/>
          </a:xfrm>
          <a:prstGeom prst="downArrow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76" name="下箭头 175"/>
          <p:cNvSpPr/>
          <p:nvPr/>
        </p:nvSpPr>
        <p:spPr>
          <a:xfrm>
            <a:off x="8014970" y="3553460"/>
            <a:ext cx="76200" cy="106680"/>
          </a:xfrm>
          <a:prstGeom prst="downArrow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93" name="下箭头 192"/>
          <p:cNvSpPr/>
          <p:nvPr/>
        </p:nvSpPr>
        <p:spPr>
          <a:xfrm>
            <a:off x="8014970" y="3105150"/>
            <a:ext cx="76200" cy="106680"/>
          </a:xfrm>
          <a:prstGeom prst="downArrow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94" name="文本框 193"/>
          <p:cNvSpPr txBox="1"/>
          <p:nvPr/>
        </p:nvSpPr>
        <p:spPr>
          <a:xfrm>
            <a:off x="8138795" y="4037330"/>
            <a:ext cx="411480" cy="1606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800">
                <a:solidFill>
                  <a:srgbClr val="92D050"/>
                </a:solidFill>
                <a:sym typeface="+mn-ea"/>
              </a:rPr>
              <a:t>YES</a:t>
            </a:r>
            <a:endParaRPr lang="en-US" altLang="zh-CN" sz="800">
              <a:solidFill>
                <a:srgbClr val="92D050"/>
              </a:solidFill>
            </a:endParaRPr>
          </a:p>
        </p:txBody>
      </p:sp>
      <p:sp>
        <p:nvSpPr>
          <p:cNvPr id="198" name="文本框 197"/>
          <p:cNvSpPr txBox="1"/>
          <p:nvPr/>
        </p:nvSpPr>
        <p:spPr>
          <a:xfrm>
            <a:off x="3565525" y="461010"/>
            <a:ext cx="169037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olidFill>
                  <a:schemeClr val="lt1"/>
                </a:solidFill>
              </a:rPr>
              <a:t>Remove Self Loops</a:t>
            </a:r>
            <a:endParaRPr lang="en-US" altLang="zh-CN" sz="1200">
              <a:solidFill>
                <a:schemeClr val="lt1"/>
              </a:solidFill>
            </a:endParaRPr>
          </a:p>
        </p:txBody>
      </p:sp>
      <p:sp>
        <p:nvSpPr>
          <p:cNvPr id="167" name="圆角矩形 166"/>
          <p:cNvSpPr/>
          <p:nvPr/>
        </p:nvSpPr>
        <p:spPr>
          <a:xfrm>
            <a:off x="7722870" y="4267200"/>
            <a:ext cx="612775" cy="21145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800" b="1"/>
          </a:p>
        </p:txBody>
      </p:sp>
      <p:sp>
        <p:nvSpPr>
          <p:cNvPr id="172" name="文本框 171"/>
          <p:cNvSpPr txBox="1"/>
          <p:nvPr/>
        </p:nvSpPr>
        <p:spPr>
          <a:xfrm>
            <a:off x="7588250" y="4267200"/>
            <a:ext cx="835660" cy="1905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800" b="1">
                <a:solidFill>
                  <a:schemeClr val="accent4">
                    <a:lumMod val="75000"/>
                  </a:schemeClr>
                </a:solidFill>
              </a:rPr>
              <a:t>LayerNorm</a:t>
            </a:r>
            <a:endParaRPr lang="en-US" altLang="zh-CN" sz="800" b="1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19" name="圆角矩形 218"/>
          <p:cNvSpPr/>
          <p:nvPr/>
        </p:nvSpPr>
        <p:spPr>
          <a:xfrm>
            <a:off x="7077075" y="4478655"/>
            <a:ext cx="511175" cy="25082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000">
                <a:sym typeface="+mn-ea"/>
              </a:rPr>
              <a:t>FFN</a:t>
            </a:r>
            <a:endParaRPr lang="en-US" altLang="zh-CN" sz="1000">
              <a:sym typeface="+mn-ea"/>
            </a:endParaRPr>
          </a:p>
        </p:txBody>
      </p:sp>
      <p:sp>
        <p:nvSpPr>
          <p:cNvPr id="223" name="圆角矩形 222"/>
          <p:cNvSpPr/>
          <p:nvPr/>
        </p:nvSpPr>
        <p:spPr>
          <a:xfrm>
            <a:off x="3498215" y="3675380"/>
            <a:ext cx="511175" cy="25082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 b="1"/>
              <a:t>ReLU</a:t>
            </a:r>
            <a:endParaRPr lang="en-US" altLang="zh-CN" sz="800" b="1"/>
          </a:p>
        </p:txBody>
      </p:sp>
      <p:sp>
        <p:nvSpPr>
          <p:cNvPr id="230" name="下箭头 229"/>
          <p:cNvSpPr/>
          <p:nvPr/>
        </p:nvSpPr>
        <p:spPr>
          <a:xfrm>
            <a:off x="3248025" y="1039495"/>
            <a:ext cx="177800" cy="591820"/>
          </a:xfrm>
          <a:prstGeom prst="downArrow">
            <a:avLst/>
          </a:prstGeom>
          <a:solidFill>
            <a:srgbClr val="00B050"/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79" name="圆角矩形 78"/>
          <p:cNvSpPr/>
          <p:nvPr/>
        </p:nvSpPr>
        <p:spPr>
          <a:xfrm>
            <a:off x="7588250" y="1904365"/>
            <a:ext cx="765175" cy="41275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 b="1"/>
              <a:t>LayerNorm</a:t>
            </a:r>
            <a:endParaRPr lang="en-US" altLang="zh-CN" sz="800" b="1"/>
          </a:p>
        </p:txBody>
      </p:sp>
      <p:sp>
        <p:nvSpPr>
          <p:cNvPr id="281" name="圆角矩形 280"/>
          <p:cNvSpPr/>
          <p:nvPr/>
        </p:nvSpPr>
        <p:spPr>
          <a:xfrm>
            <a:off x="4926330" y="5166360"/>
            <a:ext cx="472440" cy="208915"/>
          </a:xfrm>
          <a:prstGeom prst="roundRect">
            <a:avLst/>
          </a:prstGeom>
          <a:solidFill>
            <a:srgbClr val="00B050"/>
          </a:solidFill>
          <a:ln>
            <a:solidFill>
              <a:schemeClr val="accent4">
                <a:lumMod val="40000"/>
                <a:lumOff val="60000"/>
              </a:schemeClr>
            </a:solidFill>
          </a:ln>
          <a:scene3d>
            <a:camera prst="orthographicFront">
              <a:rot lat="0" lon="0" rev="16200000"/>
            </a:camera>
            <a:lightRig rig="threePt" dir="t"/>
          </a:scene3d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 b="1"/>
              <a:t>ReLU</a:t>
            </a:r>
            <a:endParaRPr lang="en-US" altLang="zh-CN" sz="800" b="1"/>
          </a:p>
        </p:txBody>
      </p:sp>
      <p:sp>
        <p:nvSpPr>
          <p:cNvPr id="284" name="右箭头 283"/>
          <p:cNvSpPr/>
          <p:nvPr/>
        </p:nvSpPr>
        <p:spPr>
          <a:xfrm>
            <a:off x="3846830" y="5238115"/>
            <a:ext cx="110490" cy="7620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1" name="圆角矩形 290"/>
          <p:cNvSpPr/>
          <p:nvPr/>
        </p:nvSpPr>
        <p:spPr>
          <a:xfrm>
            <a:off x="5137150" y="1625600"/>
            <a:ext cx="758825" cy="23495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800">
                <a:sym typeface="+mn-ea"/>
              </a:rPr>
              <a:t>LayerNorm</a:t>
            </a:r>
            <a:endParaRPr lang="en-US" altLang="zh-CN" sz="800">
              <a:sym typeface="+mn-ea"/>
            </a:endParaRPr>
          </a:p>
        </p:txBody>
      </p:sp>
      <p:sp>
        <p:nvSpPr>
          <p:cNvPr id="26" name="圆角矩形 25"/>
          <p:cNvSpPr/>
          <p:nvPr/>
        </p:nvSpPr>
        <p:spPr>
          <a:xfrm>
            <a:off x="6303645" y="2076450"/>
            <a:ext cx="1092200" cy="23241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800">
                <a:sym typeface="+mn-ea"/>
              </a:rPr>
              <a:t>update</a:t>
            </a:r>
            <a:endParaRPr lang="en-US" altLang="zh-CN" sz="800">
              <a:sym typeface="+mn-ea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5952490" y="1645920"/>
            <a:ext cx="551815" cy="23495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800">
                <a:sym typeface="+mn-ea"/>
              </a:rPr>
              <a:t>Filter</a:t>
            </a:r>
            <a:endParaRPr lang="en-US" altLang="zh-CN" sz="800">
              <a:sym typeface="+mn-ea"/>
            </a:endParaRPr>
          </a:p>
        </p:txBody>
      </p:sp>
      <p:sp>
        <p:nvSpPr>
          <p:cNvPr id="68" name="圆角矩形 67"/>
          <p:cNvSpPr/>
          <p:nvPr/>
        </p:nvSpPr>
        <p:spPr>
          <a:xfrm>
            <a:off x="8716010" y="1553210"/>
            <a:ext cx="354330" cy="224155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 b="1"/>
              <a:t>X1</a:t>
            </a:r>
            <a:endParaRPr lang="en-US" altLang="zh-CN" sz="800" b="1"/>
          </a:p>
        </p:txBody>
      </p:sp>
      <p:sp>
        <p:nvSpPr>
          <p:cNvPr id="69" name="圆角矩形 68"/>
          <p:cNvSpPr/>
          <p:nvPr/>
        </p:nvSpPr>
        <p:spPr>
          <a:xfrm>
            <a:off x="8716010" y="1821815"/>
            <a:ext cx="354330" cy="224155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 b="1"/>
              <a:t>X2</a:t>
            </a:r>
            <a:endParaRPr lang="en-US" altLang="zh-CN" sz="800" b="1"/>
          </a:p>
        </p:txBody>
      </p:sp>
      <p:sp>
        <p:nvSpPr>
          <p:cNvPr id="70" name="圆角矩形 69"/>
          <p:cNvSpPr/>
          <p:nvPr/>
        </p:nvSpPr>
        <p:spPr>
          <a:xfrm>
            <a:off x="8716010" y="2084070"/>
            <a:ext cx="354330" cy="224155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 b="1"/>
              <a:t>X3</a:t>
            </a:r>
            <a:endParaRPr lang="en-US" altLang="zh-CN" sz="800" b="1"/>
          </a:p>
        </p:txBody>
      </p:sp>
      <p:sp>
        <p:nvSpPr>
          <p:cNvPr id="72" name="圆角矩形 71"/>
          <p:cNvSpPr/>
          <p:nvPr/>
        </p:nvSpPr>
        <p:spPr>
          <a:xfrm>
            <a:off x="8716010" y="2510155"/>
            <a:ext cx="354330" cy="224155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 b="1"/>
              <a:t>Xn</a:t>
            </a:r>
            <a:endParaRPr lang="en-US" altLang="zh-CN" sz="800" b="1"/>
          </a:p>
        </p:txBody>
      </p:sp>
      <p:sp>
        <p:nvSpPr>
          <p:cNvPr id="110" name="上箭头 109"/>
          <p:cNvSpPr/>
          <p:nvPr/>
        </p:nvSpPr>
        <p:spPr>
          <a:xfrm>
            <a:off x="6045835" y="1880870"/>
            <a:ext cx="151765" cy="389890"/>
          </a:xfrm>
          <a:prstGeom prst="upArrow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46" name="下箭头 145"/>
          <p:cNvSpPr/>
          <p:nvPr/>
        </p:nvSpPr>
        <p:spPr>
          <a:xfrm>
            <a:off x="5443855" y="1304290"/>
            <a:ext cx="215900" cy="255270"/>
          </a:xfrm>
          <a:prstGeom prst="downArrow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74" name="矩形 173"/>
          <p:cNvSpPr/>
          <p:nvPr/>
        </p:nvSpPr>
        <p:spPr>
          <a:xfrm>
            <a:off x="8244840" y="1506855"/>
            <a:ext cx="440055" cy="76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75" name="矩形 174"/>
          <p:cNvSpPr/>
          <p:nvPr/>
        </p:nvSpPr>
        <p:spPr>
          <a:xfrm>
            <a:off x="8244840" y="1625600"/>
            <a:ext cx="440055" cy="76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90" name="矩形 189"/>
          <p:cNvSpPr/>
          <p:nvPr/>
        </p:nvSpPr>
        <p:spPr>
          <a:xfrm>
            <a:off x="8244840" y="1740535"/>
            <a:ext cx="440055" cy="76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91" name="圆角矩形 190"/>
          <p:cNvSpPr/>
          <p:nvPr/>
        </p:nvSpPr>
        <p:spPr>
          <a:xfrm>
            <a:off x="8394700" y="1477645"/>
            <a:ext cx="140335" cy="37211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/>
              <a:t>MLP</a:t>
            </a:r>
            <a:endParaRPr lang="en-US" altLang="zh-CN" sz="800"/>
          </a:p>
        </p:txBody>
      </p:sp>
      <p:sp>
        <p:nvSpPr>
          <p:cNvPr id="195" name="下箭头 194"/>
          <p:cNvSpPr/>
          <p:nvPr/>
        </p:nvSpPr>
        <p:spPr>
          <a:xfrm flipH="1">
            <a:off x="8394700" y="1884045"/>
            <a:ext cx="139700" cy="359410"/>
          </a:xfrm>
          <a:prstGeom prst="downArrow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28" name="右箭头 227"/>
          <p:cNvSpPr/>
          <p:nvPr/>
        </p:nvSpPr>
        <p:spPr>
          <a:xfrm>
            <a:off x="8402320" y="2161540"/>
            <a:ext cx="282575" cy="104775"/>
          </a:xfrm>
          <a:prstGeom prst="rightArrow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9" name="右箭头 228"/>
          <p:cNvSpPr/>
          <p:nvPr/>
        </p:nvSpPr>
        <p:spPr>
          <a:xfrm>
            <a:off x="5244465" y="406400"/>
            <a:ext cx="198000" cy="216000"/>
          </a:xfrm>
          <a:prstGeom prst="rightArrow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38" name="下箭头 237"/>
          <p:cNvSpPr/>
          <p:nvPr/>
        </p:nvSpPr>
        <p:spPr>
          <a:xfrm>
            <a:off x="6779895" y="1304290"/>
            <a:ext cx="106680" cy="436880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40" name="下箭头 239"/>
          <p:cNvSpPr/>
          <p:nvPr/>
        </p:nvSpPr>
        <p:spPr>
          <a:xfrm>
            <a:off x="5443855" y="1876425"/>
            <a:ext cx="171450" cy="389255"/>
          </a:xfrm>
          <a:prstGeom prst="downArrow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44" name="下箭头 243"/>
          <p:cNvSpPr/>
          <p:nvPr/>
        </p:nvSpPr>
        <p:spPr>
          <a:xfrm>
            <a:off x="6068695" y="1304290"/>
            <a:ext cx="128905" cy="255270"/>
          </a:xfrm>
          <a:prstGeom prst="downArrow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47" name="右箭头 246"/>
          <p:cNvSpPr/>
          <p:nvPr/>
        </p:nvSpPr>
        <p:spPr>
          <a:xfrm>
            <a:off x="7423150" y="2149475"/>
            <a:ext cx="143510" cy="94615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50" name="下箭头 249"/>
          <p:cNvSpPr/>
          <p:nvPr/>
        </p:nvSpPr>
        <p:spPr>
          <a:xfrm>
            <a:off x="8423910" y="814705"/>
            <a:ext cx="111125" cy="603885"/>
          </a:xfrm>
          <a:prstGeom prst="downArrow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55" name="下箭头 254"/>
          <p:cNvSpPr/>
          <p:nvPr/>
        </p:nvSpPr>
        <p:spPr>
          <a:xfrm>
            <a:off x="8014970" y="4504690"/>
            <a:ext cx="76200" cy="106680"/>
          </a:xfrm>
          <a:prstGeom prst="downArrow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56" name="文本框 255"/>
          <p:cNvSpPr txBox="1"/>
          <p:nvPr/>
        </p:nvSpPr>
        <p:spPr>
          <a:xfrm>
            <a:off x="7814310" y="4611370"/>
            <a:ext cx="588645" cy="2044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buClrTx/>
              <a:buSzTx/>
              <a:buFontTx/>
            </a:pPr>
            <a:r>
              <a:rPr lang="en-US" altLang="zh-CN" sz="800" b="1">
                <a:solidFill>
                  <a:schemeClr val="accent4">
                    <a:lumMod val="75000"/>
                  </a:schemeClr>
                </a:solidFill>
              </a:rPr>
              <a:t>Q K V</a:t>
            </a:r>
            <a:endParaRPr lang="en-US" altLang="zh-CN" sz="800" b="1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57" name="下箭头 256"/>
          <p:cNvSpPr/>
          <p:nvPr/>
        </p:nvSpPr>
        <p:spPr>
          <a:xfrm>
            <a:off x="8104505" y="4504690"/>
            <a:ext cx="76200" cy="106680"/>
          </a:xfrm>
          <a:prstGeom prst="downArrow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58" name="下箭头 257"/>
          <p:cNvSpPr/>
          <p:nvPr/>
        </p:nvSpPr>
        <p:spPr>
          <a:xfrm>
            <a:off x="7915275" y="4504690"/>
            <a:ext cx="76200" cy="106680"/>
          </a:xfrm>
          <a:prstGeom prst="downArrow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59" name="下箭头 258"/>
          <p:cNvSpPr/>
          <p:nvPr/>
        </p:nvSpPr>
        <p:spPr>
          <a:xfrm>
            <a:off x="8001635" y="4829175"/>
            <a:ext cx="76200" cy="106680"/>
          </a:xfrm>
          <a:prstGeom prst="downArrow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60" name="下箭头 259"/>
          <p:cNvSpPr/>
          <p:nvPr/>
        </p:nvSpPr>
        <p:spPr>
          <a:xfrm>
            <a:off x="8091170" y="4829175"/>
            <a:ext cx="76200" cy="106680"/>
          </a:xfrm>
          <a:prstGeom prst="downArrow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61" name="下箭头 260"/>
          <p:cNvSpPr/>
          <p:nvPr/>
        </p:nvSpPr>
        <p:spPr>
          <a:xfrm>
            <a:off x="7901940" y="4829175"/>
            <a:ext cx="76200" cy="106680"/>
          </a:xfrm>
          <a:prstGeom prst="downArrow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63" name="文本框 262"/>
          <p:cNvSpPr txBox="1"/>
          <p:nvPr/>
        </p:nvSpPr>
        <p:spPr>
          <a:xfrm>
            <a:off x="7814310" y="4935855"/>
            <a:ext cx="588645" cy="2044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buClrTx/>
              <a:buSzTx/>
              <a:buFontTx/>
            </a:pPr>
            <a:r>
              <a:rPr lang="en-US" altLang="zh-CN" sz="800" b="1">
                <a:solidFill>
                  <a:schemeClr val="accent4">
                    <a:lumMod val="75000"/>
                  </a:schemeClr>
                </a:solidFill>
              </a:rPr>
              <a:t>Q* K* V</a:t>
            </a:r>
            <a:endParaRPr lang="en-US" altLang="zh-CN" sz="800" b="1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68" name="圆角矩形 267"/>
          <p:cNvSpPr/>
          <p:nvPr/>
        </p:nvSpPr>
        <p:spPr>
          <a:xfrm>
            <a:off x="7161530" y="5685790"/>
            <a:ext cx="1005840" cy="25019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000">
                <a:sym typeface="+mn-ea"/>
              </a:rPr>
              <a:t>Attn</a:t>
            </a:r>
            <a:r>
              <a:rPr lang="zh-CN" altLang="en-US" sz="1000">
                <a:sym typeface="+mn-ea"/>
              </a:rPr>
              <a:t>（</a:t>
            </a:r>
            <a:r>
              <a:rPr lang="en-US" altLang="zh-CN" sz="1000">
                <a:sym typeface="+mn-ea"/>
              </a:rPr>
              <a:t>Q≠K</a:t>
            </a:r>
            <a:r>
              <a:rPr lang="zh-CN" altLang="en-US" sz="1000">
                <a:sym typeface="+mn-ea"/>
              </a:rPr>
              <a:t>）</a:t>
            </a:r>
            <a:endParaRPr lang="zh-CN" altLang="en-US" sz="1000">
              <a:sym typeface="+mn-ea"/>
            </a:endParaRPr>
          </a:p>
        </p:txBody>
      </p:sp>
      <p:sp>
        <p:nvSpPr>
          <p:cNvPr id="303" name="圆角矩形 302"/>
          <p:cNvSpPr/>
          <p:nvPr/>
        </p:nvSpPr>
        <p:spPr>
          <a:xfrm>
            <a:off x="5398770" y="993140"/>
            <a:ext cx="1678305" cy="311150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/>
              <a:t>Feature</a:t>
            </a:r>
            <a:endParaRPr lang="zh-CN" altLang="en-US" sz="1200"/>
          </a:p>
        </p:txBody>
      </p:sp>
      <p:sp>
        <p:nvSpPr>
          <p:cNvPr id="304" name="右箭头 303"/>
          <p:cNvSpPr/>
          <p:nvPr/>
        </p:nvSpPr>
        <p:spPr>
          <a:xfrm>
            <a:off x="5592445" y="789940"/>
            <a:ext cx="216000" cy="153670"/>
          </a:xfrm>
          <a:prstGeom prst="rightArrow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  <a:scene3d>
            <a:camera prst="orthographicFront">
              <a:rot lat="0" lon="0" rev="16200000"/>
            </a:camera>
            <a:lightRig rig="threePt" dir="t"/>
          </a:scene3d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05" name="椭圆 304"/>
          <p:cNvSpPr/>
          <p:nvPr/>
        </p:nvSpPr>
        <p:spPr>
          <a:xfrm>
            <a:off x="5398770" y="2564130"/>
            <a:ext cx="177800" cy="17462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06" name="椭圆 305"/>
          <p:cNvSpPr/>
          <p:nvPr/>
        </p:nvSpPr>
        <p:spPr>
          <a:xfrm>
            <a:off x="5535930" y="2336800"/>
            <a:ext cx="177800" cy="17462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07" name="椭圆 306"/>
          <p:cNvSpPr/>
          <p:nvPr/>
        </p:nvSpPr>
        <p:spPr>
          <a:xfrm>
            <a:off x="5752465" y="2221865"/>
            <a:ext cx="177800" cy="17462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08" name="椭圆 307"/>
          <p:cNvSpPr/>
          <p:nvPr/>
        </p:nvSpPr>
        <p:spPr>
          <a:xfrm>
            <a:off x="6082030" y="2571115"/>
            <a:ext cx="177800" cy="17462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09" name="椭圆 308"/>
          <p:cNvSpPr/>
          <p:nvPr/>
        </p:nvSpPr>
        <p:spPr>
          <a:xfrm>
            <a:off x="5952490" y="2345055"/>
            <a:ext cx="177800" cy="17462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10" name="椭圆 309"/>
          <p:cNvSpPr/>
          <p:nvPr/>
        </p:nvSpPr>
        <p:spPr>
          <a:xfrm>
            <a:off x="5752465" y="2571115"/>
            <a:ext cx="177800" cy="174625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cxnSp>
        <p:nvCxnSpPr>
          <p:cNvPr id="311" name="直接连接符 310"/>
          <p:cNvCxnSpPr>
            <a:stCxn id="305" idx="6"/>
            <a:endCxn id="310" idx="2"/>
          </p:cNvCxnSpPr>
          <p:nvPr/>
        </p:nvCxnSpPr>
        <p:spPr>
          <a:xfrm>
            <a:off x="5576570" y="2651760"/>
            <a:ext cx="175895" cy="6985"/>
          </a:xfrm>
          <a:prstGeom prst="line">
            <a:avLst/>
          </a:prstGeom>
          <a:ln w="6350" cmpd="sng">
            <a:solidFill>
              <a:schemeClr val="tx1"/>
            </a:solidFill>
            <a:prstDash val="solid"/>
            <a:tailEnd type="triangle" w="sm" len="sm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2" name="直接连接符 311"/>
          <p:cNvCxnSpPr>
            <a:stCxn id="306" idx="5"/>
            <a:endCxn id="310" idx="1"/>
          </p:cNvCxnSpPr>
          <p:nvPr/>
        </p:nvCxnSpPr>
        <p:spPr>
          <a:xfrm>
            <a:off x="5687695" y="2486025"/>
            <a:ext cx="90805" cy="110490"/>
          </a:xfrm>
          <a:prstGeom prst="line">
            <a:avLst/>
          </a:prstGeom>
          <a:ln w="6350" cmpd="sng">
            <a:solidFill>
              <a:schemeClr val="tx1"/>
            </a:solidFill>
            <a:prstDash val="solid"/>
            <a:tailEnd type="triangle" w="sm" len="sm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3" name="直接连接符 312"/>
          <p:cNvCxnSpPr>
            <a:stCxn id="310" idx="0"/>
            <a:endCxn id="307" idx="4"/>
          </p:cNvCxnSpPr>
          <p:nvPr/>
        </p:nvCxnSpPr>
        <p:spPr>
          <a:xfrm flipV="1">
            <a:off x="5841365" y="2396490"/>
            <a:ext cx="0" cy="174625"/>
          </a:xfrm>
          <a:prstGeom prst="line">
            <a:avLst/>
          </a:prstGeom>
          <a:ln w="6350" cmpd="sng">
            <a:solidFill>
              <a:schemeClr val="tx1"/>
            </a:solidFill>
            <a:prstDash val="solid"/>
            <a:headEnd type="triangle" w="sm" len="sm"/>
            <a:tailEnd type="none" w="sm" len="sm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4" name="直接箭头连接符 313"/>
          <p:cNvCxnSpPr>
            <a:stCxn id="309" idx="3"/>
            <a:endCxn id="310" idx="7"/>
          </p:cNvCxnSpPr>
          <p:nvPr/>
        </p:nvCxnSpPr>
        <p:spPr>
          <a:xfrm flipH="1">
            <a:off x="5904230" y="2494280"/>
            <a:ext cx="74295" cy="102235"/>
          </a:xfrm>
          <a:prstGeom prst="straightConnector1">
            <a:avLst/>
          </a:prstGeom>
          <a:ln w="6350" cmpd="sng">
            <a:solidFill>
              <a:schemeClr val="tx1"/>
            </a:solidFill>
            <a:prstDash val="solid"/>
            <a:tailEnd type="triangle" w="sm" len="sm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5" name="直接箭头连接符 314"/>
          <p:cNvCxnSpPr>
            <a:stCxn id="308" idx="2"/>
            <a:endCxn id="310" idx="6"/>
          </p:cNvCxnSpPr>
          <p:nvPr/>
        </p:nvCxnSpPr>
        <p:spPr>
          <a:xfrm flipH="1">
            <a:off x="5930265" y="2658745"/>
            <a:ext cx="151765" cy="0"/>
          </a:xfrm>
          <a:prstGeom prst="straightConnector1">
            <a:avLst/>
          </a:prstGeom>
          <a:ln w="6350" cmpd="sng">
            <a:solidFill>
              <a:schemeClr val="tx1"/>
            </a:solidFill>
            <a:prstDash val="solid"/>
            <a:tailEnd type="triangle" w="sm" len="sm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16" name="椭圆 315"/>
          <p:cNvSpPr/>
          <p:nvPr/>
        </p:nvSpPr>
        <p:spPr>
          <a:xfrm>
            <a:off x="5752465" y="2891155"/>
            <a:ext cx="177800" cy="174625"/>
          </a:xfrm>
          <a:prstGeom prst="ellipse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cxnSp>
        <p:nvCxnSpPr>
          <p:cNvPr id="317" name="直接箭头连接符 316"/>
          <p:cNvCxnSpPr>
            <a:stCxn id="310" idx="4"/>
            <a:endCxn id="316" idx="0"/>
          </p:cNvCxnSpPr>
          <p:nvPr/>
        </p:nvCxnSpPr>
        <p:spPr>
          <a:xfrm>
            <a:off x="5841365" y="2745740"/>
            <a:ext cx="0" cy="145415"/>
          </a:xfrm>
          <a:prstGeom prst="straightConnector1">
            <a:avLst/>
          </a:prstGeom>
          <a:ln w="6350" cmpd="sng">
            <a:solidFill>
              <a:schemeClr val="tx1"/>
            </a:solidFill>
            <a:prstDash val="solid"/>
            <a:headEnd type="none" w="sm" len="sm"/>
            <a:tailEnd type="triangle" w="sm" len="sm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18" name="左弧形箭头 317"/>
          <p:cNvSpPr/>
          <p:nvPr/>
        </p:nvSpPr>
        <p:spPr>
          <a:xfrm>
            <a:off x="5725795" y="2702560"/>
            <a:ext cx="76200" cy="100330"/>
          </a:xfrm>
          <a:prstGeom prst="curvedRightArrow">
            <a:avLst/>
          </a:prstGeom>
          <a:solidFill>
            <a:schemeClr val="tx1"/>
          </a:solidFill>
          <a:ln>
            <a:noFill/>
          </a:ln>
          <a:scene3d>
            <a:camera prst="orthographicFront">
              <a:rot lat="0" lon="0" rev="3000000"/>
            </a:camera>
            <a:lightRig rig="threePt" dir="t"/>
          </a:scene3d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30" name="右箭头 329"/>
          <p:cNvSpPr/>
          <p:nvPr/>
        </p:nvSpPr>
        <p:spPr>
          <a:xfrm>
            <a:off x="8353425" y="2592705"/>
            <a:ext cx="280035" cy="83820"/>
          </a:xfrm>
          <a:prstGeom prst="rightArrow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  <a:scene3d>
            <a:camera prst="orthographicFront">
              <a:rot lat="0" lon="0" rev="10800000"/>
            </a:camera>
            <a:lightRig rig="threePt" dir="t"/>
          </a:scene3d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2" name="下箭头 331"/>
          <p:cNvSpPr/>
          <p:nvPr/>
        </p:nvSpPr>
        <p:spPr>
          <a:xfrm>
            <a:off x="6303645" y="1903730"/>
            <a:ext cx="168275" cy="172720"/>
          </a:xfrm>
          <a:prstGeom prst="downArrow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34" name="文本框 333"/>
          <p:cNvSpPr txBox="1"/>
          <p:nvPr/>
        </p:nvSpPr>
        <p:spPr>
          <a:xfrm flipH="1">
            <a:off x="8622030" y="2242820"/>
            <a:ext cx="343535" cy="334010"/>
          </a:xfrm>
          <a:prstGeom prst="rect">
            <a:avLst/>
          </a:prstGeom>
          <a:noFill/>
          <a:scene3d>
            <a:camera prst="orthographicFront">
              <a:rot lat="0" lon="0" rev="5400000"/>
            </a:camera>
            <a:lightRig rig="threePt" dir="t"/>
          </a:scene3d>
        </p:spPr>
        <p:txBody>
          <a:bodyPr wrap="square" rtlCol="0">
            <a:noAutofit/>
          </a:bodyPr>
          <a:p>
            <a:r>
              <a:rPr lang="en-US" altLang="zh-CN"/>
              <a:t>...</a:t>
            </a:r>
            <a:endParaRPr lang="en-US" altLang="zh-CN"/>
          </a:p>
        </p:txBody>
      </p:sp>
      <p:sp>
        <p:nvSpPr>
          <p:cNvPr id="336" name="下箭头 335"/>
          <p:cNvSpPr/>
          <p:nvPr/>
        </p:nvSpPr>
        <p:spPr>
          <a:xfrm>
            <a:off x="8006715" y="5171440"/>
            <a:ext cx="84455" cy="374650"/>
          </a:xfrm>
          <a:prstGeom prst="downArrow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39" name="椭圆 338"/>
          <p:cNvSpPr/>
          <p:nvPr/>
        </p:nvSpPr>
        <p:spPr>
          <a:xfrm>
            <a:off x="2894330" y="2030095"/>
            <a:ext cx="177800" cy="17462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40" name="椭圆 339"/>
          <p:cNvSpPr/>
          <p:nvPr/>
        </p:nvSpPr>
        <p:spPr>
          <a:xfrm>
            <a:off x="3031490" y="1802765"/>
            <a:ext cx="177800" cy="17462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41" name="椭圆 340"/>
          <p:cNvSpPr/>
          <p:nvPr/>
        </p:nvSpPr>
        <p:spPr>
          <a:xfrm>
            <a:off x="3248025" y="1687830"/>
            <a:ext cx="177800" cy="17462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42" name="椭圆 341"/>
          <p:cNvSpPr/>
          <p:nvPr/>
        </p:nvSpPr>
        <p:spPr>
          <a:xfrm>
            <a:off x="3577590" y="2037080"/>
            <a:ext cx="177800" cy="17462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43" name="椭圆 342"/>
          <p:cNvSpPr/>
          <p:nvPr/>
        </p:nvSpPr>
        <p:spPr>
          <a:xfrm>
            <a:off x="3448050" y="1811020"/>
            <a:ext cx="177800" cy="17462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44" name="椭圆 343"/>
          <p:cNvSpPr/>
          <p:nvPr/>
        </p:nvSpPr>
        <p:spPr>
          <a:xfrm>
            <a:off x="3248025" y="2037080"/>
            <a:ext cx="177800" cy="174625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cxnSp>
        <p:nvCxnSpPr>
          <p:cNvPr id="345" name="直接连接符 344"/>
          <p:cNvCxnSpPr>
            <a:stCxn id="339" idx="6"/>
            <a:endCxn id="344" idx="2"/>
          </p:cNvCxnSpPr>
          <p:nvPr/>
        </p:nvCxnSpPr>
        <p:spPr>
          <a:xfrm>
            <a:off x="3072130" y="2117725"/>
            <a:ext cx="175895" cy="6985"/>
          </a:xfrm>
          <a:prstGeom prst="line">
            <a:avLst/>
          </a:prstGeom>
          <a:ln w="6350" cmpd="sng">
            <a:solidFill>
              <a:schemeClr val="tx1"/>
            </a:solidFill>
            <a:prstDash val="solid"/>
            <a:tailEnd type="triangle" w="sm" len="sm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46" name="直接连接符 345"/>
          <p:cNvCxnSpPr>
            <a:stCxn id="340" idx="5"/>
            <a:endCxn id="344" idx="1"/>
          </p:cNvCxnSpPr>
          <p:nvPr/>
        </p:nvCxnSpPr>
        <p:spPr>
          <a:xfrm>
            <a:off x="3183255" y="1951990"/>
            <a:ext cx="90805" cy="110490"/>
          </a:xfrm>
          <a:prstGeom prst="line">
            <a:avLst/>
          </a:prstGeom>
          <a:ln w="6350" cmpd="sng">
            <a:solidFill>
              <a:schemeClr val="tx1"/>
            </a:solidFill>
            <a:prstDash val="solid"/>
            <a:tailEnd type="triangle" w="sm" len="sm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47" name="直接连接符 346"/>
          <p:cNvCxnSpPr>
            <a:stCxn id="344" idx="0"/>
            <a:endCxn id="341" idx="4"/>
          </p:cNvCxnSpPr>
          <p:nvPr/>
        </p:nvCxnSpPr>
        <p:spPr>
          <a:xfrm flipV="1">
            <a:off x="3336925" y="1862455"/>
            <a:ext cx="0" cy="174625"/>
          </a:xfrm>
          <a:prstGeom prst="line">
            <a:avLst/>
          </a:prstGeom>
          <a:ln w="6350" cmpd="sng">
            <a:solidFill>
              <a:schemeClr val="tx1"/>
            </a:solidFill>
            <a:prstDash val="solid"/>
            <a:headEnd type="triangle" w="sm" len="sm"/>
            <a:tailEnd type="none" w="sm" len="sm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48" name="直接箭头连接符 347"/>
          <p:cNvCxnSpPr>
            <a:stCxn id="343" idx="3"/>
            <a:endCxn id="344" idx="7"/>
          </p:cNvCxnSpPr>
          <p:nvPr/>
        </p:nvCxnSpPr>
        <p:spPr>
          <a:xfrm flipH="1">
            <a:off x="3399790" y="1960245"/>
            <a:ext cx="74295" cy="102235"/>
          </a:xfrm>
          <a:prstGeom prst="straightConnector1">
            <a:avLst/>
          </a:prstGeom>
          <a:ln w="6350" cmpd="sng">
            <a:solidFill>
              <a:schemeClr val="tx1"/>
            </a:solidFill>
            <a:prstDash val="solid"/>
            <a:tailEnd type="triangle" w="sm" len="sm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49" name="直接箭头连接符 348"/>
          <p:cNvCxnSpPr>
            <a:stCxn id="342" idx="2"/>
            <a:endCxn id="344" idx="6"/>
          </p:cNvCxnSpPr>
          <p:nvPr/>
        </p:nvCxnSpPr>
        <p:spPr>
          <a:xfrm flipH="1">
            <a:off x="3425825" y="2124710"/>
            <a:ext cx="151765" cy="0"/>
          </a:xfrm>
          <a:prstGeom prst="straightConnector1">
            <a:avLst/>
          </a:prstGeom>
          <a:ln w="6350" cmpd="sng">
            <a:solidFill>
              <a:schemeClr val="tx1"/>
            </a:solidFill>
            <a:prstDash val="solid"/>
            <a:tailEnd type="triangle" w="sm" len="sm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50" name="椭圆 349"/>
          <p:cNvSpPr/>
          <p:nvPr/>
        </p:nvSpPr>
        <p:spPr>
          <a:xfrm>
            <a:off x="3248025" y="2357120"/>
            <a:ext cx="177800" cy="174625"/>
          </a:xfrm>
          <a:prstGeom prst="ellipse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cxnSp>
        <p:nvCxnSpPr>
          <p:cNvPr id="351" name="直接箭头连接符 350"/>
          <p:cNvCxnSpPr>
            <a:stCxn id="344" idx="4"/>
            <a:endCxn id="350" idx="0"/>
          </p:cNvCxnSpPr>
          <p:nvPr/>
        </p:nvCxnSpPr>
        <p:spPr>
          <a:xfrm>
            <a:off x="3336925" y="2211705"/>
            <a:ext cx="0" cy="145415"/>
          </a:xfrm>
          <a:prstGeom prst="straightConnector1">
            <a:avLst/>
          </a:prstGeom>
          <a:ln w="6350" cmpd="sng">
            <a:solidFill>
              <a:schemeClr val="tx1"/>
            </a:solidFill>
            <a:prstDash val="solid"/>
            <a:headEnd type="none" w="sm" len="sm"/>
            <a:tailEnd type="triangle" w="sm" len="sm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52" name="左弧形箭头 351"/>
          <p:cNvSpPr/>
          <p:nvPr/>
        </p:nvSpPr>
        <p:spPr>
          <a:xfrm>
            <a:off x="3221355" y="2168525"/>
            <a:ext cx="76200" cy="100330"/>
          </a:xfrm>
          <a:prstGeom prst="curvedRightArrow">
            <a:avLst/>
          </a:prstGeom>
          <a:solidFill>
            <a:schemeClr val="tx1"/>
          </a:solidFill>
          <a:ln>
            <a:noFill/>
          </a:ln>
          <a:scene3d>
            <a:camera prst="orthographicFront">
              <a:rot lat="0" lon="0" rev="3000000"/>
            </a:camera>
            <a:lightRig rig="threePt" dir="t"/>
          </a:scene3d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3" name="圆角矩形 22"/>
          <p:cNvSpPr/>
          <p:nvPr/>
        </p:nvSpPr>
        <p:spPr>
          <a:xfrm>
            <a:off x="5715635" y="4425315"/>
            <a:ext cx="360680" cy="36068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/>
              <a:t>O1</a:t>
            </a:r>
            <a:endParaRPr lang="en-US" altLang="zh-CN" sz="800"/>
          </a:p>
        </p:txBody>
      </p:sp>
      <p:sp>
        <p:nvSpPr>
          <p:cNvPr id="29" name="圆角矩形 28"/>
          <p:cNvSpPr/>
          <p:nvPr/>
        </p:nvSpPr>
        <p:spPr>
          <a:xfrm>
            <a:off x="6243955" y="4425315"/>
            <a:ext cx="360680" cy="36068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800">
                <a:sym typeface="+mn-ea"/>
              </a:rPr>
              <a:t>O2</a:t>
            </a:r>
            <a:endParaRPr lang="en-US" altLang="zh-CN" sz="800">
              <a:sym typeface="+mn-ea"/>
            </a:endParaRPr>
          </a:p>
        </p:txBody>
      </p:sp>
      <p:sp>
        <p:nvSpPr>
          <p:cNvPr id="30" name="圆角矩形 29"/>
          <p:cNvSpPr/>
          <p:nvPr/>
        </p:nvSpPr>
        <p:spPr>
          <a:xfrm>
            <a:off x="5743575" y="3925570"/>
            <a:ext cx="878840" cy="21844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800">
                <a:sym typeface="+mn-ea"/>
              </a:rPr>
              <a:t>fused</a:t>
            </a:r>
            <a:endParaRPr lang="en-US" altLang="zh-CN" sz="800">
              <a:sym typeface="+mn-ea"/>
            </a:endParaRPr>
          </a:p>
        </p:txBody>
      </p:sp>
      <p:sp>
        <p:nvSpPr>
          <p:cNvPr id="35" name="上箭头 34"/>
          <p:cNvSpPr/>
          <p:nvPr/>
        </p:nvSpPr>
        <p:spPr>
          <a:xfrm>
            <a:off x="6123305" y="3654425"/>
            <a:ext cx="151765" cy="260985"/>
          </a:xfrm>
          <a:prstGeom prst="upArrow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5708015" y="3360420"/>
            <a:ext cx="878840" cy="218440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800">
                <a:sym typeface="+mn-ea"/>
              </a:rPr>
              <a:t>Output</a:t>
            </a:r>
            <a:endParaRPr lang="en-US" altLang="zh-CN" sz="800">
              <a:sym typeface="+mn-ea"/>
            </a:endParaRPr>
          </a:p>
        </p:txBody>
      </p:sp>
      <p:sp>
        <p:nvSpPr>
          <p:cNvPr id="49" name="上箭头 48"/>
          <p:cNvSpPr/>
          <p:nvPr/>
        </p:nvSpPr>
        <p:spPr>
          <a:xfrm>
            <a:off x="7271385" y="4750435"/>
            <a:ext cx="151765" cy="389890"/>
          </a:xfrm>
          <a:prstGeom prst="upArrow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53" name="上箭头 52"/>
          <p:cNvSpPr/>
          <p:nvPr/>
        </p:nvSpPr>
        <p:spPr>
          <a:xfrm>
            <a:off x="5860415" y="4144010"/>
            <a:ext cx="151765" cy="260985"/>
          </a:xfrm>
          <a:prstGeom prst="upArrow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54" name="上箭头 53"/>
          <p:cNvSpPr/>
          <p:nvPr/>
        </p:nvSpPr>
        <p:spPr>
          <a:xfrm>
            <a:off x="6336665" y="4160520"/>
            <a:ext cx="151765" cy="260985"/>
          </a:xfrm>
          <a:prstGeom prst="upArrow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55" name="下箭头 54"/>
          <p:cNvSpPr/>
          <p:nvPr/>
        </p:nvSpPr>
        <p:spPr>
          <a:xfrm>
            <a:off x="2549525" y="4457700"/>
            <a:ext cx="142240" cy="124460"/>
          </a:xfrm>
          <a:prstGeom prst="downArrow">
            <a:avLst/>
          </a:prstGeom>
          <a:solidFill>
            <a:srgbClr val="00B050"/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57" name="下箭头 56"/>
          <p:cNvSpPr/>
          <p:nvPr/>
        </p:nvSpPr>
        <p:spPr>
          <a:xfrm>
            <a:off x="2569845" y="5516245"/>
            <a:ext cx="76200" cy="169545"/>
          </a:xfrm>
          <a:prstGeom prst="downArrow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58" name="圆角矩形 57"/>
          <p:cNvSpPr/>
          <p:nvPr/>
        </p:nvSpPr>
        <p:spPr>
          <a:xfrm>
            <a:off x="2456180" y="5690870"/>
            <a:ext cx="322580" cy="25590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 altLang="zh-CN" sz="800">
              <a:sym typeface="+mn-ea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2456180" y="5723890"/>
            <a:ext cx="421640" cy="2095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800">
                <a:solidFill>
                  <a:schemeClr val="bg1"/>
                </a:solidFill>
              </a:rPr>
              <a:t>O1</a:t>
            </a:r>
            <a:endParaRPr lang="en-US" altLang="zh-CN" sz="800">
              <a:solidFill>
                <a:schemeClr val="bg1"/>
              </a:solidFill>
            </a:endParaRPr>
          </a:p>
        </p:txBody>
      </p:sp>
      <p:sp>
        <p:nvSpPr>
          <p:cNvPr id="60" name="圆角矩形 59"/>
          <p:cNvSpPr/>
          <p:nvPr/>
        </p:nvSpPr>
        <p:spPr>
          <a:xfrm>
            <a:off x="8684895" y="3729355"/>
            <a:ext cx="322580" cy="25590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 altLang="zh-CN" sz="800">
              <a:sym typeface="+mn-ea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8684895" y="3762375"/>
            <a:ext cx="421640" cy="2095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800">
                <a:solidFill>
                  <a:schemeClr val="bg1"/>
                </a:solidFill>
              </a:rPr>
              <a:t>O2</a:t>
            </a:r>
            <a:endParaRPr lang="en-US" altLang="zh-CN" sz="800">
              <a:solidFill>
                <a:schemeClr val="bg1"/>
              </a:solidFill>
            </a:endParaRPr>
          </a:p>
        </p:txBody>
      </p:sp>
      <p:sp>
        <p:nvSpPr>
          <p:cNvPr id="63" name="右箭头 62"/>
          <p:cNvSpPr/>
          <p:nvPr/>
        </p:nvSpPr>
        <p:spPr>
          <a:xfrm>
            <a:off x="8402955" y="3829685"/>
            <a:ext cx="267970" cy="76200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5" name="文本框 64"/>
          <p:cNvSpPr txBox="1"/>
          <p:nvPr/>
        </p:nvSpPr>
        <p:spPr>
          <a:xfrm>
            <a:off x="2625725" y="5467985"/>
            <a:ext cx="411480" cy="1606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800">
                <a:solidFill>
                  <a:srgbClr val="92D050"/>
                </a:solidFill>
                <a:sym typeface="+mn-ea"/>
              </a:rPr>
              <a:t>NO</a:t>
            </a:r>
            <a:endParaRPr lang="en-US" altLang="zh-CN" sz="800">
              <a:solidFill>
                <a:srgbClr val="92D050"/>
              </a:solidFill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8335645" y="3665855"/>
            <a:ext cx="411480" cy="1606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800">
                <a:solidFill>
                  <a:srgbClr val="92D050"/>
                </a:solidFill>
              </a:rPr>
              <a:t>NO</a:t>
            </a:r>
            <a:endParaRPr lang="en-US" altLang="zh-CN" sz="800">
              <a:solidFill>
                <a:srgbClr val="92D050"/>
              </a:solidFill>
            </a:endParaRPr>
          </a:p>
        </p:txBody>
      </p:sp>
      <p:sp>
        <p:nvSpPr>
          <p:cNvPr id="67" name="右箭头 66"/>
          <p:cNvSpPr/>
          <p:nvPr/>
        </p:nvSpPr>
        <p:spPr>
          <a:xfrm>
            <a:off x="3860800" y="5467985"/>
            <a:ext cx="110490" cy="7620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下箭头 2"/>
          <p:cNvSpPr/>
          <p:nvPr/>
        </p:nvSpPr>
        <p:spPr>
          <a:xfrm>
            <a:off x="3715385" y="3538855"/>
            <a:ext cx="142240" cy="124460"/>
          </a:xfrm>
          <a:prstGeom prst="downArrow">
            <a:avLst/>
          </a:prstGeom>
          <a:solidFill>
            <a:srgbClr val="00B050"/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3676650" y="2463800"/>
            <a:ext cx="184150" cy="17145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椭圆 17"/>
          <p:cNvSpPr/>
          <p:nvPr/>
        </p:nvSpPr>
        <p:spPr>
          <a:xfrm>
            <a:off x="3724275" y="2513965"/>
            <a:ext cx="85090" cy="7620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圆角矩形 35"/>
          <p:cNvSpPr/>
          <p:nvPr/>
        </p:nvSpPr>
        <p:spPr>
          <a:xfrm>
            <a:off x="3221355" y="2839720"/>
            <a:ext cx="1134745" cy="25908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 b="1"/>
              <a:t>LayerNorm</a:t>
            </a:r>
            <a:endParaRPr lang="en-US" altLang="zh-CN" sz="800" b="1"/>
          </a:p>
        </p:txBody>
      </p:sp>
      <p:sp>
        <p:nvSpPr>
          <p:cNvPr id="46" name="矩形 45"/>
          <p:cNvSpPr/>
          <p:nvPr/>
        </p:nvSpPr>
        <p:spPr>
          <a:xfrm>
            <a:off x="2625725" y="3117850"/>
            <a:ext cx="288290" cy="23749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β</a:t>
            </a:r>
            <a:endParaRPr lang="zh-CN" altLang="en-US"/>
          </a:p>
        </p:txBody>
      </p:sp>
      <p:sp>
        <p:nvSpPr>
          <p:cNvPr id="48" name="右箭头 47"/>
          <p:cNvSpPr/>
          <p:nvPr/>
        </p:nvSpPr>
        <p:spPr>
          <a:xfrm>
            <a:off x="2936875" y="3184525"/>
            <a:ext cx="740410" cy="7620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1" name="下箭头 50"/>
          <p:cNvSpPr/>
          <p:nvPr/>
        </p:nvSpPr>
        <p:spPr>
          <a:xfrm>
            <a:off x="3662045" y="3117850"/>
            <a:ext cx="93345" cy="237490"/>
          </a:xfrm>
          <a:prstGeom prst="downArrow">
            <a:avLst/>
          </a:prstGeom>
          <a:solidFill>
            <a:srgbClr val="00B050"/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52" name="右箭头 51"/>
          <p:cNvSpPr/>
          <p:nvPr/>
        </p:nvSpPr>
        <p:spPr>
          <a:xfrm>
            <a:off x="3455035" y="5076825"/>
            <a:ext cx="271145" cy="76200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6" name="圆角矩形 55"/>
          <p:cNvSpPr/>
          <p:nvPr/>
        </p:nvSpPr>
        <p:spPr>
          <a:xfrm>
            <a:off x="3809365" y="5287010"/>
            <a:ext cx="601345" cy="277495"/>
          </a:xfrm>
          <a:prstGeom prst="roundRect">
            <a:avLst/>
          </a:prstGeom>
          <a:solidFill>
            <a:srgbClr val="00B050"/>
          </a:solidFill>
          <a:ln>
            <a:solidFill>
              <a:schemeClr val="accent4">
                <a:lumMod val="40000"/>
                <a:lumOff val="60000"/>
              </a:schemeClr>
            </a:solidFill>
          </a:ln>
          <a:scene3d>
            <a:camera prst="orthographicFront">
              <a:rot lat="0" lon="0" rev="16200000"/>
            </a:camera>
            <a:lightRig rig="threePt" dir="t"/>
          </a:scene3d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 b="1"/>
              <a:t>sigmoid(Q=K)</a:t>
            </a:r>
            <a:endParaRPr lang="en-US" altLang="zh-CN" sz="800" b="1"/>
          </a:p>
        </p:txBody>
      </p:sp>
      <p:sp>
        <p:nvSpPr>
          <p:cNvPr id="62" name="右箭头 61"/>
          <p:cNvSpPr/>
          <p:nvPr/>
        </p:nvSpPr>
        <p:spPr>
          <a:xfrm>
            <a:off x="3860800" y="5690870"/>
            <a:ext cx="591185" cy="179705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4" name="右箭头 63"/>
          <p:cNvSpPr/>
          <p:nvPr/>
        </p:nvSpPr>
        <p:spPr>
          <a:xfrm>
            <a:off x="3881120" y="5053965"/>
            <a:ext cx="1138555" cy="86360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5" name="右箭头 74"/>
          <p:cNvSpPr/>
          <p:nvPr/>
        </p:nvSpPr>
        <p:spPr>
          <a:xfrm>
            <a:off x="4745355" y="5377815"/>
            <a:ext cx="271145" cy="76200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6" name="椭圆 75"/>
          <p:cNvSpPr/>
          <p:nvPr/>
        </p:nvSpPr>
        <p:spPr>
          <a:xfrm>
            <a:off x="4834890" y="5166360"/>
            <a:ext cx="184150" cy="17145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7" name="椭圆 76"/>
          <p:cNvSpPr/>
          <p:nvPr/>
        </p:nvSpPr>
        <p:spPr>
          <a:xfrm>
            <a:off x="4882515" y="5216525"/>
            <a:ext cx="85090" cy="7620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0" name="圆角矩形 79"/>
          <p:cNvSpPr/>
          <p:nvPr/>
        </p:nvSpPr>
        <p:spPr>
          <a:xfrm>
            <a:off x="6955790" y="5164455"/>
            <a:ext cx="632460" cy="23939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000">
                <a:sym typeface="+mn-ea"/>
              </a:rPr>
              <a:t>Gate</a:t>
            </a:r>
            <a:endParaRPr lang="en-US" altLang="zh-CN" sz="1000">
              <a:sym typeface="+mn-ea"/>
            </a:endParaRPr>
          </a:p>
        </p:txBody>
      </p:sp>
      <p:sp>
        <p:nvSpPr>
          <p:cNvPr id="31" name="圆角矩形 30"/>
          <p:cNvSpPr/>
          <p:nvPr/>
        </p:nvSpPr>
        <p:spPr>
          <a:xfrm>
            <a:off x="6647815" y="1777365"/>
            <a:ext cx="454660" cy="21590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800">
                <a:sym typeface="+mn-ea"/>
              </a:rPr>
              <a:t>SiLU</a:t>
            </a:r>
            <a:endParaRPr lang="en-US" altLang="zh-CN" sz="800">
              <a:sym typeface="+mn-ea"/>
            </a:endParaRPr>
          </a:p>
        </p:txBody>
      </p:sp>
      <p:sp>
        <p:nvSpPr>
          <p:cNvPr id="32" name="右箭头 31"/>
          <p:cNvSpPr/>
          <p:nvPr/>
        </p:nvSpPr>
        <p:spPr>
          <a:xfrm>
            <a:off x="7160895" y="1935480"/>
            <a:ext cx="378460" cy="94615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8" name="椭圆 37"/>
          <p:cNvSpPr/>
          <p:nvPr/>
        </p:nvSpPr>
        <p:spPr>
          <a:xfrm>
            <a:off x="7338695" y="1989455"/>
            <a:ext cx="184150" cy="17145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椭圆 38"/>
          <p:cNvSpPr/>
          <p:nvPr/>
        </p:nvSpPr>
        <p:spPr>
          <a:xfrm>
            <a:off x="7386320" y="2039620"/>
            <a:ext cx="85090" cy="7620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椭圆 39"/>
          <p:cNvSpPr/>
          <p:nvPr/>
        </p:nvSpPr>
        <p:spPr>
          <a:xfrm>
            <a:off x="8490585" y="1978660"/>
            <a:ext cx="184150" cy="17145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椭圆 40"/>
          <p:cNvSpPr/>
          <p:nvPr/>
        </p:nvSpPr>
        <p:spPr>
          <a:xfrm>
            <a:off x="8538210" y="2028825"/>
            <a:ext cx="85090" cy="7620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下箭头 41"/>
          <p:cNvSpPr/>
          <p:nvPr/>
        </p:nvSpPr>
        <p:spPr>
          <a:xfrm flipH="1">
            <a:off x="9257665" y="818515"/>
            <a:ext cx="76200" cy="3931920"/>
          </a:xfrm>
          <a:prstGeom prst="downArrow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43" name="右箭头 42"/>
          <p:cNvSpPr/>
          <p:nvPr/>
        </p:nvSpPr>
        <p:spPr>
          <a:xfrm>
            <a:off x="8747125" y="4750435"/>
            <a:ext cx="688340" cy="90170"/>
          </a:xfrm>
          <a:prstGeom prst="rightArrow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  <a:scene3d>
            <a:camera prst="orthographicFront">
              <a:rot lat="0" lon="0" rev="10800000"/>
            </a:camera>
            <a:lightRig rig="threePt" dir="t"/>
          </a:scene3d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圆角矩形 44"/>
          <p:cNvSpPr/>
          <p:nvPr/>
        </p:nvSpPr>
        <p:spPr>
          <a:xfrm>
            <a:off x="8318500" y="4693920"/>
            <a:ext cx="454660" cy="21590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800">
                <a:sym typeface="+mn-ea"/>
              </a:rPr>
              <a:t>MLP</a:t>
            </a:r>
            <a:endParaRPr lang="en-US" altLang="zh-CN" sz="800">
              <a:sym typeface="+mn-ea"/>
            </a:endParaRPr>
          </a:p>
        </p:txBody>
      </p:sp>
      <p:sp>
        <p:nvSpPr>
          <p:cNvPr id="47" name="上箭头 46"/>
          <p:cNvSpPr/>
          <p:nvPr/>
        </p:nvSpPr>
        <p:spPr>
          <a:xfrm>
            <a:off x="7271385" y="5337810"/>
            <a:ext cx="151765" cy="389890"/>
          </a:xfrm>
          <a:prstGeom prst="upArrow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73" name="右箭头 72"/>
          <p:cNvSpPr/>
          <p:nvPr/>
        </p:nvSpPr>
        <p:spPr>
          <a:xfrm>
            <a:off x="8143875" y="4745355"/>
            <a:ext cx="280035" cy="83820"/>
          </a:xfrm>
          <a:prstGeom prst="rightArrow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  <a:scene3d>
            <a:camera prst="orthographicFront">
              <a:rot lat="0" lon="0" rev="10800000"/>
            </a:camera>
            <a:lightRig rig="threePt" dir="t"/>
          </a:scene3d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6" name="右箭头 85"/>
          <p:cNvSpPr/>
          <p:nvPr/>
        </p:nvSpPr>
        <p:spPr>
          <a:xfrm>
            <a:off x="6771005" y="4582160"/>
            <a:ext cx="280035" cy="83820"/>
          </a:xfrm>
          <a:prstGeom prst="rightArrow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  <a:scene3d>
            <a:camera prst="orthographicFront">
              <a:rot lat="0" lon="0" rev="10800000"/>
            </a:camera>
            <a:lightRig rig="threePt" dir="t"/>
          </a:scene3d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8" name="上箭头 87"/>
          <p:cNvSpPr/>
          <p:nvPr/>
        </p:nvSpPr>
        <p:spPr>
          <a:xfrm>
            <a:off x="5778500" y="4905375"/>
            <a:ext cx="151765" cy="260985"/>
          </a:xfrm>
          <a:prstGeom prst="upArrow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89" name="下箭头 88"/>
          <p:cNvSpPr/>
          <p:nvPr/>
        </p:nvSpPr>
        <p:spPr>
          <a:xfrm>
            <a:off x="9770745" y="945515"/>
            <a:ext cx="76200" cy="5211445"/>
          </a:xfrm>
          <a:prstGeom prst="downArrow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90" name="右箭头 89"/>
          <p:cNvSpPr/>
          <p:nvPr/>
        </p:nvSpPr>
        <p:spPr>
          <a:xfrm flipV="1">
            <a:off x="7001510" y="6061075"/>
            <a:ext cx="2846070" cy="76200"/>
          </a:xfrm>
          <a:prstGeom prst="rightArrow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  <a:scene3d>
            <a:camera prst="orthographicFront">
              <a:rot lat="0" lon="0" rev="10800000"/>
            </a:camera>
            <a:lightRig rig="threePt" dir="t"/>
          </a:scene3d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1" name="上箭头 90"/>
          <p:cNvSpPr/>
          <p:nvPr/>
        </p:nvSpPr>
        <p:spPr>
          <a:xfrm>
            <a:off x="6955790" y="5375275"/>
            <a:ext cx="95250" cy="685800"/>
          </a:xfrm>
          <a:prstGeom prst="upArrow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2092</Words>
  <Application>WPS 演示</Application>
  <PresentationFormat>宽屏</PresentationFormat>
  <Paragraphs>543</Paragraphs>
  <Slides>6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5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MS PGothic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Lubaoyi</cp:lastModifiedBy>
  <cp:revision>215</cp:revision>
  <dcterms:created xsi:type="dcterms:W3CDTF">2019-06-19T02:08:00Z</dcterms:created>
  <dcterms:modified xsi:type="dcterms:W3CDTF">2026-09-02T16:14:24Z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9069BDA2E348471EADB44839F3EFB4F7_11</vt:lpwstr>
  </property>
</Properties>
</file>